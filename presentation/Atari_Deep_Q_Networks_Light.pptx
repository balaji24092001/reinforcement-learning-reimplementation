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318" r:id="rId4"/>
    <p:sldId id="258" r:id="rId5"/>
    <p:sldId id="259" r:id="rId6"/>
    <p:sldId id="260" r:id="rId7"/>
    <p:sldId id="261" r:id="rId8"/>
    <p:sldId id="262" r:id="rId9"/>
    <p:sldId id="263" r:id="rId10"/>
    <p:sldId id="264" r:id="rId11"/>
    <p:sldId id="265" r:id="rId12"/>
    <p:sldId id="266" r:id="rId13"/>
    <p:sldId id="319" r:id="rId14"/>
    <p:sldId id="267" r:id="rId15"/>
    <p:sldId id="268" r:id="rId16"/>
    <p:sldId id="269" r:id="rId17"/>
    <p:sldId id="270"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Training epsilon</c:v>
          </c:tx>
          <c:spPr>
            <a:ln w="38100">
              <a:solidFill>
                <a:srgbClr val="087F8C"/>
              </a:solidFill>
            </a:ln>
          </c:spPr>
          <c:marker>
            <c:symbol val="none"/>
          </c:marker>
          <c:xVal>
            <c:numRef>
              <c:f>'Chart Data'!$A$2:$A$8</c:f>
              <c:numCache>
                <c:formatCode>General</c:formatCode>
                <c:ptCount val="7"/>
                <c:pt idx="0">
                  <c:v>0</c:v>
                </c:pt>
                <c:pt idx="1">
                  <c:v>10</c:v>
                </c:pt>
                <c:pt idx="2">
                  <c:v>30</c:v>
                </c:pt>
                <c:pt idx="3">
                  <c:v>60</c:v>
                </c:pt>
                <c:pt idx="4">
                  <c:v>100</c:v>
                </c:pt>
                <c:pt idx="5">
                  <c:v>200</c:v>
                </c:pt>
                <c:pt idx="6">
                  <c:v>300</c:v>
                </c:pt>
              </c:numCache>
            </c:numRef>
          </c:xVal>
          <c:yVal>
            <c:numRef>
              <c:f>'Chart Data'!$B$2:$B$8</c:f>
              <c:numCache>
                <c:formatCode>General</c:formatCode>
                <c:ptCount val="7"/>
                <c:pt idx="0">
                  <c:v>1</c:v>
                </c:pt>
                <c:pt idx="1">
                  <c:v>0.1</c:v>
                </c:pt>
                <c:pt idx="2">
                  <c:v>0.1</c:v>
                </c:pt>
                <c:pt idx="3">
                  <c:v>0.1</c:v>
                </c:pt>
                <c:pt idx="4">
                  <c:v>0.1</c:v>
                </c:pt>
                <c:pt idx="5">
                  <c:v>0.1</c:v>
                </c:pt>
                <c:pt idx="6">
                  <c:v>0.1</c:v>
                </c:pt>
              </c:numCache>
            </c:numRef>
          </c:yVal>
          <c:smooth val="1"/>
          <c:extLst>
            <c:ext xmlns:c16="http://schemas.microsoft.com/office/drawing/2014/chart" uri="{C3380CC4-5D6E-409C-BE32-E72D297353CC}">
              <c16:uniqueId val="{00000000-27EF-4DF1-A2F2-8C11CECC7853}"/>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majorGridlines>
          <c:spPr>
            <a:ln w="9525">
              <a:solidFill>
                <a:srgbClr val="D4DEE8"/>
              </a:solidFill>
            </a:ln>
          </c:spPr>
        </c:majorGridlines>
        <c:title>
          <c:tx>
            <c:rich>
              <a:bodyPr/>
              <a:lstStyle/>
              <a:p>
                <a:r>
                  <a:rPr lang="en-IN">
                    <a:latin typeface="Aptos"/>
                    <a:ea typeface="Aptos"/>
                    <a:cs typeface="Aptos"/>
                  </a:rPr>
                  <a:t>Exploration probability </a:t>
                </a:r>
                <a:r>
                  <a:rPr lang="el-GR">
                    <a:latin typeface="Aptos"/>
                    <a:ea typeface="Aptos"/>
                    <a:cs typeface="Aptos"/>
                  </a:rPr>
                  <a:t>ε</a:t>
                </a:r>
              </a:p>
            </c:rich>
          </c:tx>
          <c:overlay val="0"/>
        </c:title>
        <c:numFmt formatCode="General" sourceLinked="1"/>
        <c:majorTickMark val="none"/>
        <c:minorTickMark val="none"/>
        <c:tickLblPos val="nextTo"/>
        <c:spPr>
          <a:ln w="0">
            <a:noFill/>
          </a:ln>
        </c:spPr>
        <c:txPr>
          <a:bodyPr anchorCtr="1"/>
          <a:lstStyle/>
          <a:p>
            <a:pPr>
              <a:defRPr sz="1350">
                <a:solidFill>
                  <a:srgbClr val="37475B"/>
                </a:solidFill>
                <a:latin typeface="Aptos"/>
                <a:ea typeface="Aptos"/>
                <a:cs typeface="Aptos"/>
              </a:defRPr>
            </a:pPr>
            <a:endParaRPr lang="en-US"/>
          </a:p>
        </c:txPr>
        <c:crossAx val="48650112"/>
        <c:crosses val="autoZero"/>
        <c:crossBetween val="midCat"/>
        <c:majorUnit val="0.2"/>
      </c:valAx>
      <c:valAx>
        <c:axId val="48650112"/>
        <c:scaling>
          <c:orientation val="minMax"/>
          <c:max val="300"/>
          <c:min val="0"/>
        </c:scaling>
        <c:delete val="0"/>
        <c:axPos val="b"/>
        <c:title>
          <c:tx>
            <c:rich>
              <a:bodyPr/>
              <a:lstStyle/>
              <a:p>
                <a:r>
                  <a:rPr lang="en-IN">
                    <a:latin typeface="Aptos"/>
                    <a:ea typeface="Aptos"/>
                    <a:cs typeface="Aptos"/>
                  </a:rPr>
                  <a:t>Agent decisions (thousands)</a:t>
                </a:r>
              </a:p>
            </c:rich>
          </c:tx>
          <c:overlay val="0"/>
        </c:title>
        <c:numFmt formatCode="General" sourceLinked="1"/>
        <c:majorTickMark val="none"/>
        <c:minorTickMark val="none"/>
        <c:tickLblPos val="nextTo"/>
        <c:spPr>
          <a:ln w="9525">
            <a:solidFill>
              <a:srgbClr val="D4DEE8"/>
            </a:solidFill>
          </a:ln>
        </c:spPr>
        <c:txPr>
          <a:bodyPr anchorCtr="1"/>
          <a:lstStyle/>
          <a:p>
            <a:pPr>
              <a:defRPr sz="1350">
                <a:solidFill>
                  <a:srgbClr val="37475B"/>
                </a:solidFill>
                <a:latin typeface="Aptos"/>
                <a:ea typeface="Aptos"/>
                <a:cs typeface="Aptos"/>
              </a:defRPr>
            </a:pPr>
            <a:endParaRPr lang="en-US"/>
          </a:p>
        </c:txPr>
        <c:crossAx val="48672768"/>
        <c:crosses val="autoZero"/>
        <c:crossBetween val="midCat"/>
        <c:majorUnit val="100"/>
      </c:valAx>
      <c:spPr>
        <a:solidFill>
          <a:srgbClr val="F7F9FC"/>
        </a:solidFill>
        <a:ln w="0">
          <a:noFill/>
        </a:ln>
      </c:spPr>
    </c:plotArea>
    <c:plotVisOnly val="1"/>
    <c:dispBlanksAs val="zero"/>
    <c:showDLblsOverMax val="1"/>
  </c:chart>
  <c:spPr>
    <a:solidFill>
      <a:srgbClr val="F7F9FC"/>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Recent 20-game mean</c:v>
          </c:tx>
          <c:spPr>
            <a:ln w="28575">
              <a:solidFill>
                <a:srgbClr val="087F8C"/>
              </a:solidFill>
            </a:ln>
          </c:spPr>
          <c:marker>
            <c:symbol val="circle"/>
            <c:size val="4"/>
            <c:spPr>
              <a:solidFill>
                <a:srgbClr val="087F8C"/>
              </a:solidFill>
            </c:spPr>
          </c:marker>
          <c:xVal>
            <c:numRef>
              <c:f>'Chart Data'!$A$2:$A$31</c:f>
              <c:numCache>
                <c:formatCode>General</c:formatCode>
                <c:ptCount val="30"/>
                <c:pt idx="0">
                  <c:v>10</c:v>
                </c:pt>
                <c:pt idx="1">
                  <c:v>20</c:v>
                </c:pt>
                <c:pt idx="2">
                  <c:v>30</c:v>
                </c:pt>
                <c:pt idx="3">
                  <c:v>40</c:v>
                </c:pt>
                <c:pt idx="4">
                  <c:v>50</c:v>
                </c:pt>
                <c:pt idx="5">
                  <c:v>60</c:v>
                </c:pt>
                <c:pt idx="6">
                  <c:v>70</c:v>
                </c:pt>
                <c:pt idx="7">
                  <c:v>80</c:v>
                </c:pt>
                <c:pt idx="8">
                  <c:v>90</c:v>
                </c:pt>
                <c:pt idx="9">
                  <c:v>100</c:v>
                </c:pt>
                <c:pt idx="10">
                  <c:v>110</c:v>
                </c:pt>
                <c:pt idx="11">
                  <c:v>120</c:v>
                </c:pt>
                <c:pt idx="12">
                  <c:v>130</c:v>
                </c:pt>
                <c:pt idx="13">
                  <c:v>140</c:v>
                </c:pt>
                <c:pt idx="14">
                  <c:v>150</c:v>
                </c:pt>
                <c:pt idx="15">
                  <c:v>160</c:v>
                </c:pt>
                <c:pt idx="16">
                  <c:v>170</c:v>
                </c:pt>
                <c:pt idx="17">
                  <c:v>180</c:v>
                </c:pt>
                <c:pt idx="18">
                  <c:v>190</c:v>
                </c:pt>
                <c:pt idx="19">
                  <c:v>200</c:v>
                </c:pt>
                <c:pt idx="20">
                  <c:v>210</c:v>
                </c:pt>
                <c:pt idx="21">
                  <c:v>220</c:v>
                </c:pt>
                <c:pt idx="22">
                  <c:v>230</c:v>
                </c:pt>
                <c:pt idx="23">
                  <c:v>240</c:v>
                </c:pt>
                <c:pt idx="24">
                  <c:v>250</c:v>
                </c:pt>
                <c:pt idx="25">
                  <c:v>260</c:v>
                </c:pt>
                <c:pt idx="26">
                  <c:v>270</c:v>
                </c:pt>
                <c:pt idx="27">
                  <c:v>280</c:v>
                </c:pt>
                <c:pt idx="28">
                  <c:v>290</c:v>
                </c:pt>
                <c:pt idx="29">
                  <c:v>300</c:v>
                </c:pt>
              </c:numCache>
            </c:numRef>
          </c:xVal>
          <c:yVal>
            <c:numRef>
              <c:f>'Chart Data'!$B$2:$B$31</c:f>
              <c:numCache>
                <c:formatCode>General</c:formatCode>
                <c:ptCount val="30"/>
                <c:pt idx="0">
                  <c:v>1.6</c:v>
                </c:pt>
                <c:pt idx="1">
                  <c:v>1</c:v>
                </c:pt>
                <c:pt idx="2">
                  <c:v>1.6</c:v>
                </c:pt>
                <c:pt idx="3">
                  <c:v>1.8</c:v>
                </c:pt>
                <c:pt idx="4">
                  <c:v>1.4</c:v>
                </c:pt>
                <c:pt idx="5">
                  <c:v>2.6</c:v>
                </c:pt>
                <c:pt idx="6">
                  <c:v>2.5</c:v>
                </c:pt>
                <c:pt idx="7">
                  <c:v>5.2</c:v>
                </c:pt>
                <c:pt idx="8">
                  <c:v>3.7</c:v>
                </c:pt>
                <c:pt idx="9">
                  <c:v>4.5</c:v>
                </c:pt>
                <c:pt idx="10">
                  <c:v>6.1</c:v>
                </c:pt>
                <c:pt idx="11">
                  <c:v>6.5</c:v>
                </c:pt>
                <c:pt idx="12">
                  <c:v>7.1</c:v>
                </c:pt>
                <c:pt idx="13">
                  <c:v>7.7</c:v>
                </c:pt>
                <c:pt idx="14">
                  <c:v>7.8</c:v>
                </c:pt>
                <c:pt idx="15">
                  <c:v>8.3000000000000007</c:v>
                </c:pt>
                <c:pt idx="16">
                  <c:v>2.5</c:v>
                </c:pt>
                <c:pt idx="17">
                  <c:v>8.1999999999999993</c:v>
                </c:pt>
                <c:pt idx="18">
                  <c:v>4.8</c:v>
                </c:pt>
                <c:pt idx="19">
                  <c:v>4.5</c:v>
                </c:pt>
                <c:pt idx="20">
                  <c:v>5.2</c:v>
                </c:pt>
                <c:pt idx="21">
                  <c:v>5.8</c:v>
                </c:pt>
                <c:pt idx="22">
                  <c:v>4.7</c:v>
                </c:pt>
                <c:pt idx="23">
                  <c:v>5.8</c:v>
                </c:pt>
                <c:pt idx="24">
                  <c:v>4.4000000000000004</c:v>
                </c:pt>
                <c:pt idx="25">
                  <c:v>5.9</c:v>
                </c:pt>
                <c:pt idx="26">
                  <c:v>3.7</c:v>
                </c:pt>
                <c:pt idx="27">
                  <c:v>4</c:v>
                </c:pt>
                <c:pt idx="28">
                  <c:v>4.5999999999999996</c:v>
                </c:pt>
                <c:pt idx="29">
                  <c:v>4.4000000000000004</c:v>
                </c:pt>
              </c:numCache>
            </c:numRef>
          </c:yVal>
          <c:smooth val="1"/>
          <c:extLst>
            <c:ext xmlns:c16="http://schemas.microsoft.com/office/drawing/2014/chart" uri="{C3380CC4-5D6E-409C-BE32-E72D297353CC}">
              <c16:uniqueId val="{00000000-39DF-43C6-A2A5-D0D3A6DD7668}"/>
            </c:ext>
          </c:extLst>
        </c:ser>
        <c:dLbls>
          <c:showLegendKey val="0"/>
          <c:showVal val="0"/>
          <c:showCatName val="0"/>
          <c:showSerName val="0"/>
          <c:showPercent val="0"/>
          <c:showBubbleSize val="0"/>
        </c:dLbls>
        <c:axId val="48650112"/>
        <c:axId val="48672768"/>
      </c:scatterChart>
      <c:valAx>
        <c:axId val="48672768"/>
        <c:scaling>
          <c:orientation val="minMax"/>
          <c:max val="10"/>
          <c:min val="0"/>
        </c:scaling>
        <c:delete val="0"/>
        <c:axPos val="l"/>
        <c:majorGridlines>
          <c:spPr>
            <a:ln w="9525">
              <a:solidFill>
                <a:srgbClr val="D4DEE8"/>
              </a:solidFill>
            </a:ln>
          </c:spPr>
        </c:majorGridlines>
        <c:title>
          <c:tx>
            <c:rich>
              <a:bodyPr/>
              <a:lstStyle/>
              <a:p>
                <a:r>
                  <a:rPr lang="en-IN">
                    <a:latin typeface="Aptos"/>
                    <a:ea typeface="Aptos"/>
                    <a:cs typeface="Aptos"/>
                  </a:rPr>
                  <a:t>Recent 20-game mean score</a:t>
                </a:r>
              </a:p>
            </c:rich>
          </c:tx>
          <c:overlay val="0"/>
        </c:title>
        <c:numFmt formatCode="General" sourceLinked="1"/>
        <c:majorTickMark val="none"/>
        <c:minorTickMark val="none"/>
        <c:tickLblPos val="nextTo"/>
        <c:spPr>
          <a:ln w="0">
            <a:noFill/>
          </a:ln>
        </c:spPr>
        <c:txPr>
          <a:bodyPr anchorCtr="1"/>
          <a:lstStyle/>
          <a:p>
            <a:pPr>
              <a:defRPr sz="1350">
                <a:solidFill>
                  <a:srgbClr val="37475B"/>
                </a:solidFill>
                <a:latin typeface="Aptos"/>
                <a:ea typeface="Aptos"/>
                <a:cs typeface="Aptos"/>
              </a:defRPr>
            </a:pPr>
            <a:endParaRPr lang="en-US"/>
          </a:p>
        </c:txPr>
        <c:crossAx val="48650112"/>
        <c:crosses val="autoZero"/>
        <c:crossBetween val="midCat"/>
        <c:majorUnit val="2"/>
      </c:valAx>
      <c:valAx>
        <c:axId val="48650112"/>
        <c:scaling>
          <c:orientation val="minMax"/>
          <c:max val="300"/>
          <c:min val="0"/>
        </c:scaling>
        <c:delete val="0"/>
        <c:axPos val="b"/>
        <c:title>
          <c:tx>
            <c:rich>
              <a:bodyPr/>
              <a:lstStyle/>
              <a:p>
                <a:r>
                  <a:rPr lang="en-IN">
                    <a:latin typeface="Aptos"/>
                    <a:ea typeface="Aptos"/>
                    <a:cs typeface="Aptos"/>
                  </a:rPr>
                  <a:t>Agent decisions (thousands)</a:t>
                </a:r>
              </a:p>
            </c:rich>
          </c:tx>
          <c:overlay val="0"/>
        </c:title>
        <c:numFmt formatCode="General" sourceLinked="1"/>
        <c:majorTickMark val="none"/>
        <c:minorTickMark val="none"/>
        <c:tickLblPos val="nextTo"/>
        <c:spPr>
          <a:ln w="9525">
            <a:solidFill>
              <a:srgbClr val="D4DEE8"/>
            </a:solidFill>
          </a:ln>
        </c:spPr>
        <c:txPr>
          <a:bodyPr anchorCtr="1"/>
          <a:lstStyle/>
          <a:p>
            <a:pPr>
              <a:defRPr sz="1350">
                <a:solidFill>
                  <a:srgbClr val="37475B"/>
                </a:solidFill>
                <a:latin typeface="Aptos"/>
                <a:ea typeface="Aptos"/>
                <a:cs typeface="Aptos"/>
              </a:defRPr>
            </a:pPr>
            <a:endParaRPr lang="en-US"/>
          </a:p>
        </c:txPr>
        <c:crossAx val="48672768"/>
        <c:crosses val="autoZero"/>
        <c:crossBetween val="midCat"/>
        <c:majorUnit val="50"/>
      </c:valAx>
      <c:spPr>
        <a:solidFill>
          <a:srgbClr val="F7F9FC"/>
        </a:solidFill>
        <a:ln w="0">
          <a:noFill/>
        </a:ln>
      </c:spPr>
    </c:plotArea>
    <c:plotVisOnly val="1"/>
    <c:dispBlanksAs val="zero"/>
    <c:showDLblsOverMax val="1"/>
  </c:chart>
  <c:spPr>
    <a:solidFill>
      <a:srgbClr val="F7F9FC"/>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Games</c:v>
          </c:tx>
          <c:spPr>
            <a:solidFill>
              <a:srgbClr val="087F8C"/>
            </a:solidFill>
          </c:spPr>
          <c:invertIfNegative val="0"/>
          <c:dLbls>
            <c:spPr>
              <a:noFill/>
              <a:ln>
                <a:noFill/>
              </a:ln>
              <a:effectLst/>
            </c:spPr>
            <c:txPr>
              <a:bodyPr anchorCtr="1"/>
              <a:lstStyle/>
              <a:p>
                <a:pPr>
                  <a:defRPr sz="1500">
                    <a:solidFill>
                      <a:srgbClr val="18324F"/>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 Data'!$A$2:$A$7</c:f>
              <c:numCache>
                <c:formatCode>General</c:formatCode>
                <c:ptCount val="6"/>
                <c:pt idx="0">
                  <c:v>0</c:v>
                </c:pt>
                <c:pt idx="1">
                  <c:v>1</c:v>
                </c:pt>
                <c:pt idx="2">
                  <c:v>2</c:v>
                </c:pt>
                <c:pt idx="3">
                  <c:v>3</c:v>
                </c:pt>
                <c:pt idx="4">
                  <c:v>4</c:v>
                </c:pt>
                <c:pt idx="5">
                  <c:v>5</c:v>
                </c:pt>
              </c:numCache>
            </c:numRef>
          </c:cat>
          <c:val>
            <c:numRef>
              <c:f>'Chart Data'!$B$2:$B$7</c:f>
              <c:numCache>
                <c:formatCode>General</c:formatCode>
                <c:ptCount val="6"/>
                <c:pt idx="0">
                  <c:v>22</c:v>
                </c:pt>
                <c:pt idx="1">
                  <c:v>21</c:v>
                </c:pt>
                <c:pt idx="2">
                  <c:v>7</c:v>
                </c:pt>
                <c:pt idx="3">
                  <c:v>12</c:v>
                </c:pt>
                <c:pt idx="4">
                  <c:v>0</c:v>
                </c:pt>
                <c:pt idx="5">
                  <c:v>1</c:v>
                </c:pt>
              </c:numCache>
            </c:numRef>
          </c:val>
          <c:extLst>
            <c:ext xmlns:c16="http://schemas.microsoft.com/office/drawing/2014/chart" uri="{C3380CC4-5D6E-409C-BE32-E72D297353CC}">
              <c16:uniqueId val="{00000000-C0E9-4FDD-9B29-FCB132A6251C}"/>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b"/>
        <c:title>
          <c:tx>
            <c:rich>
              <a:bodyPr/>
              <a:lstStyle/>
              <a:p>
                <a:r>
                  <a:rPr lang="en-IN">
                    <a:latin typeface="Aptos"/>
                    <a:ea typeface="Aptos"/>
                    <a:cs typeface="Aptos"/>
                  </a:rPr>
                  <a:t>Game score</a:t>
                </a:r>
              </a:p>
            </c:rich>
          </c:tx>
          <c:overlay val="0"/>
        </c:title>
        <c:numFmt formatCode="General" sourceLinked="1"/>
        <c:majorTickMark val="none"/>
        <c:minorTickMark val="none"/>
        <c:tickLblPos val="nextTo"/>
        <c:spPr>
          <a:ln w="9525">
            <a:solidFill>
              <a:srgbClr val="D4DEE8"/>
            </a:solidFill>
          </a:ln>
        </c:spPr>
        <c:txPr>
          <a:bodyPr anchorCtr="1"/>
          <a:lstStyle/>
          <a:p>
            <a:pPr>
              <a:defRPr sz="1350">
                <a:solidFill>
                  <a:srgbClr val="37475B"/>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25"/>
          <c:min val="0"/>
        </c:scaling>
        <c:delete val="0"/>
        <c:axPos val="l"/>
        <c:majorGridlines>
          <c:spPr>
            <a:ln w="9525">
              <a:solidFill>
                <a:srgbClr val="D4DEE8"/>
              </a:solidFill>
            </a:ln>
          </c:spPr>
        </c:majorGridlines>
        <c:title>
          <c:tx>
            <c:rich>
              <a:bodyPr/>
              <a:lstStyle/>
              <a:p>
                <a:r>
                  <a:rPr lang="en-IN">
                    <a:latin typeface="Aptos"/>
                    <a:ea typeface="Aptos"/>
                    <a:cs typeface="Aptos"/>
                  </a:rPr>
                  <a:t>Completed games</a:t>
                </a:r>
              </a:p>
            </c:rich>
          </c:tx>
          <c:overlay val="0"/>
        </c:title>
        <c:numFmt formatCode="General" sourceLinked="1"/>
        <c:majorTickMark val="none"/>
        <c:minorTickMark val="none"/>
        <c:tickLblPos val="nextTo"/>
        <c:spPr>
          <a:ln w="0">
            <a:noFill/>
          </a:ln>
        </c:spPr>
        <c:txPr>
          <a:bodyPr anchorCtr="1"/>
          <a:lstStyle/>
          <a:p>
            <a:pPr>
              <a:defRPr sz="1350">
                <a:solidFill>
                  <a:srgbClr val="37475B"/>
                </a:solidFill>
                <a:latin typeface="Aptos"/>
                <a:ea typeface="Aptos"/>
                <a:cs typeface="Aptos"/>
              </a:defRPr>
            </a:pPr>
            <a:endParaRPr lang="en-US"/>
          </a:p>
        </c:txPr>
        <c:crossAx val="48650112"/>
        <c:crosses val="autoZero"/>
        <c:crossBetween val="between"/>
        <c:majorUnit val="5"/>
      </c:valAx>
      <c:spPr>
        <a:solidFill>
          <a:srgbClr val="F7F9FC"/>
        </a:solidFill>
        <a:ln w="0">
          <a:noFill/>
        </a:ln>
      </c:spPr>
    </c:plotArea>
    <c:plotVisOnly val="1"/>
    <c:dispBlanksAs val="zero"/>
    <c:showDLblsOverMax val="1"/>
  </c:chart>
  <c:spPr>
    <a:solidFill>
      <a:srgbClr val="F7F9FC"/>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30 seconds. We implement a small Deep Q-Network that learns action values from Atari pixels. Our reference is the 2013 paper. We demonstrate the complete learning pipeline and report the results of our own limited training run. Team roll numbers reflect the correction supplied by Balaji.</a:t>
            </a:r>
          </a:p>
          <a:p>
            <a:endParaRPr/>
          </a:p>
          <a:p>
            <a:r>
              <a:t>Sources: Mnih et al. (2013), Playing Atari with Deep Reinforcement Learning, supplied PDF, arXiv:1312.5602v1. atari_breakout_dqn.ipynb, saved source and executed outputs from 29 October 2026. Image: recorded episode 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seconds. The agent receives images, not object coordinates or a scripted paddle controller. FIRE starts play and re-serves after losing a life. A game ends when the environment reports game-over. Losing a life does not create an extra penalty in this implementation.</a:t>
            </a:r>
          </a:p>
          <a:p>
            <a:endParaRPr/>
          </a:p>
          <a:p>
            <a:r>
              <a:t>Sources: dqn2013.py (DQN, PaperObservation, ReplayBuffer, optimize_model). atari_breakout_dqn.ipynb, saved source and executed outputs from 29 October 2026. Image: recorded episode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Insert a recording made before training or at a documented early checkpoint. Record the checkpoint decision count and exploration rate in the caption. No verified initial-stage recording is supplied with this deck. Do not reuse the final-policy clip as an initial-stage result.</a:t>
            </a:r>
          </a:p>
          <a:p>
            <a:endParaRPr/>
          </a:p>
          <a:p>
            <a:r>
              <a:t>To insert: use PowerPoint Insert &gt; Video &gt; This Device. Place the video within the large reserved area, preserve its aspect ratio, and remove the placeholder text and rectangle. Atari footage can remain portrait within the landscape area. Keep each comparison clip around 20–30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seconds. Define s as the four-frame observation, a as an action, theta as network weights, and gamma as the discount factor. Q is an estimate of future return, not an action probability. The definition is policy-specific. Q-learning aims at optimal action values by bootstrapping toward the best next action. Our network learns from clipped rewards, so its Q-values are not predictions of the raw game score.</a:t>
            </a:r>
          </a:p>
          <a:p>
            <a:endParaRPr/>
          </a:p>
          <a:p>
            <a:r>
              <a:t>Sources: Mnih et al. (2013), Playing Atari with Deep Reinforcement Learning, supplied PDF, arXiv:1312.5602v1. Sections 2 and 4. dqn2013.py (DQN, PaperObservation, ReplayBuffer, optimize_model).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 seconds. A single screenshot cannot determine the direction of motion. Stacking four sampled observations gives the convolutional network temporal information. Each action lasts up to four raw emulator frames. The crop uses resized rows 18 through 101. The actual pipeline does not use two-frame max pooling. Images here are extracted and processed from the project recording.</a:t>
            </a:r>
          </a:p>
          <a:p>
            <a:endParaRPr/>
          </a:p>
          <a:p>
            <a:r>
              <a:t>Sources: dqn2013.py (DQN, PaperObservation, ReplayBuffer, optimize_model). preprocess_frame and PaperObservation; Mnih et al. (2013), Playing Atari with Deep Reinforcement Learning, supplied PDF, arXiv:1312.5602v1. Section 4.1.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seconds. The two convolution layers extract visual features. Flattening produces 32 times 9 times 9, or 2,592 features, followed by 256 hidden units. Four linear outputs correspond to NOOP, FIRE, RIGHT and LEFT. This follows the 2013 architecture in the supplied paper. There is one network and no separate periodically synchronized target network.</a:t>
            </a:r>
          </a:p>
          <a:p>
            <a:endParaRPr/>
          </a:p>
          <a:p>
            <a:r>
              <a:t>Sources: dqn2013.py (DQN, PaperObservation, ReplayBuffer, optimize_model). DQN; Mnih et al. (2013), Playing Atari with Deep Reinforcement Learning, supplied PDF, arXiv:1312.5602v1. Section 4.1. Parameter count verified in saved notebook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seconds. The replay buffer reuses experience and reduces the correlations between successive training samples. Sampling is uniform with replacement. Adjacent states share uint8 frames to reduce memory. The buffer marks reset boundaries so frames do not leak between games. The run begins learning as soon as 32 transitions exist. r tilde is the clipped training reward, and d marks true game-over.</a:t>
            </a:r>
          </a:p>
          <a:p>
            <a:endParaRPr/>
          </a:p>
          <a:p>
            <a:r>
              <a:t>Sources: dqn2013.py (DQN, PaperObservation, ReplayBuffer, optimize_model). ReplayBuffer and optimize_model; atari_breakout_dqn.ipynb, saved source and executed outputs from 29 October 2026. configuration and training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75 seconds. The target combines immediate clipped reward with the best estimated return from the next state. At true game-over, d equals one and the future term vanishes. At a time-limit truncation, the environment resets but the bootstrap remains. Targets use the current network under torch.no_grad, so the gradient passes only through the predicted Q. This is mean squared TD error, without Huber loss or gradient clipping. Detaching a target value is different from maintaining a target network.</a:t>
            </a:r>
          </a:p>
          <a:p>
            <a:endParaRPr/>
          </a:p>
          <a:p>
            <a:r>
              <a:t>Sources: dqn2013.py (DQN, PaperObservation, ReplayBuffer, optimize_model). optimize_model; Mnih et al. (2013), Playing Atari with Deep Reinforcement Learning, supplied PDF, arXiv:1312.5602v1. Algorithm 1 and Equation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 seconds. This chart is calculated from the configured exploration schedule, not measured training data. Exploration falls from 1 to 0.1 over 10,000 decisions, then stays at 0.1. This is substantially faster than the paper schedule. Evaluation retains 5 percent random actions and does not update the weights.</a:t>
            </a:r>
          </a:p>
          <a:p>
            <a:endParaRPr/>
          </a:p>
          <a:p>
            <a:r>
              <a:t>Sources: dqn2013.py (DQN, PaperObservation, ReplayBuffer, optimize_model). epsilon_by_step; atari_breakout_dqn.ipynb, saved source and executed outputs from 29 October 2026. configuration cell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seconds. We preserve core ideas and the 2013 layer sizes but reduce the experimental scale. Use the executed notebook values, since its profile label says paper but its actual configuration is smaller. The README describes a full-scale configuration and is stale for this run. The paper uses the word frames without fully disambiguating action-repeat accounting, so do not describe the budget reduction as an exact multiplier. This is a limited implementation experiment, not a reproduced benchmark.</a:t>
            </a:r>
          </a:p>
          <a:p>
            <a:endParaRPr/>
          </a:p>
          <a:p>
            <a:r>
              <a:t>Sources: Mnih et al. (2013), Playing Atari with Deep Reinforcement Learning, supplied PDF, arXiv:1312.5602v1. Section 5; atari_breakout_dqn.ipynb, saved source and executed outputs from 29 October 2026. cells 8, 18 and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seconds. The saved notebook selected CUDA on an NVIDIA GeForce RTX 3050 6GB Laptop GPU. Training completed 299,969 optimization steps, starting at decision 32. Runtime is the value printed by this run, not a general performance guarantee. Gamma and the detailed optimizer values are explicit implementation choices, since the supplied paper does not specify them numerically.</a:t>
            </a:r>
          </a:p>
          <a:p>
            <a:endParaRPr/>
          </a:p>
          <a:p>
            <a:r>
              <a:t>Sources: atari_breakout_dqn.ipynb, saved source and executed outputs from 29 October 2026. cells 6, 8, 12 and 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seconds. These are the actual printed recent-20-game means at each 10,000-decision checkpoint. The curve rises during the first half of training but the improvement is not sustained. The highest logged mean is not a best episode score and it is not an evaluation mean. We only retain final and periodic weight files, not a validated best-performing checkpoint. The numbers are rounded as printed in the source log.</a:t>
            </a:r>
          </a:p>
          <a:p>
            <a:endParaRPr/>
          </a:p>
          <a:p>
            <a:r>
              <a:t>Sources: atari_breakout_dqn.ipynb, saved source and executed outputs from 29 October 2026. cell 18 training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Insert a recording from a documented middle checkpoint, for example around 150,000 decisions. This is a suggested capture point, not an available recording. Use comparable duration and evaluation epsilon across stages. The logged training mean at 150,000 decisions was 7.8, but that does not establish the score of a missing video.</a:t>
            </a:r>
          </a:p>
          <a:p>
            <a:endParaRPr/>
          </a:p>
          <a:p>
            <a:r>
              <a:t>To insert: use PowerPoint Insert &gt; Video &gt; This Device. Place the video within the large reserved area, preserve its aspect ratio, and remove the placeholder text and rectangle. Atari footage can remain portrait within the landscape area. Keep each comparison clip around 20–30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70 seconds. Evaluation uses original rewards and no learning. There are 63 completed games, with population standard deviation 1.20, not a confidence interval. The histogram counts are 22, 21, 7, 12, 0 and 1 for scores 0 through 5. This result does not establish strong gameplay. The paper reports a much larger Breakout score under a different experimental setup, so direct benchmark equivalence is inappropriate. Training and evaluation also use different exploration rates and state distributions.</a:t>
            </a:r>
          </a:p>
          <a:p>
            <a:endParaRPr/>
          </a:p>
          <a:p>
            <a:r>
              <a:t>Sources: atari_breakout_dqn.ipynb, saved source and executed outputs from 29 October 2026. cell 22, 63 printed episode scores. Statistics recomputed from the saved outputs.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about 70 seconds for the demo. Click the video in PowerPoint Slide Show. These are episodes 0 through 5 from the timestamped 2013-network recording directory, joined without selecting high-scoring episodes. Playback is at the recorded 60 fps and preserves the original sequence. The clip is a demonstration, separate from the evaluation score sample. If playback fails, open Breakout_Gameplay.mp4 in the delivery folder.</a:t>
            </a:r>
          </a:p>
          <a:p>
            <a:endParaRPr/>
          </a:p>
          <a:p>
            <a:r>
              <a:t>Sources: atari_breakout_dqn.ipynb, saved source and executed outputs from 29 October 2026. cell 24; outputs/breakout_video_2013/20261029-143918/breakout-2013-episode-0.mp4 through episode-5.mp4.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seconds. These are proposed experiments, not proven explanations. We have not isolated the effect of replay size, exploration schedule or training duration. More compute alone does not guarantee a better policy. Before making performance claims, compare against a random policy under identical wrappers and budgets, add multiple seeds, and evaluate checkpoints independently of training. A separate target network is a possible future variant but would change this 2013-style algorithm.</a:t>
            </a:r>
          </a:p>
          <a:p>
            <a:endParaRPr/>
          </a:p>
          <a:p>
            <a:r>
              <a:t>Sources: atari_breakout_dqn.ipynb, saved source and executed outputs from 29 October 2026. observed configuration and results; Mnih et al. (2013), Playing Atari with Deep Reinforcement Learning, supplied PDF, arXiv:1312.5602v1. discussion of stability and replay.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seconds. Summarize the contribution as implementing and understanding the learning pipeline, with measured limitations. Avoid claims of human-level performance or full paper reproduction. Invite questions about Q-values, replay, exploration or the difference between training and evaluation. Suggested split: Balaji slides 1–6, Uddipta slides 7–11, Suva slides 12–17. Slides 18–19 are backup material.</a:t>
            </a:r>
          </a:p>
          <a:p>
            <a:endParaRPr/>
          </a:p>
          <a:p>
            <a:r>
              <a:t>Sources: dqn2013.py (DQN, PaperObservation, ReplayBuffer, optimize_model). atari_breakout_dqn.ipynb, saved source and executed outputs from 29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technical reference is the supplied 2013 PDF: https://arxiv.org/abs/1312.5602 . Sections 2 and 4 cover the Q-learning method; Section 4.1 covers preprocessing and the network; Section 5 covers experiment settings and evaluation. The notebook source and executed outputs take precedence over the README for the run-specific configuration. Earlier three-convolution network artifacts in outputs/breakout_video are excluded.</a:t>
            </a:r>
          </a:p>
          <a:p>
            <a:endParaRPr/>
          </a:p>
          <a:p>
            <a:r>
              <a:t>Sources: Mnih et al. (2013), Playing Atari with Deep Reinforcement Learning, supplied PDF, arXiv:1312.5602v1. dqn2013.py (DQN, PaperObservation, ReplayBuffer, optimize_model). atari_breakout_dqn.ipynb, saved source and executed outputs from 29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89A7478-4FB2-4EEF-85DF-4A7091A76884}"/>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D5148D40-CE8E-4485-A09F-24961E4CE310}"/>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9DB80A1-41F6-42D2-A043-C04011D6BA27}"/>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E75708E-CA24-4DC3-9F38-197752DB091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B145919A-6E32-4056-AADB-EEED89416F93}"/>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AD4C897-7F31-438A-AF5C-75D1B41D274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39121E9A-A7BA-488A-A5C6-76F40543276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D414722-39FC-4A2E-BB46-D88C139AAE1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AABE3F9-B487-41BF-9CC3-3B552DF121F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A1232EA-D2B4-4B2F-8617-1C2918A812E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6.gif"/><Relationship Id="rId5" Type="http://schemas.openxmlformats.org/officeDocument/2006/relationships/image" Target="../media/image5.gif"/><Relationship Id="rId4" Type="http://schemas.openxmlformats.org/officeDocument/2006/relationships/image" Target="../media/image4.gi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6C6B55-F721-44CA-A57E-C571E9880635}"/>
              </a:ext>
            </a:extLst>
          </p:cNvPr>
          <p:cNvSpPr>
            <a:spLocks noGrp="1"/>
          </p:cNvSpPr>
          <p:nvPr/>
        </p:nvSpPr>
        <p:spPr>
          <a:xfrm>
            <a:off x="609600" y="438150"/>
            <a:ext cx="10763250" cy="666750"/>
          </a:xfrm>
          <a:prstGeom prst="rect">
            <a:avLst/>
          </a:prstGeom>
          <a:noFill/>
          <a:ln w="0">
            <a:noFill/>
          </a:ln>
        </p:spPr>
        <p:txBody>
          <a:bodyPr lIns="0" tIns="0" rIns="0" bIns="0" anchor="t">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endParaRPr/>
          </a:p>
        </p:txBody>
      </p:sp>
      <p:sp>
        <p:nvSpPr>
          <p:cNvPr id="3" name="01">
            <a:extLst>
              <a:ext uri="{FF2B5EF4-FFF2-40B4-BE49-F238E27FC236}">
                <a16:creationId xmlns:a16="http://schemas.microsoft.com/office/drawing/2014/main" id="{CC0E98D5-9CB2-4AB2-B73F-E1034310FCB2}"/>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01</a:t>
            </a:r>
          </a:p>
        </p:txBody>
      </p:sp>
      <p:sp>
        <p:nvSpPr>
          <p:cNvPr id="4" name="DEEP REINFORCEMENT LEARNING">
            <a:extLst>
              <a:ext uri="{FF2B5EF4-FFF2-40B4-BE49-F238E27FC236}">
                <a16:creationId xmlns:a16="http://schemas.microsoft.com/office/drawing/2014/main" id="{7309CFEF-153F-457C-B5F2-9098AFB2CE43}"/>
              </a:ext>
            </a:extLst>
          </p:cNvPr>
          <p:cNvSpPr>
            <a:spLocks noGrp="1"/>
          </p:cNvSpPr>
          <p:nvPr/>
        </p:nvSpPr>
        <p:spPr>
          <a:xfrm>
            <a:off x="609600" y="571500"/>
            <a:ext cx="6858000" cy="304800"/>
          </a:xfrm>
          <a:prstGeom prst="rect">
            <a:avLst/>
          </a:prstGeom>
          <a:noFill/>
          <a:ln w="0">
            <a:noFill/>
          </a:ln>
        </p:spPr>
        <p:txBody>
          <a:bodyPr lIns="0" tIns="0" rIns="0" bIns="0" anchor="t">
            <a:noAutofit/>
          </a:bodyPr>
          <a:lstStyle>
            <a:defPPr>
              <a:defRPr sz="1575" b="1">
                <a:solidFill>
                  <a:srgbClr val="087F8C"/>
                </a:solidFill>
                <a:latin typeface="Aptos"/>
                <a:ea typeface="Aptos"/>
                <a:cs typeface="Aptos"/>
              </a:defRPr>
            </a:defPPr>
            <a:lvl1pPr>
              <a:defRPr sz="1575" b="1">
                <a:solidFill>
                  <a:srgbClr val="087F8C"/>
                </a:solidFill>
                <a:latin typeface="Aptos"/>
                <a:ea typeface="Aptos"/>
                <a:cs typeface="Aptos"/>
              </a:defRPr>
            </a:lvl1pPr>
            <a:lvl2pPr>
              <a:defRPr sz="1575" b="1">
                <a:solidFill>
                  <a:srgbClr val="087F8C"/>
                </a:solidFill>
                <a:latin typeface="Aptos"/>
                <a:ea typeface="Aptos"/>
                <a:cs typeface="Aptos"/>
              </a:defRPr>
            </a:lvl2pPr>
            <a:lvl3pPr>
              <a:defRPr sz="1575" b="1">
                <a:solidFill>
                  <a:srgbClr val="087F8C"/>
                </a:solidFill>
                <a:latin typeface="Aptos"/>
                <a:ea typeface="Aptos"/>
                <a:cs typeface="Aptos"/>
              </a:defRPr>
            </a:lvl3pPr>
            <a:lvl4pPr>
              <a:defRPr sz="1575" b="1">
                <a:solidFill>
                  <a:srgbClr val="087F8C"/>
                </a:solidFill>
                <a:latin typeface="Aptos"/>
                <a:ea typeface="Aptos"/>
                <a:cs typeface="Aptos"/>
              </a:defRPr>
            </a:lvl4pPr>
            <a:lvl5pPr>
              <a:defRPr sz="1575" b="1">
                <a:solidFill>
                  <a:srgbClr val="087F8C"/>
                </a:solidFill>
                <a:latin typeface="Aptos"/>
                <a:ea typeface="Aptos"/>
                <a:cs typeface="Aptos"/>
              </a:defRPr>
            </a:lvl5pPr>
            <a:lvl6pPr>
              <a:defRPr sz="1575" b="1">
                <a:solidFill>
                  <a:srgbClr val="087F8C"/>
                </a:solidFill>
                <a:latin typeface="Aptos"/>
                <a:ea typeface="Aptos"/>
                <a:cs typeface="Aptos"/>
              </a:defRPr>
            </a:lvl6pPr>
            <a:lvl7pPr>
              <a:defRPr sz="1575" b="1">
                <a:solidFill>
                  <a:srgbClr val="087F8C"/>
                </a:solidFill>
                <a:latin typeface="Aptos"/>
                <a:ea typeface="Aptos"/>
                <a:cs typeface="Aptos"/>
              </a:defRPr>
            </a:lvl7pPr>
            <a:lvl8pPr>
              <a:defRPr sz="1575" b="1">
                <a:solidFill>
                  <a:srgbClr val="087F8C"/>
                </a:solidFill>
                <a:latin typeface="Aptos"/>
                <a:ea typeface="Aptos"/>
                <a:cs typeface="Aptos"/>
              </a:defRPr>
            </a:lvl8pPr>
            <a:lvl9pPr>
              <a:defRPr sz="1575" b="1">
                <a:solidFill>
                  <a:srgbClr val="087F8C"/>
                </a:solidFill>
                <a:latin typeface="Aptos"/>
                <a:ea typeface="Aptos"/>
                <a:cs typeface="Aptos"/>
              </a:defRPr>
            </a:lvl9pPr>
          </a:lstStyle>
          <a:p>
            <a:pPr>
              <a:defRPr sz="1575" b="1">
                <a:solidFill>
                  <a:srgbClr val="087F8C"/>
                </a:solidFill>
                <a:latin typeface="Aptos"/>
                <a:ea typeface="Aptos"/>
                <a:cs typeface="Aptos"/>
              </a:defRPr>
            </a:pPr>
            <a:r>
              <a:rPr lang="en-IN" sz="1575" b="1" dirty="0">
                <a:solidFill>
                  <a:srgbClr val="087F8C"/>
                </a:solidFill>
                <a:latin typeface="Aptos"/>
                <a:ea typeface="Aptos"/>
                <a:cs typeface="Aptos"/>
              </a:rPr>
              <a:t>CS6109 - </a:t>
            </a:r>
            <a:r>
              <a:rPr sz="1575" b="1" dirty="0">
                <a:solidFill>
                  <a:srgbClr val="087F8C"/>
                </a:solidFill>
                <a:latin typeface="Aptos"/>
                <a:ea typeface="Aptos"/>
                <a:cs typeface="Aptos"/>
              </a:rPr>
              <a:t> REINFORCEMENT LEARNING</a:t>
            </a:r>
          </a:p>
        </p:txBody>
      </p:sp>
      <p:sp>
        <p:nvSpPr>
          <p:cNvPr id="5" name="Playing Atari&#10;with Deep&#10;Q-Networks">
            <a:extLst>
              <a:ext uri="{FF2B5EF4-FFF2-40B4-BE49-F238E27FC236}">
                <a16:creationId xmlns:a16="http://schemas.microsoft.com/office/drawing/2014/main" id="{5F8FBF32-92A3-4991-8F91-C8C1DE648063}"/>
              </a:ext>
            </a:extLst>
          </p:cNvPr>
          <p:cNvSpPr>
            <a:spLocks noGrp="1"/>
          </p:cNvSpPr>
          <p:nvPr/>
        </p:nvSpPr>
        <p:spPr>
          <a:xfrm>
            <a:off x="609600" y="1266825"/>
            <a:ext cx="6953250" cy="2381250"/>
          </a:xfrm>
          <a:prstGeom prst="rect">
            <a:avLst/>
          </a:prstGeom>
          <a:noFill/>
          <a:ln w="0">
            <a:noFill/>
          </a:ln>
        </p:spPr>
        <p:txBody>
          <a:bodyPr lIns="0" tIns="0" rIns="0" bIns="0" anchor="t">
            <a:noAutofit/>
          </a:bodyPr>
          <a:lstStyle>
            <a:defPPr>
              <a:defRPr sz="4950" b="1">
                <a:solidFill>
                  <a:srgbClr val="18324F"/>
                </a:solidFill>
                <a:latin typeface="Aptos"/>
                <a:ea typeface="Aptos"/>
                <a:cs typeface="Aptos"/>
              </a:defRPr>
            </a:defPPr>
            <a:lvl1pPr>
              <a:defRPr sz="4950" b="1">
                <a:solidFill>
                  <a:srgbClr val="18324F"/>
                </a:solidFill>
                <a:latin typeface="Aptos"/>
                <a:ea typeface="Aptos"/>
                <a:cs typeface="Aptos"/>
              </a:defRPr>
            </a:lvl1pPr>
            <a:lvl2pPr>
              <a:defRPr sz="4950" b="1">
                <a:solidFill>
                  <a:srgbClr val="18324F"/>
                </a:solidFill>
                <a:latin typeface="Aptos"/>
                <a:ea typeface="Aptos"/>
                <a:cs typeface="Aptos"/>
              </a:defRPr>
            </a:lvl2pPr>
            <a:lvl3pPr>
              <a:defRPr sz="4950" b="1">
                <a:solidFill>
                  <a:srgbClr val="18324F"/>
                </a:solidFill>
                <a:latin typeface="Aptos"/>
                <a:ea typeface="Aptos"/>
                <a:cs typeface="Aptos"/>
              </a:defRPr>
            </a:lvl3pPr>
            <a:lvl4pPr>
              <a:defRPr sz="4950" b="1">
                <a:solidFill>
                  <a:srgbClr val="18324F"/>
                </a:solidFill>
                <a:latin typeface="Aptos"/>
                <a:ea typeface="Aptos"/>
                <a:cs typeface="Aptos"/>
              </a:defRPr>
            </a:lvl4pPr>
            <a:lvl5pPr>
              <a:defRPr sz="4950" b="1">
                <a:solidFill>
                  <a:srgbClr val="18324F"/>
                </a:solidFill>
                <a:latin typeface="Aptos"/>
                <a:ea typeface="Aptos"/>
                <a:cs typeface="Aptos"/>
              </a:defRPr>
            </a:lvl5pPr>
            <a:lvl6pPr>
              <a:defRPr sz="4950" b="1">
                <a:solidFill>
                  <a:srgbClr val="18324F"/>
                </a:solidFill>
                <a:latin typeface="Aptos"/>
                <a:ea typeface="Aptos"/>
                <a:cs typeface="Aptos"/>
              </a:defRPr>
            </a:lvl6pPr>
            <a:lvl7pPr>
              <a:defRPr sz="4950" b="1">
                <a:solidFill>
                  <a:srgbClr val="18324F"/>
                </a:solidFill>
                <a:latin typeface="Aptos"/>
                <a:ea typeface="Aptos"/>
                <a:cs typeface="Aptos"/>
              </a:defRPr>
            </a:lvl7pPr>
            <a:lvl8pPr>
              <a:defRPr sz="4950" b="1">
                <a:solidFill>
                  <a:srgbClr val="18324F"/>
                </a:solidFill>
                <a:latin typeface="Aptos"/>
                <a:ea typeface="Aptos"/>
                <a:cs typeface="Aptos"/>
              </a:defRPr>
            </a:lvl8pPr>
            <a:lvl9pPr>
              <a:defRPr sz="4950" b="1">
                <a:solidFill>
                  <a:srgbClr val="18324F"/>
                </a:solidFill>
                <a:latin typeface="Aptos"/>
                <a:ea typeface="Aptos"/>
                <a:cs typeface="Aptos"/>
              </a:defRPr>
            </a:lvl9pPr>
          </a:lstStyle>
          <a:p>
            <a:pPr>
              <a:defRPr sz="4950" b="1">
                <a:solidFill>
                  <a:srgbClr val="18324F"/>
                </a:solidFill>
                <a:latin typeface="Aptos"/>
                <a:ea typeface="Aptos"/>
                <a:cs typeface="Aptos"/>
              </a:defRPr>
            </a:pPr>
            <a:r>
              <a:rPr sz="4950" b="1" dirty="0">
                <a:solidFill>
                  <a:srgbClr val="18324F"/>
                </a:solidFill>
                <a:latin typeface="Aptos"/>
                <a:ea typeface="Aptos"/>
                <a:cs typeface="Aptos"/>
              </a:rPr>
              <a:t>Playing </a:t>
            </a:r>
            <a:r>
              <a:rPr lang="en-IN" sz="4950" b="1" dirty="0">
                <a:solidFill>
                  <a:srgbClr val="18324F"/>
                </a:solidFill>
                <a:latin typeface="Aptos"/>
                <a:ea typeface="Aptos"/>
                <a:cs typeface="Aptos"/>
              </a:rPr>
              <a:t>Breakout </a:t>
            </a:r>
          </a:p>
          <a:p>
            <a:pPr>
              <a:defRPr sz="4950" b="1">
                <a:solidFill>
                  <a:srgbClr val="18324F"/>
                </a:solidFill>
                <a:latin typeface="Aptos"/>
                <a:ea typeface="Aptos"/>
                <a:cs typeface="Aptos"/>
              </a:defRPr>
            </a:pPr>
            <a:r>
              <a:rPr sz="4950" b="1" dirty="0">
                <a:solidFill>
                  <a:srgbClr val="18324F"/>
                </a:solidFill>
                <a:latin typeface="Aptos"/>
                <a:ea typeface="Aptos"/>
                <a:cs typeface="Aptos"/>
              </a:rPr>
              <a:t>with </a:t>
            </a:r>
            <a:endParaRPr lang="en-IN" sz="4950" b="1" dirty="0">
              <a:solidFill>
                <a:srgbClr val="18324F"/>
              </a:solidFill>
              <a:latin typeface="Aptos"/>
              <a:ea typeface="Aptos"/>
              <a:cs typeface="Aptos"/>
            </a:endParaRPr>
          </a:p>
          <a:p>
            <a:pPr>
              <a:defRPr sz="4950" b="1">
                <a:solidFill>
                  <a:srgbClr val="18324F"/>
                </a:solidFill>
                <a:latin typeface="Aptos"/>
                <a:ea typeface="Aptos"/>
                <a:cs typeface="Aptos"/>
              </a:defRPr>
            </a:pPr>
            <a:r>
              <a:rPr sz="4950" b="1" dirty="0">
                <a:solidFill>
                  <a:srgbClr val="18324F"/>
                </a:solidFill>
                <a:latin typeface="Aptos"/>
                <a:ea typeface="Aptos"/>
                <a:cs typeface="Aptos"/>
              </a:rPr>
              <a:t>Deep</a:t>
            </a:r>
            <a:r>
              <a:rPr lang="en-IN" dirty="0"/>
              <a:t> </a:t>
            </a:r>
            <a:r>
              <a:rPr sz="4950" b="1" dirty="0">
                <a:solidFill>
                  <a:srgbClr val="18324F"/>
                </a:solidFill>
                <a:latin typeface="Aptos"/>
                <a:ea typeface="Aptos"/>
                <a:cs typeface="Aptos"/>
              </a:rPr>
              <a:t>Q-Networks</a:t>
            </a:r>
          </a:p>
        </p:txBody>
      </p:sp>
      <p:sp>
        <p:nvSpPr>
          <p:cNvPr id="6" name="A compact Breakout implementation inspired by Mnih et a">
            <a:extLst>
              <a:ext uri="{FF2B5EF4-FFF2-40B4-BE49-F238E27FC236}">
                <a16:creationId xmlns:a16="http://schemas.microsoft.com/office/drawing/2014/main" id="{C381AD51-6DE2-42D0-B3A7-87472BFCDE4E}"/>
              </a:ext>
            </a:extLst>
          </p:cNvPr>
          <p:cNvSpPr>
            <a:spLocks noGrp="1"/>
          </p:cNvSpPr>
          <p:nvPr/>
        </p:nvSpPr>
        <p:spPr>
          <a:xfrm>
            <a:off x="628650" y="3829050"/>
            <a:ext cx="6286500" cy="704850"/>
          </a:xfrm>
          <a:prstGeom prst="rect">
            <a:avLst/>
          </a:prstGeom>
          <a:noFill/>
          <a:ln w="0">
            <a:noFill/>
          </a:ln>
        </p:spPr>
        <p:txBody>
          <a:bodyPr lIns="0" tIns="0" rIns="0" bIns="0" anchor="t">
            <a:noAutofit/>
          </a:bodyPr>
          <a:lstStyle>
            <a:defPPr>
              <a:defRPr sz="2100" b="0">
                <a:solidFill>
                  <a:srgbClr val="37475B"/>
                </a:solidFill>
                <a:latin typeface="Aptos"/>
                <a:ea typeface="Aptos"/>
                <a:cs typeface="Aptos"/>
              </a:defRPr>
            </a:defPPr>
            <a:lvl1pPr>
              <a:defRPr sz="2100" b="0">
                <a:solidFill>
                  <a:srgbClr val="37475B"/>
                </a:solidFill>
                <a:latin typeface="Aptos"/>
                <a:ea typeface="Aptos"/>
                <a:cs typeface="Aptos"/>
              </a:defRPr>
            </a:lvl1pPr>
            <a:lvl2pPr>
              <a:defRPr sz="2100" b="0">
                <a:solidFill>
                  <a:srgbClr val="37475B"/>
                </a:solidFill>
                <a:latin typeface="Aptos"/>
                <a:ea typeface="Aptos"/>
                <a:cs typeface="Aptos"/>
              </a:defRPr>
            </a:lvl2pPr>
            <a:lvl3pPr>
              <a:defRPr sz="2100" b="0">
                <a:solidFill>
                  <a:srgbClr val="37475B"/>
                </a:solidFill>
                <a:latin typeface="Aptos"/>
                <a:ea typeface="Aptos"/>
                <a:cs typeface="Aptos"/>
              </a:defRPr>
            </a:lvl3pPr>
            <a:lvl4pPr>
              <a:defRPr sz="2100" b="0">
                <a:solidFill>
                  <a:srgbClr val="37475B"/>
                </a:solidFill>
                <a:latin typeface="Aptos"/>
                <a:ea typeface="Aptos"/>
                <a:cs typeface="Aptos"/>
              </a:defRPr>
            </a:lvl4pPr>
            <a:lvl5pPr>
              <a:defRPr sz="2100" b="0">
                <a:solidFill>
                  <a:srgbClr val="37475B"/>
                </a:solidFill>
                <a:latin typeface="Aptos"/>
                <a:ea typeface="Aptos"/>
                <a:cs typeface="Aptos"/>
              </a:defRPr>
            </a:lvl5pPr>
            <a:lvl6pPr>
              <a:defRPr sz="2100" b="0">
                <a:solidFill>
                  <a:srgbClr val="37475B"/>
                </a:solidFill>
                <a:latin typeface="Aptos"/>
                <a:ea typeface="Aptos"/>
                <a:cs typeface="Aptos"/>
              </a:defRPr>
            </a:lvl6pPr>
            <a:lvl7pPr>
              <a:defRPr sz="2100" b="0">
                <a:solidFill>
                  <a:srgbClr val="37475B"/>
                </a:solidFill>
                <a:latin typeface="Aptos"/>
                <a:ea typeface="Aptos"/>
                <a:cs typeface="Aptos"/>
              </a:defRPr>
            </a:lvl7pPr>
            <a:lvl8pPr>
              <a:defRPr sz="2100" b="0">
                <a:solidFill>
                  <a:srgbClr val="37475B"/>
                </a:solidFill>
                <a:latin typeface="Aptos"/>
                <a:ea typeface="Aptos"/>
                <a:cs typeface="Aptos"/>
              </a:defRPr>
            </a:lvl8pPr>
            <a:lvl9pPr>
              <a:defRPr sz="2100" b="0">
                <a:solidFill>
                  <a:srgbClr val="37475B"/>
                </a:solidFill>
                <a:latin typeface="Aptos"/>
                <a:ea typeface="Aptos"/>
                <a:cs typeface="Aptos"/>
              </a:defRPr>
            </a:lvl9pPr>
          </a:lstStyle>
          <a:p>
            <a:pPr>
              <a:defRPr sz="2100" b="0">
                <a:solidFill>
                  <a:srgbClr val="37475B"/>
                </a:solidFill>
                <a:latin typeface="Aptos"/>
                <a:ea typeface="Aptos"/>
                <a:cs typeface="Aptos"/>
              </a:defRPr>
            </a:pPr>
            <a:r>
              <a:rPr sz="2100" b="0">
                <a:solidFill>
                  <a:srgbClr val="37475B"/>
                </a:solidFill>
                <a:latin typeface="Aptos"/>
                <a:ea typeface="Aptos"/>
                <a:cs typeface="Aptos"/>
              </a:rPr>
              <a:t>A compact Breakout implementation inspired by Mnih et al. (2013)</a:t>
            </a:r>
          </a:p>
        </p:txBody>
      </p:sp>
      <p:sp>
        <p:nvSpPr>
          <p:cNvPr id="7" name="BALAJI VARA PRASAD DEGA   2611AI05&#10;UDDIPTA ARUN PAUL   ">
            <a:extLst>
              <a:ext uri="{FF2B5EF4-FFF2-40B4-BE49-F238E27FC236}">
                <a16:creationId xmlns:a16="http://schemas.microsoft.com/office/drawing/2014/main" id="{4133EEC8-A2A3-46A5-8178-BB63EB6C870F}"/>
              </a:ext>
            </a:extLst>
          </p:cNvPr>
          <p:cNvSpPr>
            <a:spLocks noGrp="1"/>
          </p:cNvSpPr>
          <p:nvPr/>
        </p:nvSpPr>
        <p:spPr>
          <a:xfrm>
            <a:off x="628650" y="5010150"/>
            <a:ext cx="6858000" cy="952500"/>
          </a:xfrm>
          <a:prstGeom prst="rect">
            <a:avLst/>
          </a:prstGeom>
          <a:noFill/>
          <a:ln w="0">
            <a:noFill/>
          </a:ln>
        </p:spPr>
        <p:txBody>
          <a:bodyPr lIns="0" tIns="0" rIns="0" bIns="0" anchor="t">
            <a:noAutofit/>
          </a:bodyPr>
          <a:lstStyle>
            <a:defPPr>
              <a:defRPr sz="1650" b="0">
                <a:solidFill>
                  <a:srgbClr val="18324F"/>
                </a:solidFill>
                <a:latin typeface="Aptos"/>
                <a:ea typeface="Aptos"/>
                <a:cs typeface="Aptos"/>
              </a:defRPr>
            </a:defPPr>
            <a:lvl1pPr>
              <a:defRPr sz="1650" b="0">
                <a:solidFill>
                  <a:srgbClr val="18324F"/>
                </a:solidFill>
                <a:latin typeface="Aptos"/>
                <a:ea typeface="Aptos"/>
                <a:cs typeface="Aptos"/>
              </a:defRPr>
            </a:lvl1pPr>
            <a:lvl2pPr>
              <a:defRPr sz="1650" b="0">
                <a:solidFill>
                  <a:srgbClr val="18324F"/>
                </a:solidFill>
                <a:latin typeface="Aptos"/>
                <a:ea typeface="Aptos"/>
                <a:cs typeface="Aptos"/>
              </a:defRPr>
            </a:lvl2pPr>
            <a:lvl3pPr>
              <a:defRPr sz="1650" b="0">
                <a:solidFill>
                  <a:srgbClr val="18324F"/>
                </a:solidFill>
                <a:latin typeface="Aptos"/>
                <a:ea typeface="Aptos"/>
                <a:cs typeface="Aptos"/>
              </a:defRPr>
            </a:lvl3pPr>
            <a:lvl4pPr>
              <a:defRPr sz="1650" b="0">
                <a:solidFill>
                  <a:srgbClr val="18324F"/>
                </a:solidFill>
                <a:latin typeface="Aptos"/>
                <a:ea typeface="Aptos"/>
                <a:cs typeface="Aptos"/>
              </a:defRPr>
            </a:lvl4pPr>
            <a:lvl5pPr>
              <a:defRPr sz="1650" b="0">
                <a:solidFill>
                  <a:srgbClr val="18324F"/>
                </a:solidFill>
                <a:latin typeface="Aptos"/>
                <a:ea typeface="Aptos"/>
                <a:cs typeface="Aptos"/>
              </a:defRPr>
            </a:lvl5pPr>
            <a:lvl6pPr>
              <a:defRPr sz="1650" b="0">
                <a:solidFill>
                  <a:srgbClr val="18324F"/>
                </a:solidFill>
                <a:latin typeface="Aptos"/>
                <a:ea typeface="Aptos"/>
                <a:cs typeface="Aptos"/>
              </a:defRPr>
            </a:lvl6pPr>
            <a:lvl7pPr>
              <a:defRPr sz="1650" b="0">
                <a:solidFill>
                  <a:srgbClr val="18324F"/>
                </a:solidFill>
                <a:latin typeface="Aptos"/>
                <a:ea typeface="Aptos"/>
                <a:cs typeface="Aptos"/>
              </a:defRPr>
            </a:lvl7pPr>
            <a:lvl8pPr>
              <a:defRPr sz="1650" b="0">
                <a:solidFill>
                  <a:srgbClr val="18324F"/>
                </a:solidFill>
                <a:latin typeface="Aptos"/>
                <a:ea typeface="Aptos"/>
                <a:cs typeface="Aptos"/>
              </a:defRPr>
            </a:lvl8pPr>
            <a:lvl9pPr>
              <a:defRPr sz="1650" b="0">
                <a:solidFill>
                  <a:srgbClr val="18324F"/>
                </a:solidFill>
                <a:latin typeface="Aptos"/>
                <a:ea typeface="Aptos"/>
                <a:cs typeface="Aptos"/>
              </a:defRPr>
            </a:lvl9pPr>
          </a:lstStyle>
          <a:p>
            <a:pPr>
              <a:defRPr sz="1650" b="0">
                <a:solidFill>
                  <a:srgbClr val="18324F"/>
                </a:solidFill>
                <a:latin typeface="Aptos"/>
                <a:ea typeface="Aptos"/>
                <a:cs typeface="Aptos"/>
              </a:defRPr>
            </a:pPr>
            <a:r>
              <a:rPr sz="1650" b="1" dirty="0">
                <a:solidFill>
                  <a:srgbClr val="18324F"/>
                </a:solidFill>
                <a:latin typeface="Aptos"/>
                <a:ea typeface="Aptos"/>
                <a:cs typeface="Aptos"/>
              </a:rPr>
              <a:t>BALAJI VARA PRASAD DEGA   </a:t>
            </a:r>
            <a:r>
              <a:rPr lang="en-IN" sz="1650" b="1" dirty="0">
                <a:solidFill>
                  <a:srgbClr val="18324F"/>
                </a:solidFill>
                <a:latin typeface="Aptos"/>
                <a:ea typeface="Aptos"/>
                <a:cs typeface="Aptos"/>
              </a:rPr>
              <a:t>-</a:t>
            </a:r>
            <a:r>
              <a:rPr lang="en-IN" sz="1650" b="0" dirty="0">
                <a:solidFill>
                  <a:srgbClr val="18324F"/>
                </a:solidFill>
                <a:latin typeface="Aptos"/>
                <a:ea typeface="Aptos"/>
                <a:cs typeface="Aptos"/>
              </a:rPr>
              <a:t> </a:t>
            </a:r>
            <a:r>
              <a:rPr sz="1650" b="0" dirty="0">
                <a:solidFill>
                  <a:srgbClr val="18324F"/>
                </a:solidFill>
                <a:latin typeface="Aptos"/>
                <a:ea typeface="Aptos"/>
                <a:cs typeface="Aptos"/>
              </a:rPr>
              <a:t>2611AI05</a:t>
            </a:r>
          </a:p>
          <a:p>
            <a:pPr>
              <a:defRPr sz="1650" b="0">
                <a:solidFill>
                  <a:srgbClr val="18324F"/>
                </a:solidFill>
                <a:latin typeface="Aptos"/>
                <a:ea typeface="Aptos"/>
                <a:cs typeface="Aptos"/>
              </a:defRPr>
            </a:pPr>
            <a:r>
              <a:rPr sz="1650" b="1" dirty="0">
                <a:solidFill>
                  <a:srgbClr val="18324F"/>
                </a:solidFill>
                <a:latin typeface="Aptos"/>
                <a:ea typeface="Aptos"/>
                <a:cs typeface="Aptos"/>
              </a:rPr>
              <a:t>UDDIPTA ARUN PAUL   </a:t>
            </a:r>
            <a:r>
              <a:rPr lang="en-IN" sz="1650" b="1" dirty="0">
                <a:solidFill>
                  <a:srgbClr val="18324F"/>
                </a:solidFill>
                <a:latin typeface="Aptos"/>
                <a:ea typeface="Aptos"/>
                <a:cs typeface="Aptos"/>
              </a:rPr>
              <a:t>- </a:t>
            </a:r>
            <a:r>
              <a:rPr sz="1650" b="0" dirty="0">
                <a:solidFill>
                  <a:srgbClr val="18324F"/>
                </a:solidFill>
                <a:latin typeface="Aptos"/>
                <a:ea typeface="Aptos"/>
                <a:cs typeface="Aptos"/>
              </a:rPr>
              <a:t>2611AI06</a:t>
            </a:r>
          </a:p>
          <a:p>
            <a:pPr>
              <a:defRPr sz="1650" b="0">
                <a:solidFill>
                  <a:srgbClr val="18324F"/>
                </a:solidFill>
                <a:latin typeface="Aptos"/>
                <a:ea typeface="Aptos"/>
                <a:cs typeface="Aptos"/>
              </a:defRPr>
            </a:pPr>
            <a:r>
              <a:rPr sz="1650" b="1" dirty="0">
                <a:solidFill>
                  <a:srgbClr val="18324F"/>
                </a:solidFill>
                <a:latin typeface="Aptos"/>
                <a:ea typeface="Aptos"/>
                <a:cs typeface="Aptos"/>
              </a:rPr>
              <a:t>SUVA PRATYUSH TRIPATHY  </a:t>
            </a:r>
            <a:r>
              <a:rPr lang="en-IN" sz="1650" b="1" dirty="0">
                <a:solidFill>
                  <a:srgbClr val="18324F"/>
                </a:solidFill>
                <a:latin typeface="Aptos"/>
                <a:ea typeface="Aptos"/>
                <a:cs typeface="Aptos"/>
              </a:rPr>
              <a:t>- </a:t>
            </a:r>
            <a:r>
              <a:rPr sz="1650" b="0" dirty="0">
                <a:solidFill>
                  <a:srgbClr val="18324F"/>
                </a:solidFill>
                <a:latin typeface="Aptos"/>
                <a:ea typeface="Aptos"/>
                <a:cs typeface="Aptos"/>
              </a:rPr>
              <a:t>2611AI14</a:t>
            </a:r>
          </a:p>
        </p:txBody>
      </p:sp>
      <p:pic>
        <p:nvPicPr>
          <p:cNvPr id="9" name="Picture 8" descr="Teaching a Neural Network to play the Breakout game | by ...">
            <a:extLst>
              <a:ext uri="{FF2B5EF4-FFF2-40B4-BE49-F238E27FC236}">
                <a16:creationId xmlns:a16="http://schemas.microsoft.com/office/drawing/2014/main" id="{9CCED798-7149-7C2C-04DE-2D44A99375D5}"/>
              </a:ext>
            </a:extLst>
          </p:cNvPr>
          <p:cNvPicPr>
            <a:picLocks noChangeAspect="1"/>
          </p:cNvPicPr>
          <p:nvPr/>
        </p:nvPicPr>
        <p:blipFill>
          <a:blip r:embed="rId3"/>
          <a:stretch>
            <a:fillRect/>
          </a:stretch>
        </p:blipFill>
        <p:spPr>
          <a:xfrm>
            <a:off x="7647317" y="914400"/>
            <a:ext cx="3725533" cy="4572000"/>
          </a:xfrm>
          <a:prstGeom prst="rect">
            <a:avLst/>
          </a:prstGeom>
        </p:spPr>
      </p:pic>
    </p:spTree>
    <p:extLst>
      <p:ext uri="{BB962C8B-B14F-4D97-AF65-F5344CB8AC3E}">
        <p14:creationId xmlns:p14="http://schemas.microsoft.com/office/powerpoint/2010/main" val="2049612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he Breakout learning task">
            <a:extLst>
              <a:ext uri="{FF2B5EF4-FFF2-40B4-BE49-F238E27FC236}">
                <a16:creationId xmlns:a16="http://schemas.microsoft.com/office/drawing/2014/main" id="{344302EF-D5C5-4935-BB49-2E2274A8AA94}"/>
              </a:ext>
            </a:extLst>
          </p:cNvPr>
          <p:cNvSpPr>
            <a:spLocks noGrp="1"/>
          </p:cNvSpPr>
          <p:nvPr/>
        </p:nvSpPr>
        <p:spPr>
          <a:xfrm>
            <a:off x="609600" y="438150"/>
            <a:ext cx="10763250" cy="666750"/>
          </a:xfrm>
          <a:prstGeom prst="rect">
            <a:avLst/>
          </a:prstGeom>
          <a:noFill/>
          <a:ln w="0">
            <a:noFill/>
          </a:ln>
        </p:spPr>
        <p:txBody>
          <a:bodyPr lIns="0" tIns="0" rIns="0" bIns="0" anchor="t">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The Breakout learning task</a:t>
            </a:r>
          </a:p>
        </p:txBody>
      </p:sp>
      <p:sp>
        <p:nvSpPr>
          <p:cNvPr id="3" name="02">
            <a:extLst>
              <a:ext uri="{FF2B5EF4-FFF2-40B4-BE49-F238E27FC236}">
                <a16:creationId xmlns:a16="http://schemas.microsoft.com/office/drawing/2014/main" id="{B2631390-1741-401C-A5F0-08397810B31E}"/>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02</a:t>
            </a:r>
          </a:p>
        </p:txBody>
      </p:sp>
      <p:sp>
        <p:nvSpPr>
          <p:cNvPr id="5" name="Observation">
            <a:extLst>
              <a:ext uri="{FF2B5EF4-FFF2-40B4-BE49-F238E27FC236}">
                <a16:creationId xmlns:a16="http://schemas.microsoft.com/office/drawing/2014/main" id="{62420595-F333-40A3-9756-60CD04EB810D}"/>
              </a:ext>
            </a:extLst>
          </p:cNvPr>
          <p:cNvSpPr>
            <a:spLocks noGrp="1"/>
          </p:cNvSpPr>
          <p:nvPr/>
        </p:nvSpPr>
        <p:spPr>
          <a:xfrm>
            <a:off x="4514850" y="1571625"/>
            <a:ext cx="6667500" cy="381000"/>
          </a:xfrm>
          <a:prstGeom prst="rect">
            <a:avLst/>
          </a:prstGeom>
          <a:noFill/>
          <a:ln w="0">
            <a:noFill/>
          </a:ln>
        </p:spPr>
        <p:txBody>
          <a:bodyPr lIns="0" tIns="0" rIns="0" bIns="0" anchor="t">
            <a:noAutofit/>
          </a:bodyPr>
          <a:lstStyle>
            <a:defPPr>
              <a:defRPr sz="2100" b="1">
                <a:solidFill>
                  <a:srgbClr val="087F8C"/>
                </a:solidFill>
                <a:latin typeface="Aptos"/>
                <a:ea typeface="Aptos"/>
                <a:cs typeface="Aptos"/>
              </a:defRPr>
            </a:defPPr>
            <a:lvl1pPr>
              <a:defRPr sz="2100" b="1">
                <a:solidFill>
                  <a:srgbClr val="087F8C"/>
                </a:solidFill>
                <a:latin typeface="Aptos"/>
                <a:ea typeface="Aptos"/>
                <a:cs typeface="Aptos"/>
              </a:defRPr>
            </a:lvl1pPr>
            <a:lvl2pPr>
              <a:defRPr sz="2100" b="1">
                <a:solidFill>
                  <a:srgbClr val="087F8C"/>
                </a:solidFill>
                <a:latin typeface="Aptos"/>
                <a:ea typeface="Aptos"/>
                <a:cs typeface="Aptos"/>
              </a:defRPr>
            </a:lvl2pPr>
            <a:lvl3pPr>
              <a:defRPr sz="2100" b="1">
                <a:solidFill>
                  <a:srgbClr val="087F8C"/>
                </a:solidFill>
                <a:latin typeface="Aptos"/>
                <a:ea typeface="Aptos"/>
                <a:cs typeface="Aptos"/>
              </a:defRPr>
            </a:lvl3pPr>
            <a:lvl4pPr>
              <a:defRPr sz="2100" b="1">
                <a:solidFill>
                  <a:srgbClr val="087F8C"/>
                </a:solidFill>
                <a:latin typeface="Aptos"/>
                <a:ea typeface="Aptos"/>
                <a:cs typeface="Aptos"/>
              </a:defRPr>
            </a:lvl4pPr>
            <a:lvl5pPr>
              <a:defRPr sz="2100" b="1">
                <a:solidFill>
                  <a:srgbClr val="087F8C"/>
                </a:solidFill>
                <a:latin typeface="Aptos"/>
                <a:ea typeface="Aptos"/>
                <a:cs typeface="Aptos"/>
              </a:defRPr>
            </a:lvl5pPr>
            <a:lvl6pPr>
              <a:defRPr sz="2100" b="1">
                <a:solidFill>
                  <a:srgbClr val="087F8C"/>
                </a:solidFill>
                <a:latin typeface="Aptos"/>
                <a:ea typeface="Aptos"/>
                <a:cs typeface="Aptos"/>
              </a:defRPr>
            </a:lvl6pPr>
            <a:lvl7pPr>
              <a:defRPr sz="2100" b="1">
                <a:solidFill>
                  <a:srgbClr val="087F8C"/>
                </a:solidFill>
                <a:latin typeface="Aptos"/>
                <a:ea typeface="Aptos"/>
                <a:cs typeface="Aptos"/>
              </a:defRPr>
            </a:lvl7pPr>
            <a:lvl8pPr>
              <a:defRPr sz="2100" b="1">
                <a:solidFill>
                  <a:srgbClr val="087F8C"/>
                </a:solidFill>
                <a:latin typeface="Aptos"/>
                <a:ea typeface="Aptos"/>
                <a:cs typeface="Aptos"/>
              </a:defRPr>
            </a:lvl8pPr>
            <a:lvl9pPr>
              <a:defRPr sz="2100" b="1">
                <a:solidFill>
                  <a:srgbClr val="087F8C"/>
                </a:solidFill>
                <a:latin typeface="Aptos"/>
                <a:ea typeface="Aptos"/>
                <a:cs typeface="Aptos"/>
              </a:defRPr>
            </a:lvl9pPr>
          </a:lstStyle>
          <a:p>
            <a:pPr>
              <a:defRPr sz="2100" b="1">
                <a:solidFill>
                  <a:srgbClr val="087F8C"/>
                </a:solidFill>
                <a:latin typeface="Aptos"/>
                <a:ea typeface="Aptos"/>
                <a:cs typeface="Aptos"/>
              </a:defRPr>
            </a:pPr>
            <a:r>
              <a:rPr sz="2100" b="1">
                <a:solidFill>
                  <a:srgbClr val="087F8C"/>
                </a:solidFill>
                <a:latin typeface="Aptos"/>
                <a:ea typeface="Aptos"/>
                <a:cs typeface="Aptos"/>
              </a:rPr>
              <a:t>Observation</a:t>
            </a:r>
          </a:p>
        </p:txBody>
      </p:sp>
      <p:sp>
        <p:nvSpPr>
          <p:cNvPr id="6" name="Four recent grayscale frames describe the game state.">
            <a:extLst>
              <a:ext uri="{FF2B5EF4-FFF2-40B4-BE49-F238E27FC236}">
                <a16:creationId xmlns:a16="http://schemas.microsoft.com/office/drawing/2014/main" id="{7FB179AC-FEA7-4255-AB38-36CD929F57DF}"/>
              </a:ext>
            </a:extLst>
          </p:cNvPr>
          <p:cNvSpPr>
            <a:spLocks noGrp="1"/>
          </p:cNvSpPr>
          <p:nvPr/>
        </p:nvSpPr>
        <p:spPr>
          <a:xfrm>
            <a:off x="4514850" y="2009775"/>
            <a:ext cx="6667500" cy="723900"/>
          </a:xfrm>
          <a:prstGeom prst="rect">
            <a:avLst/>
          </a:prstGeom>
          <a:noFill/>
          <a:ln w="0">
            <a:noFill/>
          </a:ln>
        </p:spPr>
        <p:txBody>
          <a:bodyPr lIns="0" tIns="0" rIns="0" bIns="0" anchor="t">
            <a:noAutofit/>
          </a:bodyPr>
          <a:lstStyle>
            <a:defPPr>
              <a:defRPr sz="1950" b="0">
                <a:solidFill>
                  <a:srgbClr val="37475B"/>
                </a:solidFill>
                <a:latin typeface="Aptos"/>
                <a:ea typeface="Aptos"/>
                <a:cs typeface="Aptos"/>
              </a:defRPr>
            </a:defPPr>
            <a:lvl1pPr>
              <a:defRPr sz="1950" b="0">
                <a:solidFill>
                  <a:srgbClr val="37475B"/>
                </a:solidFill>
                <a:latin typeface="Aptos"/>
                <a:ea typeface="Aptos"/>
                <a:cs typeface="Aptos"/>
              </a:defRPr>
            </a:lvl1pPr>
            <a:lvl2pPr>
              <a:defRPr sz="1950" b="0">
                <a:solidFill>
                  <a:srgbClr val="37475B"/>
                </a:solidFill>
                <a:latin typeface="Aptos"/>
                <a:ea typeface="Aptos"/>
                <a:cs typeface="Aptos"/>
              </a:defRPr>
            </a:lvl2pPr>
            <a:lvl3pPr>
              <a:defRPr sz="1950" b="0">
                <a:solidFill>
                  <a:srgbClr val="37475B"/>
                </a:solidFill>
                <a:latin typeface="Aptos"/>
                <a:ea typeface="Aptos"/>
                <a:cs typeface="Aptos"/>
              </a:defRPr>
            </a:lvl3pPr>
            <a:lvl4pPr>
              <a:defRPr sz="1950" b="0">
                <a:solidFill>
                  <a:srgbClr val="37475B"/>
                </a:solidFill>
                <a:latin typeface="Aptos"/>
                <a:ea typeface="Aptos"/>
                <a:cs typeface="Aptos"/>
              </a:defRPr>
            </a:lvl4pPr>
            <a:lvl5pPr>
              <a:defRPr sz="1950" b="0">
                <a:solidFill>
                  <a:srgbClr val="37475B"/>
                </a:solidFill>
                <a:latin typeface="Aptos"/>
                <a:ea typeface="Aptos"/>
                <a:cs typeface="Aptos"/>
              </a:defRPr>
            </a:lvl5pPr>
            <a:lvl6pPr>
              <a:defRPr sz="1950" b="0">
                <a:solidFill>
                  <a:srgbClr val="37475B"/>
                </a:solidFill>
                <a:latin typeface="Aptos"/>
                <a:ea typeface="Aptos"/>
                <a:cs typeface="Aptos"/>
              </a:defRPr>
            </a:lvl6pPr>
            <a:lvl7pPr>
              <a:defRPr sz="1950" b="0">
                <a:solidFill>
                  <a:srgbClr val="37475B"/>
                </a:solidFill>
                <a:latin typeface="Aptos"/>
                <a:ea typeface="Aptos"/>
                <a:cs typeface="Aptos"/>
              </a:defRPr>
            </a:lvl7pPr>
            <a:lvl8pPr>
              <a:defRPr sz="1950" b="0">
                <a:solidFill>
                  <a:srgbClr val="37475B"/>
                </a:solidFill>
                <a:latin typeface="Aptos"/>
                <a:ea typeface="Aptos"/>
                <a:cs typeface="Aptos"/>
              </a:defRPr>
            </a:lvl8pPr>
            <a:lvl9pPr>
              <a:defRPr sz="1950" b="0">
                <a:solidFill>
                  <a:srgbClr val="37475B"/>
                </a:solidFill>
                <a:latin typeface="Aptos"/>
                <a:ea typeface="Aptos"/>
                <a:cs typeface="Aptos"/>
              </a:defRPr>
            </a:lvl9pPr>
          </a:lstStyle>
          <a:p>
            <a:pPr>
              <a:defRPr sz="1950" b="0">
                <a:solidFill>
                  <a:srgbClr val="37475B"/>
                </a:solidFill>
                <a:latin typeface="Aptos"/>
                <a:ea typeface="Aptos"/>
                <a:cs typeface="Aptos"/>
              </a:defRPr>
            </a:pPr>
            <a:r>
              <a:rPr sz="1950" b="0">
                <a:solidFill>
                  <a:srgbClr val="37475B"/>
                </a:solidFill>
                <a:latin typeface="Aptos"/>
                <a:ea typeface="Aptos"/>
                <a:cs typeface="Aptos"/>
              </a:rPr>
              <a:t>Four recent grayscale frames describe the game state.</a:t>
            </a:r>
          </a:p>
        </p:txBody>
      </p:sp>
      <p:sp>
        <p:nvSpPr>
          <p:cNvPr id="7" name="Action">
            <a:extLst>
              <a:ext uri="{FF2B5EF4-FFF2-40B4-BE49-F238E27FC236}">
                <a16:creationId xmlns:a16="http://schemas.microsoft.com/office/drawing/2014/main" id="{236AE7CB-1F1C-4CD4-923D-46B9F8BA9863}"/>
              </a:ext>
            </a:extLst>
          </p:cNvPr>
          <p:cNvSpPr>
            <a:spLocks noGrp="1"/>
          </p:cNvSpPr>
          <p:nvPr/>
        </p:nvSpPr>
        <p:spPr>
          <a:xfrm>
            <a:off x="4514850" y="2857500"/>
            <a:ext cx="6667500" cy="381000"/>
          </a:xfrm>
          <a:prstGeom prst="rect">
            <a:avLst/>
          </a:prstGeom>
          <a:noFill/>
          <a:ln w="0">
            <a:noFill/>
          </a:ln>
        </p:spPr>
        <p:txBody>
          <a:bodyPr lIns="0" tIns="0" rIns="0" bIns="0" anchor="t">
            <a:noAutofit/>
          </a:bodyPr>
          <a:lstStyle>
            <a:defPPr>
              <a:defRPr sz="2100" b="1">
                <a:solidFill>
                  <a:srgbClr val="087F8C"/>
                </a:solidFill>
                <a:latin typeface="Aptos"/>
                <a:ea typeface="Aptos"/>
                <a:cs typeface="Aptos"/>
              </a:defRPr>
            </a:defPPr>
            <a:lvl1pPr>
              <a:defRPr sz="2100" b="1">
                <a:solidFill>
                  <a:srgbClr val="087F8C"/>
                </a:solidFill>
                <a:latin typeface="Aptos"/>
                <a:ea typeface="Aptos"/>
                <a:cs typeface="Aptos"/>
              </a:defRPr>
            </a:lvl1pPr>
            <a:lvl2pPr>
              <a:defRPr sz="2100" b="1">
                <a:solidFill>
                  <a:srgbClr val="087F8C"/>
                </a:solidFill>
                <a:latin typeface="Aptos"/>
                <a:ea typeface="Aptos"/>
                <a:cs typeface="Aptos"/>
              </a:defRPr>
            </a:lvl2pPr>
            <a:lvl3pPr>
              <a:defRPr sz="2100" b="1">
                <a:solidFill>
                  <a:srgbClr val="087F8C"/>
                </a:solidFill>
                <a:latin typeface="Aptos"/>
                <a:ea typeface="Aptos"/>
                <a:cs typeface="Aptos"/>
              </a:defRPr>
            </a:lvl3pPr>
            <a:lvl4pPr>
              <a:defRPr sz="2100" b="1">
                <a:solidFill>
                  <a:srgbClr val="087F8C"/>
                </a:solidFill>
                <a:latin typeface="Aptos"/>
                <a:ea typeface="Aptos"/>
                <a:cs typeface="Aptos"/>
              </a:defRPr>
            </a:lvl4pPr>
            <a:lvl5pPr>
              <a:defRPr sz="2100" b="1">
                <a:solidFill>
                  <a:srgbClr val="087F8C"/>
                </a:solidFill>
                <a:latin typeface="Aptos"/>
                <a:ea typeface="Aptos"/>
                <a:cs typeface="Aptos"/>
              </a:defRPr>
            </a:lvl5pPr>
            <a:lvl6pPr>
              <a:defRPr sz="2100" b="1">
                <a:solidFill>
                  <a:srgbClr val="087F8C"/>
                </a:solidFill>
                <a:latin typeface="Aptos"/>
                <a:ea typeface="Aptos"/>
                <a:cs typeface="Aptos"/>
              </a:defRPr>
            </a:lvl6pPr>
            <a:lvl7pPr>
              <a:defRPr sz="2100" b="1">
                <a:solidFill>
                  <a:srgbClr val="087F8C"/>
                </a:solidFill>
                <a:latin typeface="Aptos"/>
                <a:ea typeface="Aptos"/>
                <a:cs typeface="Aptos"/>
              </a:defRPr>
            </a:lvl7pPr>
            <a:lvl8pPr>
              <a:defRPr sz="2100" b="1">
                <a:solidFill>
                  <a:srgbClr val="087F8C"/>
                </a:solidFill>
                <a:latin typeface="Aptos"/>
                <a:ea typeface="Aptos"/>
                <a:cs typeface="Aptos"/>
              </a:defRPr>
            </a:lvl8pPr>
            <a:lvl9pPr>
              <a:defRPr sz="2100" b="1">
                <a:solidFill>
                  <a:srgbClr val="087F8C"/>
                </a:solidFill>
                <a:latin typeface="Aptos"/>
                <a:ea typeface="Aptos"/>
                <a:cs typeface="Aptos"/>
              </a:defRPr>
            </a:lvl9pPr>
          </a:lstStyle>
          <a:p>
            <a:pPr>
              <a:defRPr sz="2100" b="1">
                <a:solidFill>
                  <a:srgbClr val="087F8C"/>
                </a:solidFill>
                <a:latin typeface="Aptos"/>
                <a:ea typeface="Aptos"/>
                <a:cs typeface="Aptos"/>
              </a:defRPr>
            </a:pPr>
            <a:r>
              <a:rPr sz="2100" b="1">
                <a:solidFill>
                  <a:srgbClr val="087F8C"/>
                </a:solidFill>
                <a:latin typeface="Aptos"/>
                <a:ea typeface="Aptos"/>
                <a:cs typeface="Aptos"/>
              </a:rPr>
              <a:t>Action</a:t>
            </a:r>
          </a:p>
        </p:txBody>
      </p:sp>
      <p:sp>
        <p:nvSpPr>
          <p:cNvPr id="8" name="Choose NOOP, FIRE, RIGHT or LEFT.">
            <a:extLst>
              <a:ext uri="{FF2B5EF4-FFF2-40B4-BE49-F238E27FC236}">
                <a16:creationId xmlns:a16="http://schemas.microsoft.com/office/drawing/2014/main" id="{B9D890DB-9FFE-42E7-91B5-A1CE92F7B3A8}"/>
              </a:ext>
            </a:extLst>
          </p:cNvPr>
          <p:cNvSpPr>
            <a:spLocks noGrp="1"/>
          </p:cNvSpPr>
          <p:nvPr/>
        </p:nvSpPr>
        <p:spPr>
          <a:xfrm>
            <a:off x="4514850" y="3295650"/>
            <a:ext cx="6667500" cy="723900"/>
          </a:xfrm>
          <a:prstGeom prst="rect">
            <a:avLst/>
          </a:prstGeom>
          <a:noFill/>
          <a:ln w="0">
            <a:noFill/>
          </a:ln>
        </p:spPr>
        <p:txBody>
          <a:bodyPr lIns="0" tIns="0" rIns="0" bIns="0" anchor="t">
            <a:noAutofit/>
          </a:bodyPr>
          <a:lstStyle>
            <a:defPPr>
              <a:defRPr sz="1950" b="0">
                <a:solidFill>
                  <a:srgbClr val="37475B"/>
                </a:solidFill>
                <a:latin typeface="Aptos"/>
                <a:ea typeface="Aptos"/>
                <a:cs typeface="Aptos"/>
              </a:defRPr>
            </a:defPPr>
            <a:lvl1pPr>
              <a:defRPr sz="1950" b="0">
                <a:solidFill>
                  <a:srgbClr val="37475B"/>
                </a:solidFill>
                <a:latin typeface="Aptos"/>
                <a:ea typeface="Aptos"/>
                <a:cs typeface="Aptos"/>
              </a:defRPr>
            </a:lvl1pPr>
            <a:lvl2pPr>
              <a:defRPr sz="1950" b="0">
                <a:solidFill>
                  <a:srgbClr val="37475B"/>
                </a:solidFill>
                <a:latin typeface="Aptos"/>
                <a:ea typeface="Aptos"/>
                <a:cs typeface="Aptos"/>
              </a:defRPr>
            </a:lvl2pPr>
            <a:lvl3pPr>
              <a:defRPr sz="1950" b="0">
                <a:solidFill>
                  <a:srgbClr val="37475B"/>
                </a:solidFill>
                <a:latin typeface="Aptos"/>
                <a:ea typeface="Aptos"/>
                <a:cs typeface="Aptos"/>
              </a:defRPr>
            </a:lvl3pPr>
            <a:lvl4pPr>
              <a:defRPr sz="1950" b="0">
                <a:solidFill>
                  <a:srgbClr val="37475B"/>
                </a:solidFill>
                <a:latin typeface="Aptos"/>
                <a:ea typeface="Aptos"/>
                <a:cs typeface="Aptos"/>
              </a:defRPr>
            </a:lvl4pPr>
            <a:lvl5pPr>
              <a:defRPr sz="1950" b="0">
                <a:solidFill>
                  <a:srgbClr val="37475B"/>
                </a:solidFill>
                <a:latin typeface="Aptos"/>
                <a:ea typeface="Aptos"/>
                <a:cs typeface="Aptos"/>
              </a:defRPr>
            </a:lvl5pPr>
            <a:lvl6pPr>
              <a:defRPr sz="1950" b="0">
                <a:solidFill>
                  <a:srgbClr val="37475B"/>
                </a:solidFill>
                <a:latin typeface="Aptos"/>
                <a:ea typeface="Aptos"/>
                <a:cs typeface="Aptos"/>
              </a:defRPr>
            </a:lvl6pPr>
            <a:lvl7pPr>
              <a:defRPr sz="1950" b="0">
                <a:solidFill>
                  <a:srgbClr val="37475B"/>
                </a:solidFill>
                <a:latin typeface="Aptos"/>
                <a:ea typeface="Aptos"/>
                <a:cs typeface="Aptos"/>
              </a:defRPr>
            </a:lvl7pPr>
            <a:lvl8pPr>
              <a:defRPr sz="1950" b="0">
                <a:solidFill>
                  <a:srgbClr val="37475B"/>
                </a:solidFill>
                <a:latin typeface="Aptos"/>
                <a:ea typeface="Aptos"/>
                <a:cs typeface="Aptos"/>
              </a:defRPr>
            </a:lvl8pPr>
            <a:lvl9pPr>
              <a:defRPr sz="1950" b="0">
                <a:solidFill>
                  <a:srgbClr val="37475B"/>
                </a:solidFill>
                <a:latin typeface="Aptos"/>
                <a:ea typeface="Aptos"/>
                <a:cs typeface="Aptos"/>
              </a:defRPr>
            </a:lvl9pPr>
          </a:lstStyle>
          <a:p>
            <a:pPr>
              <a:defRPr sz="1950" b="0">
                <a:solidFill>
                  <a:srgbClr val="37475B"/>
                </a:solidFill>
                <a:latin typeface="Aptos"/>
                <a:ea typeface="Aptos"/>
                <a:cs typeface="Aptos"/>
              </a:defRPr>
            </a:pPr>
            <a:r>
              <a:rPr sz="1950" b="0">
                <a:solidFill>
                  <a:srgbClr val="37475B"/>
                </a:solidFill>
                <a:latin typeface="Aptos"/>
                <a:ea typeface="Aptos"/>
                <a:cs typeface="Aptos"/>
              </a:rPr>
              <a:t>Choose NOOP, FIRE, RIGHT or LEFT.</a:t>
            </a:r>
          </a:p>
        </p:txBody>
      </p:sp>
      <p:sp>
        <p:nvSpPr>
          <p:cNvPr id="9" name="Reward">
            <a:extLst>
              <a:ext uri="{FF2B5EF4-FFF2-40B4-BE49-F238E27FC236}">
                <a16:creationId xmlns:a16="http://schemas.microsoft.com/office/drawing/2014/main" id="{42FC6D3F-9493-4158-8BE8-ED999297B1CD}"/>
              </a:ext>
            </a:extLst>
          </p:cNvPr>
          <p:cNvSpPr>
            <a:spLocks noGrp="1"/>
          </p:cNvSpPr>
          <p:nvPr/>
        </p:nvSpPr>
        <p:spPr>
          <a:xfrm>
            <a:off x="4514850" y="4143375"/>
            <a:ext cx="6667500" cy="381000"/>
          </a:xfrm>
          <a:prstGeom prst="rect">
            <a:avLst/>
          </a:prstGeom>
          <a:noFill/>
          <a:ln w="0">
            <a:noFill/>
          </a:ln>
        </p:spPr>
        <p:txBody>
          <a:bodyPr lIns="0" tIns="0" rIns="0" bIns="0" anchor="t">
            <a:noAutofit/>
          </a:bodyPr>
          <a:lstStyle>
            <a:defPPr>
              <a:defRPr sz="2100" b="1">
                <a:solidFill>
                  <a:srgbClr val="087F8C"/>
                </a:solidFill>
                <a:latin typeface="Aptos"/>
                <a:ea typeface="Aptos"/>
                <a:cs typeface="Aptos"/>
              </a:defRPr>
            </a:defPPr>
            <a:lvl1pPr>
              <a:defRPr sz="2100" b="1">
                <a:solidFill>
                  <a:srgbClr val="087F8C"/>
                </a:solidFill>
                <a:latin typeface="Aptos"/>
                <a:ea typeface="Aptos"/>
                <a:cs typeface="Aptos"/>
              </a:defRPr>
            </a:lvl1pPr>
            <a:lvl2pPr>
              <a:defRPr sz="2100" b="1">
                <a:solidFill>
                  <a:srgbClr val="087F8C"/>
                </a:solidFill>
                <a:latin typeface="Aptos"/>
                <a:ea typeface="Aptos"/>
                <a:cs typeface="Aptos"/>
              </a:defRPr>
            </a:lvl2pPr>
            <a:lvl3pPr>
              <a:defRPr sz="2100" b="1">
                <a:solidFill>
                  <a:srgbClr val="087F8C"/>
                </a:solidFill>
                <a:latin typeface="Aptos"/>
                <a:ea typeface="Aptos"/>
                <a:cs typeface="Aptos"/>
              </a:defRPr>
            </a:lvl3pPr>
            <a:lvl4pPr>
              <a:defRPr sz="2100" b="1">
                <a:solidFill>
                  <a:srgbClr val="087F8C"/>
                </a:solidFill>
                <a:latin typeface="Aptos"/>
                <a:ea typeface="Aptos"/>
                <a:cs typeface="Aptos"/>
              </a:defRPr>
            </a:lvl4pPr>
            <a:lvl5pPr>
              <a:defRPr sz="2100" b="1">
                <a:solidFill>
                  <a:srgbClr val="087F8C"/>
                </a:solidFill>
                <a:latin typeface="Aptos"/>
                <a:ea typeface="Aptos"/>
                <a:cs typeface="Aptos"/>
              </a:defRPr>
            </a:lvl5pPr>
            <a:lvl6pPr>
              <a:defRPr sz="2100" b="1">
                <a:solidFill>
                  <a:srgbClr val="087F8C"/>
                </a:solidFill>
                <a:latin typeface="Aptos"/>
                <a:ea typeface="Aptos"/>
                <a:cs typeface="Aptos"/>
              </a:defRPr>
            </a:lvl6pPr>
            <a:lvl7pPr>
              <a:defRPr sz="2100" b="1">
                <a:solidFill>
                  <a:srgbClr val="087F8C"/>
                </a:solidFill>
                <a:latin typeface="Aptos"/>
                <a:ea typeface="Aptos"/>
                <a:cs typeface="Aptos"/>
              </a:defRPr>
            </a:lvl7pPr>
            <a:lvl8pPr>
              <a:defRPr sz="2100" b="1">
                <a:solidFill>
                  <a:srgbClr val="087F8C"/>
                </a:solidFill>
                <a:latin typeface="Aptos"/>
                <a:ea typeface="Aptos"/>
                <a:cs typeface="Aptos"/>
              </a:defRPr>
            </a:lvl8pPr>
            <a:lvl9pPr>
              <a:defRPr sz="2100" b="1">
                <a:solidFill>
                  <a:srgbClr val="087F8C"/>
                </a:solidFill>
                <a:latin typeface="Aptos"/>
                <a:ea typeface="Aptos"/>
                <a:cs typeface="Aptos"/>
              </a:defRPr>
            </a:lvl9pPr>
          </a:lstStyle>
          <a:p>
            <a:pPr>
              <a:defRPr sz="2100" b="1">
                <a:solidFill>
                  <a:srgbClr val="087F8C"/>
                </a:solidFill>
                <a:latin typeface="Aptos"/>
                <a:ea typeface="Aptos"/>
                <a:cs typeface="Aptos"/>
              </a:defRPr>
            </a:pPr>
            <a:r>
              <a:rPr sz="2100" b="1">
                <a:solidFill>
                  <a:srgbClr val="087F8C"/>
                </a:solidFill>
                <a:latin typeface="Aptos"/>
                <a:ea typeface="Aptos"/>
                <a:cs typeface="Aptos"/>
              </a:rPr>
              <a:t>Reward</a:t>
            </a:r>
          </a:p>
        </p:txBody>
      </p:sp>
      <p:sp>
        <p:nvSpPr>
          <p:cNvPr id="10" name="Earn points by hitting bricks. Learn to keep the ball i">
            <a:extLst>
              <a:ext uri="{FF2B5EF4-FFF2-40B4-BE49-F238E27FC236}">
                <a16:creationId xmlns:a16="http://schemas.microsoft.com/office/drawing/2014/main" id="{38F4B3E5-59D2-4E74-BB9C-B22E5542EAC0}"/>
              </a:ext>
            </a:extLst>
          </p:cNvPr>
          <p:cNvSpPr>
            <a:spLocks noGrp="1"/>
          </p:cNvSpPr>
          <p:nvPr/>
        </p:nvSpPr>
        <p:spPr>
          <a:xfrm>
            <a:off x="4514850" y="4581525"/>
            <a:ext cx="6667500" cy="723900"/>
          </a:xfrm>
          <a:prstGeom prst="rect">
            <a:avLst/>
          </a:prstGeom>
          <a:noFill/>
          <a:ln w="0">
            <a:noFill/>
          </a:ln>
        </p:spPr>
        <p:txBody>
          <a:bodyPr lIns="0" tIns="0" rIns="0" bIns="0" anchor="t">
            <a:noAutofit/>
          </a:bodyPr>
          <a:lstStyle>
            <a:defPPr>
              <a:defRPr sz="1950" b="0">
                <a:solidFill>
                  <a:srgbClr val="37475B"/>
                </a:solidFill>
                <a:latin typeface="Aptos"/>
                <a:ea typeface="Aptos"/>
                <a:cs typeface="Aptos"/>
              </a:defRPr>
            </a:defPPr>
            <a:lvl1pPr>
              <a:defRPr sz="1950" b="0">
                <a:solidFill>
                  <a:srgbClr val="37475B"/>
                </a:solidFill>
                <a:latin typeface="Aptos"/>
                <a:ea typeface="Aptos"/>
                <a:cs typeface="Aptos"/>
              </a:defRPr>
            </a:lvl1pPr>
            <a:lvl2pPr>
              <a:defRPr sz="1950" b="0">
                <a:solidFill>
                  <a:srgbClr val="37475B"/>
                </a:solidFill>
                <a:latin typeface="Aptos"/>
                <a:ea typeface="Aptos"/>
                <a:cs typeface="Aptos"/>
              </a:defRPr>
            </a:lvl2pPr>
            <a:lvl3pPr>
              <a:defRPr sz="1950" b="0">
                <a:solidFill>
                  <a:srgbClr val="37475B"/>
                </a:solidFill>
                <a:latin typeface="Aptos"/>
                <a:ea typeface="Aptos"/>
                <a:cs typeface="Aptos"/>
              </a:defRPr>
            </a:lvl3pPr>
            <a:lvl4pPr>
              <a:defRPr sz="1950" b="0">
                <a:solidFill>
                  <a:srgbClr val="37475B"/>
                </a:solidFill>
                <a:latin typeface="Aptos"/>
                <a:ea typeface="Aptos"/>
                <a:cs typeface="Aptos"/>
              </a:defRPr>
            </a:lvl4pPr>
            <a:lvl5pPr>
              <a:defRPr sz="1950" b="0">
                <a:solidFill>
                  <a:srgbClr val="37475B"/>
                </a:solidFill>
                <a:latin typeface="Aptos"/>
                <a:ea typeface="Aptos"/>
                <a:cs typeface="Aptos"/>
              </a:defRPr>
            </a:lvl5pPr>
            <a:lvl6pPr>
              <a:defRPr sz="1950" b="0">
                <a:solidFill>
                  <a:srgbClr val="37475B"/>
                </a:solidFill>
                <a:latin typeface="Aptos"/>
                <a:ea typeface="Aptos"/>
                <a:cs typeface="Aptos"/>
              </a:defRPr>
            </a:lvl6pPr>
            <a:lvl7pPr>
              <a:defRPr sz="1950" b="0">
                <a:solidFill>
                  <a:srgbClr val="37475B"/>
                </a:solidFill>
                <a:latin typeface="Aptos"/>
                <a:ea typeface="Aptos"/>
                <a:cs typeface="Aptos"/>
              </a:defRPr>
            </a:lvl7pPr>
            <a:lvl8pPr>
              <a:defRPr sz="1950" b="0">
                <a:solidFill>
                  <a:srgbClr val="37475B"/>
                </a:solidFill>
                <a:latin typeface="Aptos"/>
                <a:ea typeface="Aptos"/>
                <a:cs typeface="Aptos"/>
              </a:defRPr>
            </a:lvl8pPr>
            <a:lvl9pPr>
              <a:defRPr sz="1950" b="0">
                <a:solidFill>
                  <a:srgbClr val="37475B"/>
                </a:solidFill>
                <a:latin typeface="Aptos"/>
                <a:ea typeface="Aptos"/>
                <a:cs typeface="Aptos"/>
              </a:defRPr>
            </a:lvl9pPr>
          </a:lstStyle>
          <a:p>
            <a:pPr>
              <a:defRPr sz="1950" b="0">
                <a:solidFill>
                  <a:srgbClr val="37475B"/>
                </a:solidFill>
                <a:latin typeface="Aptos"/>
                <a:ea typeface="Aptos"/>
                <a:cs typeface="Aptos"/>
              </a:defRPr>
            </a:pPr>
            <a:r>
              <a:rPr sz="1950" b="0">
                <a:solidFill>
                  <a:srgbClr val="37475B"/>
                </a:solidFill>
                <a:latin typeface="Aptos"/>
                <a:ea typeface="Aptos"/>
                <a:cs typeface="Aptos"/>
              </a:rPr>
              <a:t>Earn points by hitting bricks. Learn to keep the ball in play.</a:t>
            </a:r>
          </a:p>
        </p:txBody>
      </p:sp>
      <p:pic>
        <p:nvPicPr>
          <p:cNvPr id="11" name="Picture 10" descr="Visualizing and Understanding Atari Agents">
            <a:extLst>
              <a:ext uri="{FF2B5EF4-FFF2-40B4-BE49-F238E27FC236}">
                <a16:creationId xmlns:a16="http://schemas.microsoft.com/office/drawing/2014/main" id="{6761F342-8F8F-8E49-2903-4CF0543CDA04}"/>
              </a:ext>
            </a:extLst>
          </p:cNvPr>
          <p:cNvPicPr>
            <a:picLocks noChangeAspect="1"/>
          </p:cNvPicPr>
          <p:nvPr/>
        </p:nvPicPr>
        <p:blipFill>
          <a:blip r:embed="rId3"/>
          <a:stretch>
            <a:fillRect/>
          </a:stretch>
        </p:blipFill>
        <p:spPr>
          <a:xfrm>
            <a:off x="502758" y="1310675"/>
            <a:ext cx="3433374" cy="4486275"/>
          </a:xfrm>
          <a:prstGeom prst="rect">
            <a:avLst/>
          </a:prstGeom>
        </p:spPr>
      </p:pic>
    </p:spTree>
    <p:extLst>
      <p:ext uri="{BB962C8B-B14F-4D97-AF65-F5344CB8AC3E}">
        <p14:creationId xmlns:p14="http://schemas.microsoft.com/office/powerpoint/2010/main" val="617788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Gameplay at the initial stage">
            <a:extLst>
              <a:ext uri="{FF2B5EF4-FFF2-40B4-BE49-F238E27FC236}">
                <a16:creationId xmlns:a16="http://schemas.microsoft.com/office/drawing/2014/main" id="{85A12AA8-409C-462E-8A94-80D3FDD82CA7}"/>
              </a:ext>
            </a:extLst>
          </p:cNvPr>
          <p:cNvSpPr>
            <a:spLocks noGrp="1"/>
          </p:cNvSpPr>
          <p:nvPr/>
        </p:nvSpPr>
        <p:spPr>
          <a:xfrm>
            <a:off x="609600" y="438150"/>
            <a:ext cx="10953750" cy="666750"/>
          </a:xfrm>
          <a:prstGeom prst="rect">
            <a:avLst/>
          </a:prstGeom>
          <a:noFill/>
          <a:ln w="0">
            <a:noFill/>
          </a:ln>
        </p:spPr>
        <p:txBody>
          <a:bodyPr lIns="0" tIns="0" rIns="0" bIns="0">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Gameplay at the initial stage</a:t>
            </a:r>
          </a:p>
        </p:txBody>
      </p:sp>
      <p:sp>
        <p:nvSpPr>
          <p:cNvPr id="3" name="Replace with gameplay recording">
            <a:extLst>
              <a:ext uri="{FF2B5EF4-FFF2-40B4-BE49-F238E27FC236}">
                <a16:creationId xmlns:a16="http://schemas.microsoft.com/office/drawing/2014/main" id="{DCFC3B07-9985-441F-A5B0-9C599AC52DFB}"/>
              </a:ext>
            </a:extLst>
          </p:cNvPr>
          <p:cNvSpPr>
            <a:spLocks noGrp="1"/>
          </p:cNvSpPr>
          <p:nvPr/>
        </p:nvSpPr>
        <p:spPr>
          <a:xfrm>
            <a:off x="609600" y="1524000"/>
            <a:ext cx="7467600" cy="4200525"/>
          </a:xfrm>
          <a:prstGeom prst="rect">
            <a:avLst/>
          </a:prstGeom>
          <a:solidFill>
            <a:srgbClr val="EDF2F7"/>
          </a:solidFill>
          <a:ln w="14288">
            <a:solidFill>
              <a:srgbClr val="B9C9D9"/>
            </a:solidFill>
            <a:prstDash val="dash"/>
          </a:ln>
        </p:spPr>
      </p:sp>
      <p:sp>
        <p:nvSpPr>
          <p:cNvPr id="6" name="What to observe">
            <a:extLst>
              <a:ext uri="{FF2B5EF4-FFF2-40B4-BE49-F238E27FC236}">
                <a16:creationId xmlns:a16="http://schemas.microsoft.com/office/drawing/2014/main" id="{26D99031-A6A5-43B8-9457-935A65F77876}"/>
              </a:ext>
            </a:extLst>
          </p:cNvPr>
          <p:cNvSpPr>
            <a:spLocks noGrp="1"/>
          </p:cNvSpPr>
          <p:nvPr/>
        </p:nvSpPr>
        <p:spPr>
          <a:xfrm>
            <a:off x="8572500" y="1762125"/>
            <a:ext cx="3048000" cy="476250"/>
          </a:xfrm>
          <a:prstGeom prst="rect">
            <a:avLst/>
          </a:prstGeom>
          <a:noFill/>
          <a:ln w="0">
            <a:noFill/>
          </a:ln>
        </p:spPr>
        <p:txBody>
          <a:bodyPr lIns="0" tIns="0" rIns="0" bIns="0">
            <a:noAutofit/>
          </a:bodyPr>
          <a:lstStyle>
            <a:defPPr>
              <a:defRPr sz="2025" b="1">
                <a:solidFill>
                  <a:srgbClr val="087F8C"/>
                </a:solidFill>
                <a:latin typeface="Aptos"/>
                <a:ea typeface="Aptos"/>
                <a:cs typeface="Aptos"/>
              </a:defRPr>
            </a:defPPr>
            <a:lvl1pPr>
              <a:defRPr sz="2025" b="1">
                <a:solidFill>
                  <a:srgbClr val="087F8C"/>
                </a:solidFill>
                <a:latin typeface="Aptos"/>
                <a:ea typeface="Aptos"/>
                <a:cs typeface="Aptos"/>
              </a:defRPr>
            </a:lvl1pPr>
            <a:lvl2pPr>
              <a:defRPr sz="2025" b="1">
                <a:solidFill>
                  <a:srgbClr val="087F8C"/>
                </a:solidFill>
                <a:latin typeface="Aptos"/>
                <a:ea typeface="Aptos"/>
                <a:cs typeface="Aptos"/>
              </a:defRPr>
            </a:lvl2pPr>
            <a:lvl3pPr>
              <a:defRPr sz="2025" b="1">
                <a:solidFill>
                  <a:srgbClr val="087F8C"/>
                </a:solidFill>
                <a:latin typeface="Aptos"/>
                <a:ea typeface="Aptos"/>
                <a:cs typeface="Aptos"/>
              </a:defRPr>
            </a:lvl3pPr>
            <a:lvl4pPr>
              <a:defRPr sz="2025" b="1">
                <a:solidFill>
                  <a:srgbClr val="087F8C"/>
                </a:solidFill>
                <a:latin typeface="Aptos"/>
                <a:ea typeface="Aptos"/>
                <a:cs typeface="Aptos"/>
              </a:defRPr>
            </a:lvl4pPr>
            <a:lvl5pPr>
              <a:defRPr sz="2025" b="1">
                <a:solidFill>
                  <a:srgbClr val="087F8C"/>
                </a:solidFill>
                <a:latin typeface="Aptos"/>
                <a:ea typeface="Aptos"/>
                <a:cs typeface="Aptos"/>
              </a:defRPr>
            </a:lvl5pPr>
            <a:lvl6pPr>
              <a:defRPr sz="2025" b="1">
                <a:solidFill>
                  <a:srgbClr val="087F8C"/>
                </a:solidFill>
                <a:latin typeface="Aptos"/>
                <a:ea typeface="Aptos"/>
                <a:cs typeface="Aptos"/>
              </a:defRPr>
            </a:lvl6pPr>
            <a:lvl7pPr>
              <a:defRPr sz="2025" b="1">
                <a:solidFill>
                  <a:srgbClr val="087F8C"/>
                </a:solidFill>
                <a:latin typeface="Aptos"/>
                <a:ea typeface="Aptos"/>
                <a:cs typeface="Aptos"/>
              </a:defRPr>
            </a:lvl7pPr>
            <a:lvl8pPr>
              <a:defRPr sz="2025" b="1">
                <a:solidFill>
                  <a:srgbClr val="087F8C"/>
                </a:solidFill>
                <a:latin typeface="Aptos"/>
                <a:ea typeface="Aptos"/>
                <a:cs typeface="Aptos"/>
              </a:defRPr>
            </a:lvl8pPr>
            <a:lvl9pPr>
              <a:defRPr sz="2025" b="1">
                <a:solidFill>
                  <a:srgbClr val="087F8C"/>
                </a:solidFill>
                <a:latin typeface="Aptos"/>
                <a:ea typeface="Aptos"/>
                <a:cs typeface="Aptos"/>
              </a:defRPr>
            </a:lvl9pPr>
          </a:lstStyle>
          <a:p>
            <a:pPr>
              <a:defRPr sz="2025" b="1">
                <a:solidFill>
                  <a:srgbClr val="087F8C"/>
                </a:solidFill>
                <a:latin typeface="Aptos"/>
                <a:ea typeface="Aptos"/>
                <a:cs typeface="Aptos"/>
              </a:defRPr>
            </a:pPr>
            <a:r>
              <a:rPr sz="2025" b="1">
                <a:solidFill>
                  <a:srgbClr val="087F8C"/>
                </a:solidFill>
                <a:latin typeface="Aptos"/>
                <a:ea typeface="Aptos"/>
                <a:cs typeface="Aptos"/>
              </a:rPr>
              <a:t>What to observe</a:t>
            </a:r>
          </a:p>
        </p:txBody>
      </p:sp>
      <p:sp>
        <p:nvSpPr>
          <p:cNvPr id="7" name="Serving behaviour&#10;Paddle movement&#10;Missed returns">
            <a:extLst>
              <a:ext uri="{FF2B5EF4-FFF2-40B4-BE49-F238E27FC236}">
                <a16:creationId xmlns:a16="http://schemas.microsoft.com/office/drawing/2014/main" id="{4BFDD638-8572-481B-82BE-A4BD49279BC2}"/>
              </a:ext>
            </a:extLst>
          </p:cNvPr>
          <p:cNvSpPr>
            <a:spLocks noGrp="1"/>
          </p:cNvSpPr>
          <p:nvPr/>
        </p:nvSpPr>
        <p:spPr>
          <a:xfrm>
            <a:off x="8572500" y="2543175"/>
            <a:ext cx="2952750" cy="1666875"/>
          </a:xfrm>
          <a:prstGeom prst="rect">
            <a:avLst/>
          </a:prstGeom>
          <a:noFill/>
          <a:ln w="0">
            <a:noFill/>
          </a:ln>
        </p:spPr>
        <p:txBody>
          <a:bodyPr lIns="0" tIns="0" rIns="0" bIns="0">
            <a:noAutofit/>
          </a:bodyPr>
          <a:lstStyle>
            <a:defPPr>
              <a:defRPr sz="1950" b="0">
                <a:solidFill>
                  <a:srgbClr val="37475B"/>
                </a:solidFill>
                <a:latin typeface="Aptos"/>
                <a:ea typeface="Aptos"/>
                <a:cs typeface="Aptos"/>
              </a:defRPr>
            </a:defPPr>
            <a:lvl1pPr>
              <a:defRPr sz="1950" b="0">
                <a:solidFill>
                  <a:srgbClr val="37475B"/>
                </a:solidFill>
                <a:latin typeface="Aptos"/>
                <a:ea typeface="Aptos"/>
                <a:cs typeface="Aptos"/>
              </a:defRPr>
            </a:lvl1pPr>
            <a:lvl2pPr>
              <a:defRPr sz="1950" b="0">
                <a:solidFill>
                  <a:srgbClr val="37475B"/>
                </a:solidFill>
                <a:latin typeface="Aptos"/>
                <a:ea typeface="Aptos"/>
                <a:cs typeface="Aptos"/>
              </a:defRPr>
            </a:lvl2pPr>
            <a:lvl3pPr>
              <a:defRPr sz="1950" b="0">
                <a:solidFill>
                  <a:srgbClr val="37475B"/>
                </a:solidFill>
                <a:latin typeface="Aptos"/>
                <a:ea typeface="Aptos"/>
                <a:cs typeface="Aptos"/>
              </a:defRPr>
            </a:lvl3pPr>
            <a:lvl4pPr>
              <a:defRPr sz="1950" b="0">
                <a:solidFill>
                  <a:srgbClr val="37475B"/>
                </a:solidFill>
                <a:latin typeface="Aptos"/>
                <a:ea typeface="Aptos"/>
                <a:cs typeface="Aptos"/>
              </a:defRPr>
            </a:lvl4pPr>
            <a:lvl5pPr>
              <a:defRPr sz="1950" b="0">
                <a:solidFill>
                  <a:srgbClr val="37475B"/>
                </a:solidFill>
                <a:latin typeface="Aptos"/>
                <a:ea typeface="Aptos"/>
                <a:cs typeface="Aptos"/>
              </a:defRPr>
            </a:lvl5pPr>
            <a:lvl6pPr>
              <a:defRPr sz="1950" b="0">
                <a:solidFill>
                  <a:srgbClr val="37475B"/>
                </a:solidFill>
                <a:latin typeface="Aptos"/>
                <a:ea typeface="Aptos"/>
                <a:cs typeface="Aptos"/>
              </a:defRPr>
            </a:lvl6pPr>
            <a:lvl7pPr>
              <a:defRPr sz="1950" b="0">
                <a:solidFill>
                  <a:srgbClr val="37475B"/>
                </a:solidFill>
                <a:latin typeface="Aptos"/>
                <a:ea typeface="Aptos"/>
                <a:cs typeface="Aptos"/>
              </a:defRPr>
            </a:lvl7pPr>
            <a:lvl8pPr>
              <a:defRPr sz="1950" b="0">
                <a:solidFill>
                  <a:srgbClr val="37475B"/>
                </a:solidFill>
                <a:latin typeface="Aptos"/>
                <a:ea typeface="Aptos"/>
                <a:cs typeface="Aptos"/>
              </a:defRPr>
            </a:lvl8pPr>
            <a:lvl9pPr>
              <a:defRPr sz="1950" b="0">
                <a:solidFill>
                  <a:srgbClr val="37475B"/>
                </a:solidFill>
                <a:latin typeface="Aptos"/>
                <a:ea typeface="Aptos"/>
                <a:cs typeface="Aptos"/>
              </a:defRPr>
            </a:lvl9pPr>
          </a:lstStyle>
          <a:p>
            <a:pPr>
              <a:defRPr sz="1950" b="0">
                <a:solidFill>
                  <a:srgbClr val="37475B"/>
                </a:solidFill>
                <a:latin typeface="Aptos"/>
                <a:ea typeface="Aptos"/>
                <a:cs typeface="Aptos"/>
              </a:defRPr>
            </a:pPr>
            <a:r>
              <a:rPr sz="1950" b="0">
                <a:solidFill>
                  <a:srgbClr val="37475B"/>
                </a:solidFill>
                <a:latin typeface="Aptos"/>
                <a:ea typeface="Aptos"/>
                <a:cs typeface="Aptos"/>
              </a:rPr>
              <a:t>Serving behaviour</a:t>
            </a:r>
          </a:p>
          <a:p>
            <a:pPr>
              <a:defRPr sz="1950" b="0">
                <a:solidFill>
                  <a:srgbClr val="37475B"/>
                </a:solidFill>
                <a:latin typeface="Aptos"/>
                <a:ea typeface="Aptos"/>
                <a:cs typeface="Aptos"/>
              </a:defRPr>
            </a:pPr>
            <a:r>
              <a:rPr sz="1950" b="0">
                <a:solidFill>
                  <a:srgbClr val="37475B"/>
                </a:solidFill>
                <a:latin typeface="Aptos"/>
                <a:ea typeface="Aptos"/>
                <a:cs typeface="Aptos"/>
              </a:rPr>
              <a:t>Paddle movement</a:t>
            </a:r>
          </a:p>
          <a:p>
            <a:pPr>
              <a:defRPr sz="1950" b="0">
                <a:solidFill>
                  <a:srgbClr val="37475B"/>
                </a:solidFill>
                <a:latin typeface="Aptos"/>
                <a:ea typeface="Aptos"/>
                <a:cs typeface="Aptos"/>
              </a:defRPr>
            </a:pPr>
            <a:r>
              <a:rPr sz="1950" b="0">
                <a:solidFill>
                  <a:srgbClr val="37475B"/>
                </a:solidFill>
                <a:latin typeface="Aptos"/>
                <a:ea typeface="Aptos"/>
                <a:cs typeface="Aptos"/>
              </a:rPr>
              <a:t>Missed returns</a:t>
            </a:r>
          </a:p>
        </p:txBody>
      </p:sp>
      <p:sp>
        <p:nvSpPr>
          <p:cNvPr id="8" name="Checkpoint: ______&#10;Exploration ε: ______">
            <a:extLst>
              <a:ext uri="{FF2B5EF4-FFF2-40B4-BE49-F238E27FC236}">
                <a16:creationId xmlns:a16="http://schemas.microsoft.com/office/drawing/2014/main" id="{7B6987A0-4B74-4CC5-86A1-599A94D1AE2D}"/>
              </a:ext>
            </a:extLst>
          </p:cNvPr>
          <p:cNvSpPr>
            <a:spLocks noGrp="1"/>
          </p:cNvSpPr>
          <p:nvPr/>
        </p:nvSpPr>
        <p:spPr>
          <a:xfrm>
            <a:off x="8572500" y="4610100"/>
            <a:ext cx="2952750" cy="857250"/>
          </a:xfrm>
          <a:prstGeom prst="rect">
            <a:avLst/>
          </a:prstGeom>
          <a:noFill/>
          <a:ln w="0">
            <a:noFill/>
          </a:ln>
        </p:spPr>
        <p:txBody>
          <a:bodyPr lIns="0" tIns="0" rIns="0" bIns="0">
            <a:noAutofit/>
          </a:bodyPr>
          <a:lstStyle>
            <a:defPPr>
              <a:defRPr sz="1725" b="0">
                <a:solidFill>
                  <a:srgbClr val="37475B"/>
                </a:solidFill>
                <a:latin typeface="Aptos"/>
                <a:ea typeface="Aptos"/>
                <a:cs typeface="Aptos"/>
              </a:defRPr>
            </a:defPPr>
            <a:lvl1pPr>
              <a:defRPr sz="1725" b="0">
                <a:solidFill>
                  <a:srgbClr val="37475B"/>
                </a:solidFill>
                <a:latin typeface="Aptos"/>
                <a:ea typeface="Aptos"/>
                <a:cs typeface="Aptos"/>
              </a:defRPr>
            </a:lvl1pPr>
            <a:lvl2pPr>
              <a:defRPr sz="1725" b="0">
                <a:solidFill>
                  <a:srgbClr val="37475B"/>
                </a:solidFill>
                <a:latin typeface="Aptos"/>
                <a:ea typeface="Aptos"/>
                <a:cs typeface="Aptos"/>
              </a:defRPr>
            </a:lvl2pPr>
            <a:lvl3pPr>
              <a:defRPr sz="1725" b="0">
                <a:solidFill>
                  <a:srgbClr val="37475B"/>
                </a:solidFill>
                <a:latin typeface="Aptos"/>
                <a:ea typeface="Aptos"/>
                <a:cs typeface="Aptos"/>
              </a:defRPr>
            </a:lvl3pPr>
            <a:lvl4pPr>
              <a:defRPr sz="1725" b="0">
                <a:solidFill>
                  <a:srgbClr val="37475B"/>
                </a:solidFill>
                <a:latin typeface="Aptos"/>
                <a:ea typeface="Aptos"/>
                <a:cs typeface="Aptos"/>
              </a:defRPr>
            </a:lvl4pPr>
            <a:lvl5pPr>
              <a:defRPr sz="1725" b="0">
                <a:solidFill>
                  <a:srgbClr val="37475B"/>
                </a:solidFill>
                <a:latin typeface="Aptos"/>
                <a:ea typeface="Aptos"/>
                <a:cs typeface="Aptos"/>
              </a:defRPr>
            </a:lvl5pPr>
            <a:lvl6pPr>
              <a:defRPr sz="1725" b="0">
                <a:solidFill>
                  <a:srgbClr val="37475B"/>
                </a:solidFill>
                <a:latin typeface="Aptos"/>
                <a:ea typeface="Aptos"/>
                <a:cs typeface="Aptos"/>
              </a:defRPr>
            </a:lvl6pPr>
            <a:lvl7pPr>
              <a:defRPr sz="1725" b="0">
                <a:solidFill>
                  <a:srgbClr val="37475B"/>
                </a:solidFill>
                <a:latin typeface="Aptos"/>
                <a:ea typeface="Aptos"/>
                <a:cs typeface="Aptos"/>
              </a:defRPr>
            </a:lvl7pPr>
            <a:lvl8pPr>
              <a:defRPr sz="1725" b="0">
                <a:solidFill>
                  <a:srgbClr val="37475B"/>
                </a:solidFill>
                <a:latin typeface="Aptos"/>
                <a:ea typeface="Aptos"/>
                <a:cs typeface="Aptos"/>
              </a:defRPr>
            </a:lvl8pPr>
            <a:lvl9pPr>
              <a:defRPr sz="1725" b="0">
                <a:solidFill>
                  <a:srgbClr val="37475B"/>
                </a:solidFill>
                <a:latin typeface="Aptos"/>
                <a:ea typeface="Aptos"/>
                <a:cs typeface="Aptos"/>
              </a:defRPr>
            </a:lvl9pPr>
          </a:lstStyle>
          <a:p>
            <a:pPr>
              <a:defRPr sz="1725" b="0">
                <a:solidFill>
                  <a:srgbClr val="37475B"/>
                </a:solidFill>
                <a:latin typeface="Aptos"/>
                <a:ea typeface="Aptos"/>
                <a:cs typeface="Aptos"/>
              </a:defRPr>
            </a:pPr>
            <a:r>
              <a:rPr lang="en-IN" sz="1725" b="0" dirty="0">
                <a:solidFill>
                  <a:srgbClr val="37475B"/>
                </a:solidFill>
                <a:latin typeface="Aptos"/>
                <a:ea typeface="Aptos"/>
                <a:cs typeface="Aptos"/>
              </a:rPr>
              <a:t>Initial Episodes</a:t>
            </a:r>
            <a:endParaRPr sz="1725" b="0" dirty="0">
              <a:solidFill>
                <a:srgbClr val="37475B"/>
              </a:solidFill>
              <a:latin typeface="Aptos"/>
              <a:ea typeface="Aptos"/>
              <a:cs typeface="Aptos"/>
            </a:endParaRPr>
          </a:p>
          <a:p>
            <a:pPr>
              <a:defRPr sz="1725" b="0">
                <a:solidFill>
                  <a:srgbClr val="37475B"/>
                </a:solidFill>
                <a:latin typeface="Aptos"/>
                <a:ea typeface="Aptos"/>
                <a:cs typeface="Aptos"/>
              </a:defRPr>
            </a:pPr>
            <a:r>
              <a:rPr sz="1725" b="0" dirty="0">
                <a:solidFill>
                  <a:srgbClr val="37475B"/>
                </a:solidFill>
                <a:latin typeface="Aptos"/>
                <a:ea typeface="Aptos"/>
                <a:cs typeface="Aptos"/>
              </a:rPr>
              <a:t>Exploration ε:</a:t>
            </a:r>
            <a:r>
              <a:rPr lang="en-IN" dirty="0"/>
              <a:t> 0.9</a:t>
            </a:r>
            <a:endParaRPr sz="1725" b="0" dirty="0">
              <a:solidFill>
                <a:srgbClr val="37475B"/>
              </a:solidFill>
              <a:latin typeface="Aptos"/>
              <a:ea typeface="Aptos"/>
              <a:cs typeface="Aptos"/>
            </a:endParaRPr>
          </a:p>
        </p:txBody>
      </p:sp>
      <p:sp>
        <p:nvSpPr>
          <p:cNvPr id="9" name="Before training or an early checkpoint">
            <a:extLst>
              <a:ext uri="{FF2B5EF4-FFF2-40B4-BE49-F238E27FC236}">
                <a16:creationId xmlns:a16="http://schemas.microsoft.com/office/drawing/2014/main" id="{D926A6CC-9F09-422F-A540-A63FC8BBAFCC}"/>
              </a:ext>
            </a:extLst>
          </p:cNvPr>
          <p:cNvSpPr>
            <a:spLocks noGrp="1"/>
          </p:cNvSpPr>
          <p:nvPr/>
        </p:nvSpPr>
        <p:spPr>
          <a:xfrm>
            <a:off x="619125" y="5972175"/>
            <a:ext cx="10477500" cy="342900"/>
          </a:xfrm>
          <a:prstGeom prst="rect">
            <a:avLst/>
          </a:prstGeom>
          <a:noFill/>
          <a:ln w="0">
            <a:noFill/>
          </a:ln>
        </p:spPr>
        <p:txBody>
          <a:bodyPr lIns="0" tIns="0" rIns="0" bIns="0">
            <a:noAutofit/>
          </a:bodyPr>
          <a:lstStyle>
            <a:defPPr>
              <a:defRPr sz="1725" b="0">
                <a:solidFill>
                  <a:srgbClr val="37475B"/>
                </a:solidFill>
                <a:latin typeface="Aptos"/>
                <a:ea typeface="Aptos"/>
                <a:cs typeface="Aptos"/>
              </a:defRPr>
            </a:defPPr>
            <a:lvl1pPr>
              <a:defRPr sz="1725" b="0">
                <a:solidFill>
                  <a:srgbClr val="37475B"/>
                </a:solidFill>
                <a:latin typeface="Aptos"/>
                <a:ea typeface="Aptos"/>
                <a:cs typeface="Aptos"/>
              </a:defRPr>
            </a:lvl1pPr>
            <a:lvl2pPr>
              <a:defRPr sz="1725" b="0">
                <a:solidFill>
                  <a:srgbClr val="37475B"/>
                </a:solidFill>
                <a:latin typeface="Aptos"/>
                <a:ea typeface="Aptos"/>
                <a:cs typeface="Aptos"/>
              </a:defRPr>
            </a:lvl2pPr>
            <a:lvl3pPr>
              <a:defRPr sz="1725" b="0">
                <a:solidFill>
                  <a:srgbClr val="37475B"/>
                </a:solidFill>
                <a:latin typeface="Aptos"/>
                <a:ea typeface="Aptos"/>
                <a:cs typeface="Aptos"/>
              </a:defRPr>
            </a:lvl3pPr>
            <a:lvl4pPr>
              <a:defRPr sz="1725" b="0">
                <a:solidFill>
                  <a:srgbClr val="37475B"/>
                </a:solidFill>
                <a:latin typeface="Aptos"/>
                <a:ea typeface="Aptos"/>
                <a:cs typeface="Aptos"/>
              </a:defRPr>
            </a:lvl4pPr>
            <a:lvl5pPr>
              <a:defRPr sz="1725" b="0">
                <a:solidFill>
                  <a:srgbClr val="37475B"/>
                </a:solidFill>
                <a:latin typeface="Aptos"/>
                <a:ea typeface="Aptos"/>
                <a:cs typeface="Aptos"/>
              </a:defRPr>
            </a:lvl5pPr>
            <a:lvl6pPr>
              <a:defRPr sz="1725" b="0">
                <a:solidFill>
                  <a:srgbClr val="37475B"/>
                </a:solidFill>
                <a:latin typeface="Aptos"/>
                <a:ea typeface="Aptos"/>
                <a:cs typeface="Aptos"/>
              </a:defRPr>
            </a:lvl6pPr>
            <a:lvl7pPr>
              <a:defRPr sz="1725" b="0">
                <a:solidFill>
                  <a:srgbClr val="37475B"/>
                </a:solidFill>
                <a:latin typeface="Aptos"/>
                <a:ea typeface="Aptos"/>
                <a:cs typeface="Aptos"/>
              </a:defRPr>
            </a:lvl7pPr>
            <a:lvl8pPr>
              <a:defRPr sz="1725" b="0">
                <a:solidFill>
                  <a:srgbClr val="37475B"/>
                </a:solidFill>
                <a:latin typeface="Aptos"/>
                <a:ea typeface="Aptos"/>
                <a:cs typeface="Aptos"/>
              </a:defRPr>
            </a:lvl8pPr>
            <a:lvl9pPr>
              <a:defRPr sz="1725" b="0">
                <a:solidFill>
                  <a:srgbClr val="37475B"/>
                </a:solidFill>
                <a:latin typeface="Aptos"/>
                <a:ea typeface="Aptos"/>
                <a:cs typeface="Aptos"/>
              </a:defRPr>
            </a:lvl9pPr>
          </a:lstStyle>
          <a:p>
            <a:pPr>
              <a:defRPr sz="1725" b="0">
                <a:solidFill>
                  <a:srgbClr val="37475B"/>
                </a:solidFill>
                <a:latin typeface="Aptos"/>
                <a:ea typeface="Aptos"/>
                <a:cs typeface="Aptos"/>
              </a:defRPr>
            </a:pPr>
            <a:r>
              <a:rPr sz="1725" b="0">
                <a:solidFill>
                  <a:srgbClr val="37475B"/>
                </a:solidFill>
                <a:latin typeface="Aptos"/>
                <a:ea typeface="Aptos"/>
                <a:cs typeface="Aptos"/>
              </a:rPr>
              <a:t>Before training or an early checkpoint</a:t>
            </a:r>
          </a:p>
        </p:txBody>
      </p:sp>
      <p:sp>
        <p:nvSpPr>
          <p:cNvPr id="99" name="02">
            <a:extLst>
              <a:ext uri="{FF2B5EF4-FFF2-40B4-BE49-F238E27FC236}">
                <a16:creationId xmlns:a16="http://schemas.microsoft.com/office/drawing/2014/main" id="{B2631390-1741-401C-A5F0-08397810B31E}"/>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03</a:t>
            </a:r>
          </a:p>
        </p:txBody>
      </p:sp>
      <p:pic>
        <p:nvPicPr>
          <p:cNvPr id="14" name="Picture 13">
            <a:extLst>
              <a:ext uri="{FF2B5EF4-FFF2-40B4-BE49-F238E27FC236}">
                <a16:creationId xmlns:a16="http://schemas.microsoft.com/office/drawing/2014/main" id="{BECE5BEE-3AF0-CEC7-19F2-272238C32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24012"/>
            <a:ext cx="1524000" cy="2000250"/>
          </a:xfrm>
          <a:prstGeom prst="rect">
            <a:avLst/>
          </a:prstGeom>
        </p:spPr>
      </p:pic>
      <p:pic>
        <p:nvPicPr>
          <p:cNvPr id="16" name="Picture 15">
            <a:extLst>
              <a:ext uri="{FF2B5EF4-FFF2-40B4-BE49-F238E27FC236}">
                <a16:creationId xmlns:a16="http://schemas.microsoft.com/office/drawing/2014/main" id="{96027B5A-8C0A-FF2B-44BB-616E4ED52E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2237" y="1624012"/>
            <a:ext cx="1524000" cy="2000250"/>
          </a:xfrm>
          <a:prstGeom prst="rect">
            <a:avLst/>
          </a:prstGeom>
        </p:spPr>
      </p:pic>
      <p:pic>
        <p:nvPicPr>
          <p:cNvPr id="18" name="Picture 17">
            <a:extLst>
              <a:ext uri="{FF2B5EF4-FFF2-40B4-BE49-F238E27FC236}">
                <a16:creationId xmlns:a16="http://schemas.microsoft.com/office/drawing/2014/main" id="{4C27AED4-C728-FE9D-07B0-55BDCB81CE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7730" y="1624012"/>
            <a:ext cx="1524000" cy="2000250"/>
          </a:xfrm>
          <a:prstGeom prst="rect">
            <a:avLst/>
          </a:prstGeom>
        </p:spPr>
      </p:pic>
      <p:pic>
        <p:nvPicPr>
          <p:cNvPr id="20" name="Picture 19">
            <a:extLst>
              <a:ext uri="{FF2B5EF4-FFF2-40B4-BE49-F238E27FC236}">
                <a16:creationId xmlns:a16="http://schemas.microsoft.com/office/drawing/2014/main" id="{536184A6-2B5A-642B-760A-1E6C1CA1D7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5977" y="1624012"/>
            <a:ext cx="1524000" cy="2000250"/>
          </a:xfrm>
          <a:prstGeom prst="rect">
            <a:avLst/>
          </a:prstGeom>
        </p:spPr>
      </p:pic>
      <p:pic>
        <p:nvPicPr>
          <p:cNvPr id="22" name="Picture 21">
            <a:extLst>
              <a:ext uri="{FF2B5EF4-FFF2-40B4-BE49-F238E27FC236}">
                <a16:creationId xmlns:a16="http://schemas.microsoft.com/office/drawing/2014/main" id="{E5F62AF2-69C2-280D-3EC1-232672E13E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2000" y="3674268"/>
            <a:ext cx="1524000" cy="2000250"/>
          </a:xfrm>
          <a:prstGeom prst="rect">
            <a:avLst/>
          </a:prstGeom>
        </p:spPr>
      </p:pic>
      <p:pic>
        <p:nvPicPr>
          <p:cNvPr id="24" name="Picture 23">
            <a:extLst>
              <a:ext uri="{FF2B5EF4-FFF2-40B4-BE49-F238E27FC236}">
                <a16:creationId xmlns:a16="http://schemas.microsoft.com/office/drawing/2014/main" id="{D116A130-91B4-BEB1-78E0-DBF592229A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62237" y="3674268"/>
            <a:ext cx="1524000" cy="2000250"/>
          </a:xfrm>
          <a:prstGeom prst="rect">
            <a:avLst/>
          </a:prstGeom>
        </p:spPr>
      </p:pic>
      <p:pic>
        <p:nvPicPr>
          <p:cNvPr id="26" name="Picture 25">
            <a:extLst>
              <a:ext uri="{FF2B5EF4-FFF2-40B4-BE49-F238E27FC236}">
                <a16:creationId xmlns:a16="http://schemas.microsoft.com/office/drawing/2014/main" id="{D8E790C7-0BF2-0E5F-44F8-43BA8A05D4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7730" y="3673007"/>
            <a:ext cx="1524000" cy="2000250"/>
          </a:xfrm>
          <a:prstGeom prst="rect">
            <a:avLst/>
          </a:prstGeom>
        </p:spPr>
      </p:pic>
      <p:pic>
        <p:nvPicPr>
          <p:cNvPr id="28" name="Picture 27">
            <a:extLst>
              <a:ext uri="{FF2B5EF4-FFF2-40B4-BE49-F238E27FC236}">
                <a16:creationId xmlns:a16="http://schemas.microsoft.com/office/drawing/2014/main" id="{3ED947EC-895A-75BB-DA4D-9E810D451B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77967" y="3680571"/>
            <a:ext cx="1524000" cy="2000250"/>
          </a:xfrm>
          <a:prstGeom prst="rect">
            <a:avLst/>
          </a:prstGeom>
        </p:spPr>
      </p:pic>
    </p:spTree>
    <p:extLst>
      <p:ext uri="{BB962C8B-B14F-4D97-AF65-F5344CB8AC3E}">
        <p14:creationId xmlns:p14="http://schemas.microsoft.com/office/powerpoint/2010/main" val="1147610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What a Q-value represents">
            <a:extLst>
              <a:ext uri="{FF2B5EF4-FFF2-40B4-BE49-F238E27FC236}">
                <a16:creationId xmlns:a16="http://schemas.microsoft.com/office/drawing/2014/main" id="{CB378FAF-4EF7-4E2A-B3D6-E1E63AA276B9}"/>
              </a:ext>
            </a:extLst>
          </p:cNvPr>
          <p:cNvSpPr>
            <a:spLocks noGrp="1"/>
          </p:cNvSpPr>
          <p:nvPr/>
        </p:nvSpPr>
        <p:spPr>
          <a:xfrm>
            <a:off x="609600" y="438150"/>
            <a:ext cx="10763250" cy="666750"/>
          </a:xfrm>
          <a:prstGeom prst="rect">
            <a:avLst/>
          </a:prstGeom>
          <a:noFill/>
          <a:ln w="0">
            <a:noFill/>
          </a:ln>
        </p:spPr>
        <p:txBody>
          <a:bodyPr lIns="0" tIns="0" rIns="0" bIns="0" anchor="t">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What a Q-value represents</a:t>
            </a:r>
          </a:p>
        </p:txBody>
      </p:sp>
      <p:sp>
        <p:nvSpPr>
          <p:cNvPr id="3" name="03">
            <a:extLst>
              <a:ext uri="{FF2B5EF4-FFF2-40B4-BE49-F238E27FC236}">
                <a16:creationId xmlns:a16="http://schemas.microsoft.com/office/drawing/2014/main" id="{B7F57363-8B24-4575-AE49-81AAD1284CF6}"/>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04</a:t>
            </a:r>
          </a:p>
        </p:txBody>
      </p:sp>
      <p:sp>
        <p:nvSpPr>
          <p:cNvPr id="4" name="Qπ(s, a) = Eπ[ rₜ + γrₜ₊₁ + γ²rₜ₊₂ + … | sₜ = s, aₜ = a">
            <a:extLst>
              <a:ext uri="{FF2B5EF4-FFF2-40B4-BE49-F238E27FC236}">
                <a16:creationId xmlns:a16="http://schemas.microsoft.com/office/drawing/2014/main" id="{BBC890C9-D996-41BE-B253-DBA9D6B399C9}"/>
              </a:ext>
            </a:extLst>
          </p:cNvPr>
          <p:cNvSpPr>
            <a:spLocks noGrp="1"/>
          </p:cNvSpPr>
          <p:nvPr/>
        </p:nvSpPr>
        <p:spPr>
          <a:xfrm>
            <a:off x="609600" y="1647825"/>
            <a:ext cx="10953750" cy="781050"/>
          </a:xfrm>
          <a:prstGeom prst="rect">
            <a:avLst/>
          </a:prstGeom>
          <a:noFill/>
          <a:ln w="0">
            <a:noFill/>
          </a:ln>
        </p:spPr>
        <p:txBody>
          <a:bodyPr lIns="0" tIns="0" rIns="0" bIns="0" anchor="t">
            <a:noAutofit/>
          </a:bodyPr>
          <a:lstStyle>
            <a:defPPr>
              <a:defRPr sz="2700" b="0">
                <a:solidFill>
                  <a:srgbClr val="087F8C"/>
                </a:solidFill>
                <a:latin typeface="Aptos"/>
                <a:ea typeface="Aptos"/>
                <a:cs typeface="Aptos"/>
              </a:defRPr>
            </a:defPPr>
            <a:lvl1pPr>
              <a:defRPr sz="2700" b="0">
                <a:solidFill>
                  <a:srgbClr val="087F8C"/>
                </a:solidFill>
                <a:latin typeface="Aptos"/>
                <a:ea typeface="Aptos"/>
                <a:cs typeface="Aptos"/>
              </a:defRPr>
            </a:lvl1pPr>
            <a:lvl2pPr>
              <a:defRPr sz="2700" b="0">
                <a:solidFill>
                  <a:srgbClr val="087F8C"/>
                </a:solidFill>
                <a:latin typeface="Aptos"/>
                <a:ea typeface="Aptos"/>
                <a:cs typeface="Aptos"/>
              </a:defRPr>
            </a:lvl2pPr>
            <a:lvl3pPr>
              <a:defRPr sz="2700" b="0">
                <a:solidFill>
                  <a:srgbClr val="087F8C"/>
                </a:solidFill>
                <a:latin typeface="Aptos"/>
                <a:ea typeface="Aptos"/>
                <a:cs typeface="Aptos"/>
              </a:defRPr>
            </a:lvl3pPr>
            <a:lvl4pPr>
              <a:defRPr sz="2700" b="0">
                <a:solidFill>
                  <a:srgbClr val="087F8C"/>
                </a:solidFill>
                <a:latin typeface="Aptos"/>
                <a:ea typeface="Aptos"/>
                <a:cs typeface="Aptos"/>
              </a:defRPr>
            </a:lvl4pPr>
            <a:lvl5pPr>
              <a:defRPr sz="2700" b="0">
                <a:solidFill>
                  <a:srgbClr val="087F8C"/>
                </a:solidFill>
                <a:latin typeface="Aptos"/>
                <a:ea typeface="Aptos"/>
                <a:cs typeface="Aptos"/>
              </a:defRPr>
            </a:lvl5pPr>
            <a:lvl6pPr>
              <a:defRPr sz="2700" b="0">
                <a:solidFill>
                  <a:srgbClr val="087F8C"/>
                </a:solidFill>
                <a:latin typeface="Aptos"/>
                <a:ea typeface="Aptos"/>
                <a:cs typeface="Aptos"/>
              </a:defRPr>
            </a:lvl6pPr>
            <a:lvl7pPr>
              <a:defRPr sz="2700" b="0">
                <a:solidFill>
                  <a:srgbClr val="087F8C"/>
                </a:solidFill>
                <a:latin typeface="Aptos"/>
                <a:ea typeface="Aptos"/>
                <a:cs typeface="Aptos"/>
              </a:defRPr>
            </a:lvl7pPr>
            <a:lvl8pPr>
              <a:defRPr sz="2700" b="0">
                <a:solidFill>
                  <a:srgbClr val="087F8C"/>
                </a:solidFill>
                <a:latin typeface="Aptos"/>
                <a:ea typeface="Aptos"/>
                <a:cs typeface="Aptos"/>
              </a:defRPr>
            </a:lvl8pPr>
            <a:lvl9pPr>
              <a:defRPr sz="2700" b="0">
                <a:solidFill>
                  <a:srgbClr val="087F8C"/>
                </a:solidFill>
                <a:latin typeface="Aptos"/>
                <a:ea typeface="Aptos"/>
                <a:cs typeface="Aptos"/>
              </a:defRPr>
            </a:lvl9pPr>
          </a:lstStyle>
          <a:p>
            <a:pPr>
              <a:defRPr sz="2700" b="0">
                <a:solidFill>
                  <a:srgbClr val="087F8C"/>
                </a:solidFill>
                <a:latin typeface="Aptos"/>
                <a:ea typeface="Aptos"/>
                <a:cs typeface="Aptos"/>
              </a:defRPr>
            </a:pPr>
            <a:r>
              <a:rPr sz="2700" b="0">
                <a:solidFill>
                  <a:srgbClr val="087F8C"/>
                </a:solidFill>
                <a:latin typeface="Aptos"/>
                <a:ea typeface="Aptos"/>
                <a:cs typeface="Aptos"/>
              </a:rPr>
              <a:t>Qπ(s, a) = Eπ[ rₜ + γrₜ₊₁ + γ²rₜ₊₂ + … | sₜ = s, aₜ = a ]</a:t>
            </a:r>
          </a:p>
        </p:txBody>
      </p:sp>
      <p:sp>
        <p:nvSpPr>
          <p:cNvPr id="5" name="Expected discounted future reward after taking action a">
            <a:extLst>
              <a:ext uri="{FF2B5EF4-FFF2-40B4-BE49-F238E27FC236}">
                <a16:creationId xmlns:a16="http://schemas.microsoft.com/office/drawing/2014/main" id="{19AC9700-C565-4F99-A1B0-DAC5DD86DA6A}"/>
              </a:ext>
            </a:extLst>
          </p:cNvPr>
          <p:cNvSpPr>
            <a:spLocks noGrp="1"/>
          </p:cNvSpPr>
          <p:nvPr/>
        </p:nvSpPr>
        <p:spPr>
          <a:xfrm>
            <a:off x="619125" y="2590800"/>
            <a:ext cx="10477500" cy="666750"/>
          </a:xfrm>
          <a:prstGeom prst="rect">
            <a:avLst/>
          </a:prstGeom>
          <a:noFill/>
          <a:ln w="0">
            <a:noFill/>
          </a:ln>
        </p:spPr>
        <p:txBody>
          <a:bodyPr lIns="0" tIns="0" rIns="0" bIns="0" anchor="t">
            <a:noAutofit/>
          </a:bodyPr>
          <a:lstStyle>
            <a:defPPr>
              <a:defRPr sz="2175" b="0">
                <a:solidFill>
                  <a:srgbClr val="18324F"/>
                </a:solidFill>
                <a:latin typeface="Aptos"/>
                <a:ea typeface="Aptos"/>
                <a:cs typeface="Aptos"/>
              </a:defRPr>
            </a:defPPr>
            <a:lvl1pPr>
              <a:defRPr sz="2175" b="0">
                <a:solidFill>
                  <a:srgbClr val="18324F"/>
                </a:solidFill>
                <a:latin typeface="Aptos"/>
                <a:ea typeface="Aptos"/>
                <a:cs typeface="Aptos"/>
              </a:defRPr>
            </a:lvl1pPr>
            <a:lvl2pPr>
              <a:defRPr sz="2175" b="0">
                <a:solidFill>
                  <a:srgbClr val="18324F"/>
                </a:solidFill>
                <a:latin typeface="Aptos"/>
                <a:ea typeface="Aptos"/>
                <a:cs typeface="Aptos"/>
              </a:defRPr>
            </a:lvl2pPr>
            <a:lvl3pPr>
              <a:defRPr sz="2175" b="0">
                <a:solidFill>
                  <a:srgbClr val="18324F"/>
                </a:solidFill>
                <a:latin typeface="Aptos"/>
                <a:ea typeface="Aptos"/>
                <a:cs typeface="Aptos"/>
              </a:defRPr>
            </a:lvl3pPr>
            <a:lvl4pPr>
              <a:defRPr sz="2175" b="0">
                <a:solidFill>
                  <a:srgbClr val="18324F"/>
                </a:solidFill>
                <a:latin typeface="Aptos"/>
                <a:ea typeface="Aptos"/>
                <a:cs typeface="Aptos"/>
              </a:defRPr>
            </a:lvl4pPr>
            <a:lvl5pPr>
              <a:defRPr sz="2175" b="0">
                <a:solidFill>
                  <a:srgbClr val="18324F"/>
                </a:solidFill>
                <a:latin typeface="Aptos"/>
                <a:ea typeface="Aptos"/>
                <a:cs typeface="Aptos"/>
              </a:defRPr>
            </a:lvl5pPr>
            <a:lvl6pPr>
              <a:defRPr sz="2175" b="0">
                <a:solidFill>
                  <a:srgbClr val="18324F"/>
                </a:solidFill>
                <a:latin typeface="Aptos"/>
                <a:ea typeface="Aptos"/>
                <a:cs typeface="Aptos"/>
              </a:defRPr>
            </a:lvl6pPr>
            <a:lvl7pPr>
              <a:defRPr sz="2175" b="0">
                <a:solidFill>
                  <a:srgbClr val="18324F"/>
                </a:solidFill>
                <a:latin typeface="Aptos"/>
                <a:ea typeface="Aptos"/>
                <a:cs typeface="Aptos"/>
              </a:defRPr>
            </a:lvl7pPr>
            <a:lvl8pPr>
              <a:defRPr sz="2175" b="0">
                <a:solidFill>
                  <a:srgbClr val="18324F"/>
                </a:solidFill>
                <a:latin typeface="Aptos"/>
                <a:ea typeface="Aptos"/>
                <a:cs typeface="Aptos"/>
              </a:defRPr>
            </a:lvl8pPr>
            <a:lvl9pPr>
              <a:defRPr sz="2175" b="0">
                <a:solidFill>
                  <a:srgbClr val="18324F"/>
                </a:solidFill>
                <a:latin typeface="Aptos"/>
                <a:ea typeface="Aptos"/>
                <a:cs typeface="Aptos"/>
              </a:defRPr>
            </a:lvl9pPr>
          </a:lstStyle>
          <a:p>
            <a:pPr>
              <a:defRPr sz="2175" b="0">
                <a:solidFill>
                  <a:srgbClr val="18324F"/>
                </a:solidFill>
                <a:latin typeface="Aptos"/>
                <a:ea typeface="Aptos"/>
                <a:cs typeface="Aptos"/>
              </a:defRPr>
            </a:pPr>
            <a:r>
              <a:rPr sz="2175" b="0">
                <a:solidFill>
                  <a:srgbClr val="18324F"/>
                </a:solidFill>
                <a:latin typeface="Aptos"/>
                <a:ea typeface="Aptos"/>
                <a:cs typeface="Aptos"/>
              </a:rPr>
              <a:t>Expected discounted future reward after taking action a in state s</a:t>
            </a:r>
          </a:p>
        </p:txBody>
      </p:sp>
      <p:sp>
        <p:nvSpPr>
          <p:cNvPr id="6" name="A neural network estimates Q(s, a; θ)">
            <a:extLst>
              <a:ext uri="{FF2B5EF4-FFF2-40B4-BE49-F238E27FC236}">
                <a16:creationId xmlns:a16="http://schemas.microsoft.com/office/drawing/2014/main" id="{40B6BDD5-3ACA-4367-99E3-5C853AAC6AB8}"/>
              </a:ext>
            </a:extLst>
          </p:cNvPr>
          <p:cNvSpPr>
            <a:spLocks noGrp="1"/>
          </p:cNvSpPr>
          <p:nvPr/>
        </p:nvSpPr>
        <p:spPr>
          <a:xfrm>
            <a:off x="609600" y="3619500"/>
            <a:ext cx="10287000" cy="381000"/>
          </a:xfrm>
          <a:prstGeom prst="rect">
            <a:avLst/>
          </a:prstGeom>
          <a:noFill/>
          <a:ln w="0">
            <a:noFill/>
          </a:ln>
        </p:spPr>
        <p:txBody>
          <a:bodyPr lIns="0" tIns="0" rIns="0" bIns="0" anchor="t">
            <a:noAutofit/>
          </a:bodyPr>
          <a:lstStyle>
            <a:defPPr>
              <a:defRPr sz="2100" b="1">
                <a:solidFill>
                  <a:srgbClr val="087F8C"/>
                </a:solidFill>
                <a:latin typeface="Aptos"/>
                <a:ea typeface="Aptos"/>
                <a:cs typeface="Aptos"/>
              </a:defRPr>
            </a:defPPr>
            <a:lvl1pPr>
              <a:defRPr sz="2100" b="1">
                <a:solidFill>
                  <a:srgbClr val="087F8C"/>
                </a:solidFill>
                <a:latin typeface="Aptos"/>
                <a:ea typeface="Aptos"/>
                <a:cs typeface="Aptos"/>
              </a:defRPr>
            </a:lvl1pPr>
            <a:lvl2pPr>
              <a:defRPr sz="2100" b="1">
                <a:solidFill>
                  <a:srgbClr val="087F8C"/>
                </a:solidFill>
                <a:latin typeface="Aptos"/>
                <a:ea typeface="Aptos"/>
                <a:cs typeface="Aptos"/>
              </a:defRPr>
            </a:lvl2pPr>
            <a:lvl3pPr>
              <a:defRPr sz="2100" b="1">
                <a:solidFill>
                  <a:srgbClr val="087F8C"/>
                </a:solidFill>
                <a:latin typeface="Aptos"/>
                <a:ea typeface="Aptos"/>
                <a:cs typeface="Aptos"/>
              </a:defRPr>
            </a:lvl3pPr>
            <a:lvl4pPr>
              <a:defRPr sz="2100" b="1">
                <a:solidFill>
                  <a:srgbClr val="087F8C"/>
                </a:solidFill>
                <a:latin typeface="Aptos"/>
                <a:ea typeface="Aptos"/>
                <a:cs typeface="Aptos"/>
              </a:defRPr>
            </a:lvl4pPr>
            <a:lvl5pPr>
              <a:defRPr sz="2100" b="1">
                <a:solidFill>
                  <a:srgbClr val="087F8C"/>
                </a:solidFill>
                <a:latin typeface="Aptos"/>
                <a:ea typeface="Aptos"/>
                <a:cs typeface="Aptos"/>
              </a:defRPr>
            </a:lvl5pPr>
            <a:lvl6pPr>
              <a:defRPr sz="2100" b="1">
                <a:solidFill>
                  <a:srgbClr val="087F8C"/>
                </a:solidFill>
                <a:latin typeface="Aptos"/>
                <a:ea typeface="Aptos"/>
                <a:cs typeface="Aptos"/>
              </a:defRPr>
            </a:lvl6pPr>
            <a:lvl7pPr>
              <a:defRPr sz="2100" b="1">
                <a:solidFill>
                  <a:srgbClr val="087F8C"/>
                </a:solidFill>
                <a:latin typeface="Aptos"/>
                <a:ea typeface="Aptos"/>
                <a:cs typeface="Aptos"/>
              </a:defRPr>
            </a:lvl7pPr>
            <a:lvl8pPr>
              <a:defRPr sz="2100" b="1">
                <a:solidFill>
                  <a:srgbClr val="087F8C"/>
                </a:solidFill>
                <a:latin typeface="Aptos"/>
                <a:ea typeface="Aptos"/>
                <a:cs typeface="Aptos"/>
              </a:defRPr>
            </a:lvl8pPr>
            <a:lvl9pPr>
              <a:defRPr sz="2100" b="1">
                <a:solidFill>
                  <a:srgbClr val="087F8C"/>
                </a:solidFill>
                <a:latin typeface="Aptos"/>
                <a:ea typeface="Aptos"/>
                <a:cs typeface="Aptos"/>
              </a:defRPr>
            </a:lvl9pPr>
          </a:lstStyle>
          <a:p>
            <a:pPr>
              <a:defRPr sz="2100" b="1">
                <a:solidFill>
                  <a:srgbClr val="087F8C"/>
                </a:solidFill>
                <a:latin typeface="Aptos"/>
                <a:ea typeface="Aptos"/>
                <a:cs typeface="Aptos"/>
              </a:defRPr>
            </a:pPr>
            <a:r>
              <a:rPr sz="2100" b="1">
                <a:solidFill>
                  <a:srgbClr val="087F8C"/>
                </a:solidFill>
                <a:latin typeface="Aptos"/>
                <a:ea typeface="Aptos"/>
                <a:cs typeface="Aptos"/>
              </a:rPr>
              <a:t>A neural network estimates Q(s, a; θ)</a:t>
            </a:r>
          </a:p>
        </p:txBody>
      </p:sp>
      <p:sp>
        <p:nvSpPr>
          <p:cNvPr id="7" name="One forward pass produces one value for each valid acti">
            <a:extLst>
              <a:ext uri="{FF2B5EF4-FFF2-40B4-BE49-F238E27FC236}">
                <a16:creationId xmlns:a16="http://schemas.microsoft.com/office/drawing/2014/main" id="{F6C6AE1C-FAE4-44E4-815C-F7B4321CCF3D}"/>
              </a:ext>
            </a:extLst>
          </p:cNvPr>
          <p:cNvSpPr>
            <a:spLocks noGrp="1"/>
          </p:cNvSpPr>
          <p:nvPr/>
        </p:nvSpPr>
        <p:spPr>
          <a:xfrm>
            <a:off x="609600" y="4057650"/>
            <a:ext cx="10287000" cy="723900"/>
          </a:xfrm>
          <a:prstGeom prst="rect">
            <a:avLst/>
          </a:prstGeom>
          <a:noFill/>
          <a:ln w="0">
            <a:noFill/>
          </a:ln>
        </p:spPr>
        <p:txBody>
          <a:bodyPr lIns="0" tIns="0" rIns="0" bIns="0" anchor="t">
            <a:noAutofit/>
          </a:bodyPr>
          <a:lstStyle>
            <a:defPPr>
              <a:defRPr sz="1950" b="0">
                <a:solidFill>
                  <a:srgbClr val="37475B"/>
                </a:solidFill>
                <a:latin typeface="Aptos"/>
                <a:ea typeface="Aptos"/>
                <a:cs typeface="Aptos"/>
              </a:defRPr>
            </a:defPPr>
            <a:lvl1pPr>
              <a:defRPr sz="1950" b="0">
                <a:solidFill>
                  <a:srgbClr val="37475B"/>
                </a:solidFill>
                <a:latin typeface="Aptos"/>
                <a:ea typeface="Aptos"/>
                <a:cs typeface="Aptos"/>
              </a:defRPr>
            </a:lvl1pPr>
            <a:lvl2pPr>
              <a:defRPr sz="1950" b="0">
                <a:solidFill>
                  <a:srgbClr val="37475B"/>
                </a:solidFill>
                <a:latin typeface="Aptos"/>
                <a:ea typeface="Aptos"/>
                <a:cs typeface="Aptos"/>
              </a:defRPr>
            </a:lvl2pPr>
            <a:lvl3pPr>
              <a:defRPr sz="1950" b="0">
                <a:solidFill>
                  <a:srgbClr val="37475B"/>
                </a:solidFill>
                <a:latin typeface="Aptos"/>
                <a:ea typeface="Aptos"/>
                <a:cs typeface="Aptos"/>
              </a:defRPr>
            </a:lvl3pPr>
            <a:lvl4pPr>
              <a:defRPr sz="1950" b="0">
                <a:solidFill>
                  <a:srgbClr val="37475B"/>
                </a:solidFill>
                <a:latin typeface="Aptos"/>
                <a:ea typeface="Aptos"/>
                <a:cs typeface="Aptos"/>
              </a:defRPr>
            </a:lvl4pPr>
            <a:lvl5pPr>
              <a:defRPr sz="1950" b="0">
                <a:solidFill>
                  <a:srgbClr val="37475B"/>
                </a:solidFill>
                <a:latin typeface="Aptos"/>
                <a:ea typeface="Aptos"/>
                <a:cs typeface="Aptos"/>
              </a:defRPr>
            </a:lvl5pPr>
            <a:lvl6pPr>
              <a:defRPr sz="1950" b="0">
                <a:solidFill>
                  <a:srgbClr val="37475B"/>
                </a:solidFill>
                <a:latin typeface="Aptos"/>
                <a:ea typeface="Aptos"/>
                <a:cs typeface="Aptos"/>
              </a:defRPr>
            </a:lvl6pPr>
            <a:lvl7pPr>
              <a:defRPr sz="1950" b="0">
                <a:solidFill>
                  <a:srgbClr val="37475B"/>
                </a:solidFill>
                <a:latin typeface="Aptos"/>
                <a:ea typeface="Aptos"/>
                <a:cs typeface="Aptos"/>
              </a:defRPr>
            </a:lvl7pPr>
            <a:lvl8pPr>
              <a:defRPr sz="1950" b="0">
                <a:solidFill>
                  <a:srgbClr val="37475B"/>
                </a:solidFill>
                <a:latin typeface="Aptos"/>
                <a:ea typeface="Aptos"/>
                <a:cs typeface="Aptos"/>
              </a:defRPr>
            </a:lvl8pPr>
            <a:lvl9pPr>
              <a:defRPr sz="1950" b="0">
                <a:solidFill>
                  <a:srgbClr val="37475B"/>
                </a:solidFill>
                <a:latin typeface="Aptos"/>
                <a:ea typeface="Aptos"/>
                <a:cs typeface="Aptos"/>
              </a:defRPr>
            </a:lvl9pPr>
          </a:lstStyle>
          <a:p>
            <a:pPr>
              <a:defRPr sz="1950" b="0">
                <a:solidFill>
                  <a:srgbClr val="37475B"/>
                </a:solidFill>
                <a:latin typeface="Aptos"/>
                <a:ea typeface="Aptos"/>
                <a:cs typeface="Aptos"/>
              </a:defRPr>
            </a:pPr>
            <a:r>
              <a:rPr sz="1950" b="0">
                <a:solidFill>
                  <a:srgbClr val="37475B"/>
                </a:solidFill>
                <a:latin typeface="Aptos"/>
                <a:ea typeface="Aptos"/>
                <a:cs typeface="Aptos"/>
              </a:rPr>
              <a:t>One forward pass produces one value for each valid action.</a:t>
            </a:r>
          </a:p>
        </p:txBody>
      </p:sp>
      <p:sp>
        <p:nvSpPr>
          <p:cNvPr id="8" name="Greedy action:  a* = arg maxₐ Q(s, a; θ)">
            <a:extLst>
              <a:ext uri="{FF2B5EF4-FFF2-40B4-BE49-F238E27FC236}">
                <a16:creationId xmlns:a16="http://schemas.microsoft.com/office/drawing/2014/main" id="{FE958C51-FA1C-41E9-9DCC-05B14E40B3A9}"/>
              </a:ext>
            </a:extLst>
          </p:cNvPr>
          <p:cNvSpPr>
            <a:spLocks noGrp="1"/>
          </p:cNvSpPr>
          <p:nvPr/>
        </p:nvSpPr>
        <p:spPr>
          <a:xfrm>
            <a:off x="619125" y="5172075"/>
            <a:ext cx="10477500" cy="571500"/>
          </a:xfrm>
          <a:prstGeom prst="rect">
            <a:avLst/>
          </a:prstGeom>
          <a:noFill/>
          <a:ln w="0">
            <a:noFill/>
          </a:ln>
        </p:spPr>
        <p:txBody>
          <a:bodyPr lIns="0" tIns="0" rIns="0" bIns="0" anchor="t">
            <a:noAutofit/>
          </a:bodyPr>
          <a:lstStyle>
            <a:defPPr>
              <a:defRPr sz="2700" b="0">
                <a:solidFill>
                  <a:srgbClr val="087F8C"/>
                </a:solidFill>
                <a:latin typeface="Aptos"/>
                <a:ea typeface="Aptos"/>
                <a:cs typeface="Aptos"/>
              </a:defRPr>
            </a:defPPr>
            <a:lvl1pPr>
              <a:defRPr sz="2700" b="0">
                <a:solidFill>
                  <a:srgbClr val="087F8C"/>
                </a:solidFill>
                <a:latin typeface="Aptos"/>
                <a:ea typeface="Aptos"/>
                <a:cs typeface="Aptos"/>
              </a:defRPr>
            </a:lvl1pPr>
            <a:lvl2pPr>
              <a:defRPr sz="2700" b="0">
                <a:solidFill>
                  <a:srgbClr val="087F8C"/>
                </a:solidFill>
                <a:latin typeface="Aptos"/>
                <a:ea typeface="Aptos"/>
                <a:cs typeface="Aptos"/>
              </a:defRPr>
            </a:lvl2pPr>
            <a:lvl3pPr>
              <a:defRPr sz="2700" b="0">
                <a:solidFill>
                  <a:srgbClr val="087F8C"/>
                </a:solidFill>
                <a:latin typeface="Aptos"/>
                <a:ea typeface="Aptos"/>
                <a:cs typeface="Aptos"/>
              </a:defRPr>
            </a:lvl3pPr>
            <a:lvl4pPr>
              <a:defRPr sz="2700" b="0">
                <a:solidFill>
                  <a:srgbClr val="087F8C"/>
                </a:solidFill>
                <a:latin typeface="Aptos"/>
                <a:ea typeface="Aptos"/>
                <a:cs typeface="Aptos"/>
              </a:defRPr>
            </a:lvl4pPr>
            <a:lvl5pPr>
              <a:defRPr sz="2700" b="0">
                <a:solidFill>
                  <a:srgbClr val="087F8C"/>
                </a:solidFill>
                <a:latin typeface="Aptos"/>
                <a:ea typeface="Aptos"/>
                <a:cs typeface="Aptos"/>
              </a:defRPr>
            </a:lvl5pPr>
            <a:lvl6pPr>
              <a:defRPr sz="2700" b="0">
                <a:solidFill>
                  <a:srgbClr val="087F8C"/>
                </a:solidFill>
                <a:latin typeface="Aptos"/>
                <a:ea typeface="Aptos"/>
                <a:cs typeface="Aptos"/>
              </a:defRPr>
            </a:lvl6pPr>
            <a:lvl7pPr>
              <a:defRPr sz="2700" b="0">
                <a:solidFill>
                  <a:srgbClr val="087F8C"/>
                </a:solidFill>
                <a:latin typeface="Aptos"/>
                <a:ea typeface="Aptos"/>
                <a:cs typeface="Aptos"/>
              </a:defRPr>
            </a:lvl7pPr>
            <a:lvl8pPr>
              <a:defRPr sz="2700" b="0">
                <a:solidFill>
                  <a:srgbClr val="087F8C"/>
                </a:solidFill>
                <a:latin typeface="Aptos"/>
                <a:ea typeface="Aptos"/>
                <a:cs typeface="Aptos"/>
              </a:defRPr>
            </a:lvl8pPr>
            <a:lvl9pPr>
              <a:defRPr sz="2700" b="0">
                <a:solidFill>
                  <a:srgbClr val="087F8C"/>
                </a:solidFill>
                <a:latin typeface="Aptos"/>
                <a:ea typeface="Aptos"/>
                <a:cs typeface="Aptos"/>
              </a:defRPr>
            </a:lvl9pPr>
          </a:lstStyle>
          <a:p>
            <a:pPr>
              <a:defRPr sz="2700" b="0">
                <a:solidFill>
                  <a:srgbClr val="087F8C"/>
                </a:solidFill>
                <a:latin typeface="Aptos"/>
                <a:ea typeface="Aptos"/>
                <a:cs typeface="Aptos"/>
              </a:defRPr>
            </a:pPr>
            <a:r>
              <a:rPr sz="2700" b="0">
                <a:solidFill>
                  <a:srgbClr val="087F8C"/>
                </a:solidFill>
                <a:latin typeface="Aptos"/>
                <a:ea typeface="Aptos"/>
                <a:cs typeface="Aptos"/>
              </a:rPr>
              <a:t>Greedy action:  a* = arg maxₐ Q(s, a; θ)</a:t>
            </a:r>
          </a:p>
        </p:txBody>
      </p:sp>
    </p:spTree>
    <p:extLst>
      <p:ext uri="{BB962C8B-B14F-4D97-AF65-F5344CB8AC3E}">
        <p14:creationId xmlns:p14="http://schemas.microsoft.com/office/powerpoint/2010/main" val="282510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he input preserves recent motion">
            <a:extLst>
              <a:ext uri="{FF2B5EF4-FFF2-40B4-BE49-F238E27FC236}">
                <a16:creationId xmlns:a16="http://schemas.microsoft.com/office/drawing/2014/main" id="{1E4A0EB1-B30D-431F-B673-589B8D23073F}"/>
              </a:ext>
            </a:extLst>
          </p:cNvPr>
          <p:cNvSpPr>
            <a:spLocks noGrp="1"/>
          </p:cNvSpPr>
          <p:nvPr/>
        </p:nvSpPr>
        <p:spPr>
          <a:xfrm>
            <a:off x="609600" y="438150"/>
            <a:ext cx="10763250" cy="666750"/>
          </a:xfrm>
          <a:prstGeom prst="rect">
            <a:avLst/>
          </a:prstGeom>
          <a:noFill/>
          <a:ln w="0">
            <a:noFill/>
          </a:ln>
        </p:spPr>
        <p:txBody>
          <a:bodyPr lIns="0" tIns="0" rIns="0" bIns="0" anchor="t">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The input preserves recent motion</a:t>
            </a:r>
          </a:p>
        </p:txBody>
      </p:sp>
      <p:sp>
        <p:nvSpPr>
          <p:cNvPr id="3" name="04">
            <a:extLst>
              <a:ext uri="{FF2B5EF4-FFF2-40B4-BE49-F238E27FC236}">
                <a16:creationId xmlns:a16="http://schemas.microsoft.com/office/drawing/2014/main" id="{32269109-F487-4389-A292-85F8D4061801}"/>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05</a:t>
            </a:r>
          </a:p>
        </p:txBody>
      </p:sp>
      <p:sp>
        <p:nvSpPr>
          <p:cNvPr id="4" name="RGB frame">
            <a:extLst>
              <a:ext uri="{FF2B5EF4-FFF2-40B4-BE49-F238E27FC236}">
                <a16:creationId xmlns:a16="http://schemas.microsoft.com/office/drawing/2014/main" id="{9829106A-6814-4BCE-908F-BF505EE2E4AC}"/>
              </a:ext>
            </a:extLst>
          </p:cNvPr>
          <p:cNvSpPr>
            <a:spLocks noGrp="1"/>
          </p:cNvSpPr>
          <p:nvPr/>
        </p:nvSpPr>
        <p:spPr>
          <a:xfrm>
            <a:off x="619125" y="1447800"/>
            <a:ext cx="2381250" cy="333375"/>
          </a:xfrm>
          <a:prstGeom prst="rect">
            <a:avLst/>
          </a:prstGeom>
          <a:noFill/>
          <a:ln w="0">
            <a:noFill/>
          </a:ln>
        </p:spPr>
        <p:txBody>
          <a:bodyPr lIns="0" tIns="0" rIns="0" bIns="0" anchor="t">
            <a:noAutofit/>
          </a:bodyPr>
          <a:lstStyle>
            <a:defPPr>
              <a:defRPr sz="1875" b="1">
                <a:solidFill>
                  <a:srgbClr val="18324F"/>
                </a:solidFill>
                <a:latin typeface="Aptos"/>
                <a:ea typeface="Aptos"/>
                <a:cs typeface="Aptos"/>
              </a:defRPr>
            </a:defPPr>
            <a:lvl1pPr>
              <a:defRPr sz="1875" b="1">
                <a:solidFill>
                  <a:srgbClr val="18324F"/>
                </a:solidFill>
                <a:latin typeface="Aptos"/>
                <a:ea typeface="Aptos"/>
                <a:cs typeface="Aptos"/>
              </a:defRPr>
            </a:lvl1pPr>
            <a:lvl2pPr>
              <a:defRPr sz="1875" b="1">
                <a:solidFill>
                  <a:srgbClr val="18324F"/>
                </a:solidFill>
                <a:latin typeface="Aptos"/>
                <a:ea typeface="Aptos"/>
                <a:cs typeface="Aptos"/>
              </a:defRPr>
            </a:lvl2pPr>
            <a:lvl3pPr>
              <a:defRPr sz="1875" b="1">
                <a:solidFill>
                  <a:srgbClr val="18324F"/>
                </a:solidFill>
                <a:latin typeface="Aptos"/>
                <a:ea typeface="Aptos"/>
                <a:cs typeface="Aptos"/>
              </a:defRPr>
            </a:lvl3pPr>
            <a:lvl4pPr>
              <a:defRPr sz="1875" b="1">
                <a:solidFill>
                  <a:srgbClr val="18324F"/>
                </a:solidFill>
                <a:latin typeface="Aptos"/>
                <a:ea typeface="Aptos"/>
                <a:cs typeface="Aptos"/>
              </a:defRPr>
            </a:lvl4pPr>
            <a:lvl5pPr>
              <a:defRPr sz="1875" b="1">
                <a:solidFill>
                  <a:srgbClr val="18324F"/>
                </a:solidFill>
                <a:latin typeface="Aptos"/>
                <a:ea typeface="Aptos"/>
                <a:cs typeface="Aptos"/>
              </a:defRPr>
            </a:lvl5pPr>
            <a:lvl6pPr>
              <a:defRPr sz="1875" b="1">
                <a:solidFill>
                  <a:srgbClr val="18324F"/>
                </a:solidFill>
                <a:latin typeface="Aptos"/>
                <a:ea typeface="Aptos"/>
                <a:cs typeface="Aptos"/>
              </a:defRPr>
            </a:lvl6pPr>
            <a:lvl7pPr>
              <a:defRPr sz="1875" b="1">
                <a:solidFill>
                  <a:srgbClr val="18324F"/>
                </a:solidFill>
                <a:latin typeface="Aptos"/>
                <a:ea typeface="Aptos"/>
                <a:cs typeface="Aptos"/>
              </a:defRPr>
            </a:lvl7pPr>
            <a:lvl8pPr>
              <a:defRPr sz="1875" b="1">
                <a:solidFill>
                  <a:srgbClr val="18324F"/>
                </a:solidFill>
                <a:latin typeface="Aptos"/>
                <a:ea typeface="Aptos"/>
                <a:cs typeface="Aptos"/>
              </a:defRPr>
            </a:lvl8pPr>
            <a:lvl9pPr>
              <a:defRPr sz="1875" b="1">
                <a:solidFill>
                  <a:srgbClr val="18324F"/>
                </a:solidFill>
                <a:latin typeface="Aptos"/>
                <a:ea typeface="Aptos"/>
                <a:cs typeface="Aptos"/>
              </a:defRPr>
            </a:lvl9pPr>
          </a:lstStyle>
          <a:p>
            <a:pPr>
              <a:defRPr sz="1875" b="1">
                <a:solidFill>
                  <a:srgbClr val="18324F"/>
                </a:solidFill>
                <a:latin typeface="Aptos"/>
                <a:ea typeface="Aptos"/>
                <a:cs typeface="Aptos"/>
              </a:defRPr>
            </a:pPr>
            <a:r>
              <a:rPr sz="1875" b="1">
                <a:solidFill>
                  <a:srgbClr val="18324F"/>
                </a:solidFill>
                <a:latin typeface="Aptos"/>
                <a:ea typeface="Aptos"/>
                <a:cs typeface="Aptos"/>
              </a:rPr>
              <a:t>RGB frame</a:t>
            </a:r>
          </a:p>
        </p:txBody>
      </p:sp>
      <p:pic>
        <p:nvPicPr>
          <p:cNvPr id="5" name="Picture 4">
            <a:extLst>
              <a:ext uri="{FF2B5EF4-FFF2-40B4-BE49-F238E27FC236}">
                <a16:creationId xmlns:a16="http://schemas.microsoft.com/office/drawing/2014/main" id="{3C6184B9-37AD-4C11-8EEA-4DF4ECF1F592}"/>
              </a:ext>
            </a:extLst>
          </p:cNvPr>
          <p:cNvPicPr>
            <a:picLocks noChangeAspect="1"/>
          </p:cNvPicPr>
          <p:nvPr/>
        </p:nvPicPr>
        <p:blipFill>
          <a:blip r:embed="rId3"/>
          <a:srcRect l="216" r="216"/>
          <a:stretch>
            <a:fillRect/>
          </a:stretch>
        </p:blipFill>
        <p:spPr>
          <a:xfrm>
            <a:off x="638175" y="1971675"/>
            <a:ext cx="2095500" cy="2762250"/>
          </a:xfrm>
          <a:prstGeom prst="rect">
            <a:avLst/>
          </a:prstGeom>
        </p:spPr>
      </p:pic>
      <p:sp>
        <p:nvSpPr>
          <p:cNvPr id="6" name="Grayscale, resize to 110 × 84, crop to 84 × 84">
            <a:extLst>
              <a:ext uri="{FF2B5EF4-FFF2-40B4-BE49-F238E27FC236}">
                <a16:creationId xmlns:a16="http://schemas.microsoft.com/office/drawing/2014/main" id="{B0A5DAED-B2FE-4547-A059-D9661C8AD4C4}"/>
              </a:ext>
            </a:extLst>
          </p:cNvPr>
          <p:cNvSpPr>
            <a:spLocks noGrp="1"/>
          </p:cNvSpPr>
          <p:nvPr/>
        </p:nvSpPr>
        <p:spPr>
          <a:xfrm>
            <a:off x="3409950" y="1447800"/>
            <a:ext cx="7905750" cy="333375"/>
          </a:xfrm>
          <a:prstGeom prst="rect">
            <a:avLst/>
          </a:prstGeom>
          <a:noFill/>
          <a:ln w="0">
            <a:noFill/>
          </a:ln>
        </p:spPr>
        <p:txBody>
          <a:bodyPr lIns="0" tIns="0" rIns="0" bIns="0" anchor="t">
            <a:noAutofit/>
          </a:bodyPr>
          <a:lstStyle>
            <a:defPPr>
              <a:defRPr sz="1875" b="1">
                <a:solidFill>
                  <a:srgbClr val="18324F"/>
                </a:solidFill>
                <a:latin typeface="Aptos"/>
                <a:ea typeface="Aptos"/>
                <a:cs typeface="Aptos"/>
              </a:defRPr>
            </a:defPPr>
            <a:lvl1pPr>
              <a:defRPr sz="1875" b="1">
                <a:solidFill>
                  <a:srgbClr val="18324F"/>
                </a:solidFill>
                <a:latin typeface="Aptos"/>
                <a:ea typeface="Aptos"/>
                <a:cs typeface="Aptos"/>
              </a:defRPr>
            </a:lvl1pPr>
            <a:lvl2pPr>
              <a:defRPr sz="1875" b="1">
                <a:solidFill>
                  <a:srgbClr val="18324F"/>
                </a:solidFill>
                <a:latin typeface="Aptos"/>
                <a:ea typeface="Aptos"/>
                <a:cs typeface="Aptos"/>
              </a:defRPr>
            </a:lvl2pPr>
            <a:lvl3pPr>
              <a:defRPr sz="1875" b="1">
                <a:solidFill>
                  <a:srgbClr val="18324F"/>
                </a:solidFill>
                <a:latin typeface="Aptos"/>
                <a:ea typeface="Aptos"/>
                <a:cs typeface="Aptos"/>
              </a:defRPr>
            </a:lvl3pPr>
            <a:lvl4pPr>
              <a:defRPr sz="1875" b="1">
                <a:solidFill>
                  <a:srgbClr val="18324F"/>
                </a:solidFill>
                <a:latin typeface="Aptos"/>
                <a:ea typeface="Aptos"/>
                <a:cs typeface="Aptos"/>
              </a:defRPr>
            </a:lvl4pPr>
            <a:lvl5pPr>
              <a:defRPr sz="1875" b="1">
                <a:solidFill>
                  <a:srgbClr val="18324F"/>
                </a:solidFill>
                <a:latin typeface="Aptos"/>
                <a:ea typeface="Aptos"/>
                <a:cs typeface="Aptos"/>
              </a:defRPr>
            </a:lvl5pPr>
            <a:lvl6pPr>
              <a:defRPr sz="1875" b="1">
                <a:solidFill>
                  <a:srgbClr val="18324F"/>
                </a:solidFill>
                <a:latin typeface="Aptos"/>
                <a:ea typeface="Aptos"/>
                <a:cs typeface="Aptos"/>
              </a:defRPr>
            </a:lvl6pPr>
            <a:lvl7pPr>
              <a:defRPr sz="1875" b="1">
                <a:solidFill>
                  <a:srgbClr val="18324F"/>
                </a:solidFill>
                <a:latin typeface="Aptos"/>
                <a:ea typeface="Aptos"/>
                <a:cs typeface="Aptos"/>
              </a:defRPr>
            </a:lvl7pPr>
            <a:lvl8pPr>
              <a:defRPr sz="1875" b="1">
                <a:solidFill>
                  <a:srgbClr val="18324F"/>
                </a:solidFill>
                <a:latin typeface="Aptos"/>
                <a:ea typeface="Aptos"/>
                <a:cs typeface="Aptos"/>
              </a:defRPr>
            </a:lvl8pPr>
            <a:lvl9pPr>
              <a:defRPr sz="1875" b="1">
                <a:solidFill>
                  <a:srgbClr val="18324F"/>
                </a:solidFill>
                <a:latin typeface="Aptos"/>
                <a:ea typeface="Aptos"/>
                <a:cs typeface="Aptos"/>
              </a:defRPr>
            </a:lvl9pPr>
          </a:lstStyle>
          <a:p>
            <a:pPr>
              <a:defRPr sz="1875" b="1">
                <a:solidFill>
                  <a:srgbClr val="18324F"/>
                </a:solidFill>
                <a:latin typeface="Aptos"/>
                <a:ea typeface="Aptos"/>
                <a:cs typeface="Aptos"/>
              </a:defRPr>
            </a:pPr>
            <a:r>
              <a:rPr sz="1875" b="1" dirty="0">
                <a:solidFill>
                  <a:srgbClr val="18324F"/>
                </a:solidFill>
                <a:latin typeface="Aptos"/>
                <a:ea typeface="Aptos"/>
                <a:cs typeface="Aptos"/>
              </a:rPr>
              <a:t>Grayscale, resize </a:t>
            </a:r>
            <a:r>
              <a:rPr lang="en-IN" dirty="0"/>
              <a:t>from</a:t>
            </a:r>
            <a:r>
              <a:rPr sz="1875" b="1" dirty="0">
                <a:solidFill>
                  <a:srgbClr val="18324F"/>
                </a:solidFill>
                <a:latin typeface="Aptos"/>
                <a:ea typeface="Aptos"/>
                <a:cs typeface="Aptos"/>
              </a:rPr>
              <a:t> 110 × 84, crop to 84 × 84</a:t>
            </a:r>
          </a:p>
        </p:txBody>
      </p:sp>
      <p:pic>
        <p:nvPicPr>
          <p:cNvPr id="7" name="Picture 6">
            <a:extLst>
              <a:ext uri="{FF2B5EF4-FFF2-40B4-BE49-F238E27FC236}">
                <a16:creationId xmlns:a16="http://schemas.microsoft.com/office/drawing/2014/main" id="{915AEEA0-FEA5-41A4-AFF2-4D3ADA459F03}"/>
              </a:ext>
            </a:extLst>
          </p:cNvPr>
          <p:cNvPicPr>
            <a:picLocks noChangeAspect="1"/>
          </p:cNvPicPr>
          <p:nvPr/>
        </p:nvPicPr>
        <p:blipFill>
          <a:blip r:embed="rId4"/>
          <a:srcRect/>
          <a:stretch>
            <a:fillRect/>
          </a:stretch>
        </p:blipFill>
        <p:spPr>
          <a:xfrm>
            <a:off x="3390900" y="2428875"/>
            <a:ext cx="1752600" cy="1752600"/>
          </a:xfrm>
          <a:prstGeom prst="rect">
            <a:avLst/>
          </a:prstGeom>
        </p:spPr>
      </p:pic>
      <p:sp>
        <p:nvSpPr>
          <p:cNvPr id="8" name="t − 3">
            <a:extLst>
              <a:ext uri="{FF2B5EF4-FFF2-40B4-BE49-F238E27FC236}">
                <a16:creationId xmlns:a16="http://schemas.microsoft.com/office/drawing/2014/main" id="{A195CB81-C7F1-4251-B443-64BA2F23A55D}"/>
              </a:ext>
            </a:extLst>
          </p:cNvPr>
          <p:cNvSpPr>
            <a:spLocks noGrp="1"/>
          </p:cNvSpPr>
          <p:nvPr/>
        </p:nvSpPr>
        <p:spPr>
          <a:xfrm>
            <a:off x="3390900" y="4362450"/>
            <a:ext cx="1752600" cy="333375"/>
          </a:xfrm>
          <a:prstGeom prst="rect">
            <a:avLst/>
          </a:prstGeom>
          <a:noFill/>
          <a:ln w="0">
            <a:noFill/>
          </a:ln>
        </p:spPr>
        <p:txBody>
          <a:bodyPr lIns="0" tIns="0" rIns="0" bIns="0" anchor="t">
            <a:noAutofit/>
          </a:bodyPr>
          <a:lstStyle>
            <a:defPPr>
              <a:defRPr sz="1800" b="0">
                <a:solidFill>
                  <a:srgbClr val="37475B"/>
                </a:solidFill>
                <a:latin typeface="Aptos"/>
                <a:ea typeface="Aptos"/>
                <a:cs typeface="Aptos"/>
              </a:defRPr>
            </a:defPPr>
            <a:lvl1pPr>
              <a:defRPr sz="1800" b="0">
                <a:solidFill>
                  <a:srgbClr val="37475B"/>
                </a:solidFill>
                <a:latin typeface="Aptos"/>
                <a:ea typeface="Aptos"/>
                <a:cs typeface="Aptos"/>
              </a:defRPr>
            </a:lvl1pPr>
            <a:lvl2pPr>
              <a:defRPr sz="1800" b="0">
                <a:solidFill>
                  <a:srgbClr val="37475B"/>
                </a:solidFill>
                <a:latin typeface="Aptos"/>
                <a:ea typeface="Aptos"/>
                <a:cs typeface="Aptos"/>
              </a:defRPr>
            </a:lvl2pPr>
            <a:lvl3pPr>
              <a:defRPr sz="1800" b="0">
                <a:solidFill>
                  <a:srgbClr val="37475B"/>
                </a:solidFill>
                <a:latin typeface="Aptos"/>
                <a:ea typeface="Aptos"/>
                <a:cs typeface="Aptos"/>
              </a:defRPr>
            </a:lvl3pPr>
            <a:lvl4pPr>
              <a:defRPr sz="1800" b="0">
                <a:solidFill>
                  <a:srgbClr val="37475B"/>
                </a:solidFill>
                <a:latin typeface="Aptos"/>
                <a:ea typeface="Aptos"/>
                <a:cs typeface="Aptos"/>
              </a:defRPr>
            </a:lvl4pPr>
            <a:lvl5pPr>
              <a:defRPr sz="1800" b="0">
                <a:solidFill>
                  <a:srgbClr val="37475B"/>
                </a:solidFill>
                <a:latin typeface="Aptos"/>
                <a:ea typeface="Aptos"/>
                <a:cs typeface="Aptos"/>
              </a:defRPr>
            </a:lvl5pPr>
            <a:lvl6pPr>
              <a:defRPr sz="1800" b="0">
                <a:solidFill>
                  <a:srgbClr val="37475B"/>
                </a:solidFill>
                <a:latin typeface="Aptos"/>
                <a:ea typeface="Aptos"/>
                <a:cs typeface="Aptos"/>
              </a:defRPr>
            </a:lvl6pPr>
            <a:lvl7pPr>
              <a:defRPr sz="1800" b="0">
                <a:solidFill>
                  <a:srgbClr val="37475B"/>
                </a:solidFill>
                <a:latin typeface="Aptos"/>
                <a:ea typeface="Aptos"/>
                <a:cs typeface="Aptos"/>
              </a:defRPr>
            </a:lvl7pPr>
            <a:lvl8pPr>
              <a:defRPr sz="1800" b="0">
                <a:solidFill>
                  <a:srgbClr val="37475B"/>
                </a:solidFill>
                <a:latin typeface="Aptos"/>
                <a:ea typeface="Aptos"/>
                <a:cs typeface="Aptos"/>
              </a:defRPr>
            </a:lvl8pPr>
            <a:lvl9pPr>
              <a:defRPr sz="1800" b="0">
                <a:solidFill>
                  <a:srgbClr val="37475B"/>
                </a:solidFill>
                <a:latin typeface="Aptos"/>
                <a:ea typeface="Aptos"/>
                <a:cs typeface="Aptos"/>
              </a:defRPr>
            </a:lvl9pPr>
          </a:lstStyle>
          <a:p>
            <a:pPr>
              <a:defRPr sz="1800" b="0">
                <a:solidFill>
                  <a:srgbClr val="37475B"/>
                </a:solidFill>
                <a:latin typeface="Aptos"/>
                <a:ea typeface="Aptos"/>
                <a:cs typeface="Aptos"/>
              </a:defRPr>
            </a:pPr>
            <a:r>
              <a:rPr sz="1800" b="0">
                <a:solidFill>
                  <a:srgbClr val="37475B"/>
                </a:solidFill>
                <a:latin typeface="Aptos"/>
                <a:ea typeface="Aptos"/>
                <a:cs typeface="Aptos"/>
              </a:rPr>
              <a:t>t − 3</a:t>
            </a:r>
          </a:p>
        </p:txBody>
      </p:sp>
      <p:pic>
        <p:nvPicPr>
          <p:cNvPr id="9" name="Picture 8">
            <a:extLst>
              <a:ext uri="{FF2B5EF4-FFF2-40B4-BE49-F238E27FC236}">
                <a16:creationId xmlns:a16="http://schemas.microsoft.com/office/drawing/2014/main" id="{6330841E-CEB8-4582-8DCE-6D3DD76362AA}"/>
              </a:ext>
            </a:extLst>
          </p:cNvPr>
          <p:cNvPicPr>
            <a:picLocks noChangeAspect="1"/>
          </p:cNvPicPr>
          <p:nvPr/>
        </p:nvPicPr>
        <p:blipFill>
          <a:blip r:embed="rId5"/>
          <a:srcRect/>
          <a:stretch>
            <a:fillRect/>
          </a:stretch>
        </p:blipFill>
        <p:spPr>
          <a:xfrm>
            <a:off x="5391150" y="2428875"/>
            <a:ext cx="1752600" cy="1752600"/>
          </a:xfrm>
          <a:prstGeom prst="rect">
            <a:avLst/>
          </a:prstGeom>
        </p:spPr>
      </p:pic>
      <p:sp>
        <p:nvSpPr>
          <p:cNvPr id="10" name="t − 2">
            <a:extLst>
              <a:ext uri="{FF2B5EF4-FFF2-40B4-BE49-F238E27FC236}">
                <a16:creationId xmlns:a16="http://schemas.microsoft.com/office/drawing/2014/main" id="{61CE1DF0-A928-4D47-935F-6A70E04D5F84}"/>
              </a:ext>
            </a:extLst>
          </p:cNvPr>
          <p:cNvSpPr>
            <a:spLocks noGrp="1"/>
          </p:cNvSpPr>
          <p:nvPr/>
        </p:nvSpPr>
        <p:spPr>
          <a:xfrm>
            <a:off x="5391150" y="4362450"/>
            <a:ext cx="1752600" cy="333375"/>
          </a:xfrm>
          <a:prstGeom prst="rect">
            <a:avLst/>
          </a:prstGeom>
          <a:noFill/>
          <a:ln w="0">
            <a:noFill/>
          </a:ln>
        </p:spPr>
        <p:txBody>
          <a:bodyPr lIns="0" tIns="0" rIns="0" bIns="0" anchor="t">
            <a:noAutofit/>
          </a:bodyPr>
          <a:lstStyle>
            <a:defPPr>
              <a:defRPr sz="1800" b="0">
                <a:solidFill>
                  <a:srgbClr val="37475B"/>
                </a:solidFill>
                <a:latin typeface="Aptos"/>
                <a:ea typeface="Aptos"/>
                <a:cs typeface="Aptos"/>
              </a:defRPr>
            </a:defPPr>
            <a:lvl1pPr>
              <a:defRPr sz="1800" b="0">
                <a:solidFill>
                  <a:srgbClr val="37475B"/>
                </a:solidFill>
                <a:latin typeface="Aptos"/>
                <a:ea typeface="Aptos"/>
                <a:cs typeface="Aptos"/>
              </a:defRPr>
            </a:lvl1pPr>
            <a:lvl2pPr>
              <a:defRPr sz="1800" b="0">
                <a:solidFill>
                  <a:srgbClr val="37475B"/>
                </a:solidFill>
                <a:latin typeface="Aptos"/>
                <a:ea typeface="Aptos"/>
                <a:cs typeface="Aptos"/>
              </a:defRPr>
            </a:lvl2pPr>
            <a:lvl3pPr>
              <a:defRPr sz="1800" b="0">
                <a:solidFill>
                  <a:srgbClr val="37475B"/>
                </a:solidFill>
                <a:latin typeface="Aptos"/>
                <a:ea typeface="Aptos"/>
                <a:cs typeface="Aptos"/>
              </a:defRPr>
            </a:lvl3pPr>
            <a:lvl4pPr>
              <a:defRPr sz="1800" b="0">
                <a:solidFill>
                  <a:srgbClr val="37475B"/>
                </a:solidFill>
                <a:latin typeface="Aptos"/>
                <a:ea typeface="Aptos"/>
                <a:cs typeface="Aptos"/>
              </a:defRPr>
            </a:lvl4pPr>
            <a:lvl5pPr>
              <a:defRPr sz="1800" b="0">
                <a:solidFill>
                  <a:srgbClr val="37475B"/>
                </a:solidFill>
                <a:latin typeface="Aptos"/>
                <a:ea typeface="Aptos"/>
                <a:cs typeface="Aptos"/>
              </a:defRPr>
            </a:lvl5pPr>
            <a:lvl6pPr>
              <a:defRPr sz="1800" b="0">
                <a:solidFill>
                  <a:srgbClr val="37475B"/>
                </a:solidFill>
                <a:latin typeface="Aptos"/>
                <a:ea typeface="Aptos"/>
                <a:cs typeface="Aptos"/>
              </a:defRPr>
            </a:lvl6pPr>
            <a:lvl7pPr>
              <a:defRPr sz="1800" b="0">
                <a:solidFill>
                  <a:srgbClr val="37475B"/>
                </a:solidFill>
                <a:latin typeface="Aptos"/>
                <a:ea typeface="Aptos"/>
                <a:cs typeface="Aptos"/>
              </a:defRPr>
            </a:lvl7pPr>
            <a:lvl8pPr>
              <a:defRPr sz="1800" b="0">
                <a:solidFill>
                  <a:srgbClr val="37475B"/>
                </a:solidFill>
                <a:latin typeface="Aptos"/>
                <a:ea typeface="Aptos"/>
                <a:cs typeface="Aptos"/>
              </a:defRPr>
            </a:lvl8pPr>
            <a:lvl9pPr>
              <a:defRPr sz="1800" b="0">
                <a:solidFill>
                  <a:srgbClr val="37475B"/>
                </a:solidFill>
                <a:latin typeface="Aptos"/>
                <a:ea typeface="Aptos"/>
                <a:cs typeface="Aptos"/>
              </a:defRPr>
            </a:lvl9pPr>
          </a:lstStyle>
          <a:p>
            <a:pPr>
              <a:defRPr sz="1800" b="0">
                <a:solidFill>
                  <a:srgbClr val="37475B"/>
                </a:solidFill>
                <a:latin typeface="Aptos"/>
                <a:ea typeface="Aptos"/>
                <a:cs typeface="Aptos"/>
              </a:defRPr>
            </a:pPr>
            <a:r>
              <a:rPr sz="1800" b="0">
                <a:solidFill>
                  <a:srgbClr val="37475B"/>
                </a:solidFill>
                <a:latin typeface="Aptos"/>
                <a:ea typeface="Aptos"/>
                <a:cs typeface="Aptos"/>
              </a:rPr>
              <a:t>t − 2</a:t>
            </a:r>
          </a:p>
        </p:txBody>
      </p:sp>
      <p:pic>
        <p:nvPicPr>
          <p:cNvPr id="11" name="Picture 10">
            <a:extLst>
              <a:ext uri="{FF2B5EF4-FFF2-40B4-BE49-F238E27FC236}">
                <a16:creationId xmlns:a16="http://schemas.microsoft.com/office/drawing/2014/main" id="{7EEC4732-BE05-4D60-887C-C0605821DC7D}"/>
              </a:ext>
            </a:extLst>
          </p:cNvPr>
          <p:cNvPicPr>
            <a:picLocks noChangeAspect="1"/>
          </p:cNvPicPr>
          <p:nvPr/>
        </p:nvPicPr>
        <p:blipFill>
          <a:blip r:embed="rId6"/>
          <a:srcRect/>
          <a:stretch>
            <a:fillRect/>
          </a:stretch>
        </p:blipFill>
        <p:spPr>
          <a:xfrm>
            <a:off x="7391400" y="2428875"/>
            <a:ext cx="1752600" cy="1752600"/>
          </a:xfrm>
          <a:prstGeom prst="rect">
            <a:avLst/>
          </a:prstGeom>
        </p:spPr>
      </p:pic>
      <p:sp>
        <p:nvSpPr>
          <p:cNvPr id="12" name="t − 1">
            <a:extLst>
              <a:ext uri="{FF2B5EF4-FFF2-40B4-BE49-F238E27FC236}">
                <a16:creationId xmlns:a16="http://schemas.microsoft.com/office/drawing/2014/main" id="{43259614-2738-465E-A021-158F4037BA70}"/>
              </a:ext>
            </a:extLst>
          </p:cNvPr>
          <p:cNvSpPr>
            <a:spLocks noGrp="1"/>
          </p:cNvSpPr>
          <p:nvPr/>
        </p:nvSpPr>
        <p:spPr>
          <a:xfrm>
            <a:off x="7391400" y="4362450"/>
            <a:ext cx="1752600" cy="333375"/>
          </a:xfrm>
          <a:prstGeom prst="rect">
            <a:avLst/>
          </a:prstGeom>
          <a:noFill/>
          <a:ln w="0">
            <a:noFill/>
          </a:ln>
        </p:spPr>
        <p:txBody>
          <a:bodyPr lIns="0" tIns="0" rIns="0" bIns="0" anchor="t">
            <a:noAutofit/>
          </a:bodyPr>
          <a:lstStyle>
            <a:defPPr>
              <a:defRPr sz="1800" b="0">
                <a:solidFill>
                  <a:srgbClr val="37475B"/>
                </a:solidFill>
                <a:latin typeface="Aptos"/>
                <a:ea typeface="Aptos"/>
                <a:cs typeface="Aptos"/>
              </a:defRPr>
            </a:defPPr>
            <a:lvl1pPr>
              <a:defRPr sz="1800" b="0">
                <a:solidFill>
                  <a:srgbClr val="37475B"/>
                </a:solidFill>
                <a:latin typeface="Aptos"/>
                <a:ea typeface="Aptos"/>
                <a:cs typeface="Aptos"/>
              </a:defRPr>
            </a:lvl1pPr>
            <a:lvl2pPr>
              <a:defRPr sz="1800" b="0">
                <a:solidFill>
                  <a:srgbClr val="37475B"/>
                </a:solidFill>
                <a:latin typeface="Aptos"/>
                <a:ea typeface="Aptos"/>
                <a:cs typeface="Aptos"/>
              </a:defRPr>
            </a:lvl2pPr>
            <a:lvl3pPr>
              <a:defRPr sz="1800" b="0">
                <a:solidFill>
                  <a:srgbClr val="37475B"/>
                </a:solidFill>
                <a:latin typeface="Aptos"/>
                <a:ea typeface="Aptos"/>
                <a:cs typeface="Aptos"/>
              </a:defRPr>
            </a:lvl3pPr>
            <a:lvl4pPr>
              <a:defRPr sz="1800" b="0">
                <a:solidFill>
                  <a:srgbClr val="37475B"/>
                </a:solidFill>
                <a:latin typeface="Aptos"/>
                <a:ea typeface="Aptos"/>
                <a:cs typeface="Aptos"/>
              </a:defRPr>
            </a:lvl4pPr>
            <a:lvl5pPr>
              <a:defRPr sz="1800" b="0">
                <a:solidFill>
                  <a:srgbClr val="37475B"/>
                </a:solidFill>
                <a:latin typeface="Aptos"/>
                <a:ea typeface="Aptos"/>
                <a:cs typeface="Aptos"/>
              </a:defRPr>
            </a:lvl5pPr>
            <a:lvl6pPr>
              <a:defRPr sz="1800" b="0">
                <a:solidFill>
                  <a:srgbClr val="37475B"/>
                </a:solidFill>
                <a:latin typeface="Aptos"/>
                <a:ea typeface="Aptos"/>
                <a:cs typeface="Aptos"/>
              </a:defRPr>
            </a:lvl6pPr>
            <a:lvl7pPr>
              <a:defRPr sz="1800" b="0">
                <a:solidFill>
                  <a:srgbClr val="37475B"/>
                </a:solidFill>
                <a:latin typeface="Aptos"/>
                <a:ea typeface="Aptos"/>
                <a:cs typeface="Aptos"/>
              </a:defRPr>
            </a:lvl7pPr>
            <a:lvl8pPr>
              <a:defRPr sz="1800" b="0">
                <a:solidFill>
                  <a:srgbClr val="37475B"/>
                </a:solidFill>
                <a:latin typeface="Aptos"/>
                <a:ea typeface="Aptos"/>
                <a:cs typeface="Aptos"/>
              </a:defRPr>
            </a:lvl8pPr>
            <a:lvl9pPr>
              <a:defRPr sz="1800" b="0">
                <a:solidFill>
                  <a:srgbClr val="37475B"/>
                </a:solidFill>
                <a:latin typeface="Aptos"/>
                <a:ea typeface="Aptos"/>
                <a:cs typeface="Aptos"/>
              </a:defRPr>
            </a:lvl9pPr>
          </a:lstStyle>
          <a:p>
            <a:pPr>
              <a:defRPr sz="1800" b="0">
                <a:solidFill>
                  <a:srgbClr val="37475B"/>
                </a:solidFill>
                <a:latin typeface="Aptos"/>
                <a:ea typeface="Aptos"/>
                <a:cs typeface="Aptos"/>
              </a:defRPr>
            </a:pPr>
            <a:r>
              <a:rPr sz="1800" b="0">
                <a:solidFill>
                  <a:srgbClr val="37475B"/>
                </a:solidFill>
                <a:latin typeface="Aptos"/>
                <a:ea typeface="Aptos"/>
                <a:cs typeface="Aptos"/>
              </a:rPr>
              <a:t>t − 1</a:t>
            </a:r>
          </a:p>
        </p:txBody>
      </p:sp>
      <p:pic>
        <p:nvPicPr>
          <p:cNvPr id="13" name="Picture 12">
            <a:extLst>
              <a:ext uri="{FF2B5EF4-FFF2-40B4-BE49-F238E27FC236}">
                <a16:creationId xmlns:a16="http://schemas.microsoft.com/office/drawing/2014/main" id="{24306790-F6B2-4802-8495-D2565F79A874}"/>
              </a:ext>
            </a:extLst>
          </p:cNvPr>
          <p:cNvPicPr>
            <a:picLocks noChangeAspect="1"/>
          </p:cNvPicPr>
          <p:nvPr/>
        </p:nvPicPr>
        <p:blipFill>
          <a:blip r:embed="rId7"/>
          <a:srcRect/>
          <a:stretch>
            <a:fillRect/>
          </a:stretch>
        </p:blipFill>
        <p:spPr>
          <a:xfrm>
            <a:off x="9391650" y="2428875"/>
            <a:ext cx="1752600" cy="1752600"/>
          </a:xfrm>
          <a:prstGeom prst="rect">
            <a:avLst/>
          </a:prstGeom>
        </p:spPr>
      </p:pic>
      <p:sp>
        <p:nvSpPr>
          <p:cNvPr id="14" name="t">
            <a:extLst>
              <a:ext uri="{FF2B5EF4-FFF2-40B4-BE49-F238E27FC236}">
                <a16:creationId xmlns:a16="http://schemas.microsoft.com/office/drawing/2014/main" id="{99073544-4E9C-4397-A048-AB14B486CC21}"/>
              </a:ext>
            </a:extLst>
          </p:cNvPr>
          <p:cNvSpPr>
            <a:spLocks noGrp="1"/>
          </p:cNvSpPr>
          <p:nvPr/>
        </p:nvSpPr>
        <p:spPr>
          <a:xfrm>
            <a:off x="9391650" y="4362450"/>
            <a:ext cx="1752600" cy="333375"/>
          </a:xfrm>
          <a:prstGeom prst="rect">
            <a:avLst/>
          </a:prstGeom>
          <a:noFill/>
          <a:ln w="0">
            <a:noFill/>
          </a:ln>
        </p:spPr>
        <p:txBody>
          <a:bodyPr lIns="0" tIns="0" rIns="0" bIns="0" anchor="t">
            <a:noAutofit/>
          </a:bodyPr>
          <a:lstStyle>
            <a:defPPr>
              <a:defRPr sz="1800" b="0">
                <a:solidFill>
                  <a:srgbClr val="37475B"/>
                </a:solidFill>
                <a:latin typeface="Aptos"/>
                <a:ea typeface="Aptos"/>
                <a:cs typeface="Aptos"/>
              </a:defRPr>
            </a:defPPr>
            <a:lvl1pPr>
              <a:defRPr sz="1800" b="0">
                <a:solidFill>
                  <a:srgbClr val="37475B"/>
                </a:solidFill>
                <a:latin typeface="Aptos"/>
                <a:ea typeface="Aptos"/>
                <a:cs typeface="Aptos"/>
              </a:defRPr>
            </a:lvl1pPr>
            <a:lvl2pPr>
              <a:defRPr sz="1800" b="0">
                <a:solidFill>
                  <a:srgbClr val="37475B"/>
                </a:solidFill>
                <a:latin typeface="Aptos"/>
                <a:ea typeface="Aptos"/>
                <a:cs typeface="Aptos"/>
              </a:defRPr>
            </a:lvl2pPr>
            <a:lvl3pPr>
              <a:defRPr sz="1800" b="0">
                <a:solidFill>
                  <a:srgbClr val="37475B"/>
                </a:solidFill>
                <a:latin typeface="Aptos"/>
                <a:ea typeface="Aptos"/>
                <a:cs typeface="Aptos"/>
              </a:defRPr>
            </a:lvl3pPr>
            <a:lvl4pPr>
              <a:defRPr sz="1800" b="0">
                <a:solidFill>
                  <a:srgbClr val="37475B"/>
                </a:solidFill>
                <a:latin typeface="Aptos"/>
                <a:ea typeface="Aptos"/>
                <a:cs typeface="Aptos"/>
              </a:defRPr>
            </a:lvl4pPr>
            <a:lvl5pPr>
              <a:defRPr sz="1800" b="0">
                <a:solidFill>
                  <a:srgbClr val="37475B"/>
                </a:solidFill>
                <a:latin typeface="Aptos"/>
                <a:ea typeface="Aptos"/>
                <a:cs typeface="Aptos"/>
              </a:defRPr>
            </a:lvl5pPr>
            <a:lvl6pPr>
              <a:defRPr sz="1800" b="0">
                <a:solidFill>
                  <a:srgbClr val="37475B"/>
                </a:solidFill>
                <a:latin typeface="Aptos"/>
                <a:ea typeface="Aptos"/>
                <a:cs typeface="Aptos"/>
              </a:defRPr>
            </a:lvl6pPr>
            <a:lvl7pPr>
              <a:defRPr sz="1800" b="0">
                <a:solidFill>
                  <a:srgbClr val="37475B"/>
                </a:solidFill>
                <a:latin typeface="Aptos"/>
                <a:ea typeface="Aptos"/>
                <a:cs typeface="Aptos"/>
              </a:defRPr>
            </a:lvl7pPr>
            <a:lvl8pPr>
              <a:defRPr sz="1800" b="0">
                <a:solidFill>
                  <a:srgbClr val="37475B"/>
                </a:solidFill>
                <a:latin typeface="Aptos"/>
                <a:ea typeface="Aptos"/>
                <a:cs typeface="Aptos"/>
              </a:defRPr>
            </a:lvl8pPr>
            <a:lvl9pPr>
              <a:defRPr sz="1800" b="0">
                <a:solidFill>
                  <a:srgbClr val="37475B"/>
                </a:solidFill>
                <a:latin typeface="Aptos"/>
                <a:ea typeface="Aptos"/>
                <a:cs typeface="Aptos"/>
              </a:defRPr>
            </a:lvl9pPr>
          </a:lstStyle>
          <a:p>
            <a:pPr>
              <a:defRPr sz="1800" b="0">
                <a:solidFill>
                  <a:srgbClr val="37475B"/>
                </a:solidFill>
                <a:latin typeface="Aptos"/>
                <a:ea typeface="Aptos"/>
                <a:cs typeface="Aptos"/>
              </a:defRPr>
            </a:pPr>
            <a:r>
              <a:rPr sz="1800" b="0">
                <a:solidFill>
                  <a:srgbClr val="37475B"/>
                </a:solidFill>
                <a:latin typeface="Aptos"/>
                <a:ea typeface="Aptos"/>
                <a:cs typeface="Aptos"/>
              </a:rPr>
              <a:t>t</a:t>
            </a:r>
          </a:p>
        </p:txBody>
      </p:sp>
      <p:sp>
        <p:nvSpPr>
          <p:cNvPr id="15" name="Network input: 4 × 84 × 84">
            <a:extLst>
              <a:ext uri="{FF2B5EF4-FFF2-40B4-BE49-F238E27FC236}">
                <a16:creationId xmlns:a16="http://schemas.microsoft.com/office/drawing/2014/main" id="{FF48CA88-C9CF-445F-B6F4-90DE3C43FBE1}"/>
              </a:ext>
            </a:extLst>
          </p:cNvPr>
          <p:cNvSpPr>
            <a:spLocks noGrp="1"/>
          </p:cNvSpPr>
          <p:nvPr/>
        </p:nvSpPr>
        <p:spPr>
          <a:xfrm>
            <a:off x="3419475" y="5086350"/>
            <a:ext cx="7620000" cy="523875"/>
          </a:xfrm>
          <a:prstGeom prst="rect">
            <a:avLst/>
          </a:prstGeom>
          <a:noFill/>
          <a:ln w="0">
            <a:noFill/>
          </a:ln>
        </p:spPr>
        <p:txBody>
          <a:bodyPr lIns="0" tIns="0" rIns="0" bIns="0" anchor="t">
            <a:noAutofit/>
          </a:bodyPr>
          <a:lstStyle>
            <a:defPPr>
              <a:defRPr sz="2700" b="1">
                <a:solidFill>
                  <a:srgbClr val="087F8C"/>
                </a:solidFill>
                <a:latin typeface="Aptos"/>
                <a:ea typeface="Aptos"/>
                <a:cs typeface="Aptos"/>
              </a:defRPr>
            </a:defPPr>
            <a:lvl1pPr>
              <a:defRPr sz="2700" b="1">
                <a:solidFill>
                  <a:srgbClr val="087F8C"/>
                </a:solidFill>
                <a:latin typeface="Aptos"/>
                <a:ea typeface="Aptos"/>
                <a:cs typeface="Aptos"/>
              </a:defRPr>
            </a:lvl1pPr>
            <a:lvl2pPr>
              <a:defRPr sz="2700" b="1">
                <a:solidFill>
                  <a:srgbClr val="087F8C"/>
                </a:solidFill>
                <a:latin typeface="Aptos"/>
                <a:ea typeface="Aptos"/>
                <a:cs typeface="Aptos"/>
              </a:defRPr>
            </a:lvl2pPr>
            <a:lvl3pPr>
              <a:defRPr sz="2700" b="1">
                <a:solidFill>
                  <a:srgbClr val="087F8C"/>
                </a:solidFill>
                <a:latin typeface="Aptos"/>
                <a:ea typeface="Aptos"/>
                <a:cs typeface="Aptos"/>
              </a:defRPr>
            </a:lvl3pPr>
            <a:lvl4pPr>
              <a:defRPr sz="2700" b="1">
                <a:solidFill>
                  <a:srgbClr val="087F8C"/>
                </a:solidFill>
                <a:latin typeface="Aptos"/>
                <a:ea typeface="Aptos"/>
                <a:cs typeface="Aptos"/>
              </a:defRPr>
            </a:lvl4pPr>
            <a:lvl5pPr>
              <a:defRPr sz="2700" b="1">
                <a:solidFill>
                  <a:srgbClr val="087F8C"/>
                </a:solidFill>
                <a:latin typeface="Aptos"/>
                <a:ea typeface="Aptos"/>
                <a:cs typeface="Aptos"/>
              </a:defRPr>
            </a:lvl5pPr>
            <a:lvl6pPr>
              <a:defRPr sz="2700" b="1">
                <a:solidFill>
                  <a:srgbClr val="087F8C"/>
                </a:solidFill>
                <a:latin typeface="Aptos"/>
                <a:ea typeface="Aptos"/>
                <a:cs typeface="Aptos"/>
              </a:defRPr>
            </a:lvl6pPr>
            <a:lvl7pPr>
              <a:defRPr sz="2700" b="1">
                <a:solidFill>
                  <a:srgbClr val="087F8C"/>
                </a:solidFill>
                <a:latin typeface="Aptos"/>
                <a:ea typeface="Aptos"/>
                <a:cs typeface="Aptos"/>
              </a:defRPr>
            </a:lvl7pPr>
            <a:lvl8pPr>
              <a:defRPr sz="2700" b="1">
                <a:solidFill>
                  <a:srgbClr val="087F8C"/>
                </a:solidFill>
                <a:latin typeface="Aptos"/>
                <a:ea typeface="Aptos"/>
                <a:cs typeface="Aptos"/>
              </a:defRPr>
            </a:lvl8pPr>
            <a:lvl9pPr>
              <a:defRPr sz="2700" b="1">
                <a:solidFill>
                  <a:srgbClr val="087F8C"/>
                </a:solidFill>
                <a:latin typeface="Aptos"/>
                <a:ea typeface="Aptos"/>
                <a:cs typeface="Aptos"/>
              </a:defRPr>
            </a:lvl9pPr>
          </a:lstStyle>
          <a:p>
            <a:pPr>
              <a:defRPr sz="2700" b="1">
                <a:solidFill>
                  <a:srgbClr val="087F8C"/>
                </a:solidFill>
                <a:latin typeface="Aptos"/>
                <a:ea typeface="Aptos"/>
                <a:cs typeface="Aptos"/>
              </a:defRPr>
            </a:pPr>
            <a:r>
              <a:rPr sz="2700" b="1">
                <a:solidFill>
                  <a:srgbClr val="087F8C"/>
                </a:solidFill>
                <a:latin typeface="Aptos"/>
                <a:ea typeface="Aptos"/>
                <a:cs typeface="Aptos"/>
              </a:rPr>
              <a:t>Network input: 4 × 84 × 84</a:t>
            </a:r>
          </a:p>
        </p:txBody>
      </p:sp>
      <p:sp>
        <p:nvSpPr>
          <p:cNvPr id="16" name="Repeat each action for 4 emulator frames. Scale pixel v">
            <a:extLst>
              <a:ext uri="{FF2B5EF4-FFF2-40B4-BE49-F238E27FC236}">
                <a16:creationId xmlns:a16="http://schemas.microsoft.com/office/drawing/2014/main" id="{B6423EB9-2233-4C88-A8A4-A210D37C7566}"/>
              </a:ext>
            </a:extLst>
          </p:cNvPr>
          <p:cNvSpPr>
            <a:spLocks noGrp="1"/>
          </p:cNvSpPr>
          <p:nvPr/>
        </p:nvSpPr>
        <p:spPr>
          <a:xfrm>
            <a:off x="619125" y="5953125"/>
            <a:ext cx="10715625" cy="304800"/>
          </a:xfrm>
          <a:prstGeom prst="rect">
            <a:avLst/>
          </a:prstGeom>
          <a:noFill/>
          <a:ln w="0">
            <a:noFill/>
          </a:ln>
        </p:spPr>
        <p:txBody>
          <a:bodyPr lIns="0" tIns="0" rIns="0" bIns="0" anchor="t">
            <a:noAutofit/>
          </a:bodyPr>
          <a:lstStyle>
            <a:defPPr>
              <a:defRPr sz="1725" b="0">
                <a:solidFill>
                  <a:srgbClr val="37475B"/>
                </a:solidFill>
                <a:latin typeface="Aptos"/>
                <a:ea typeface="Aptos"/>
                <a:cs typeface="Aptos"/>
              </a:defRPr>
            </a:defPPr>
            <a:lvl1pPr>
              <a:defRPr sz="1725" b="0">
                <a:solidFill>
                  <a:srgbClr val="37475B"/>
                </a:solidFill>
                <a:latin typeface="Aptos"/>
                <a:ea typeface="Aptos"/>
                <a:cs typeface="Aptos"/>
              </a:defRPr>
            </a:lvl1pPr>
            <a:lvl2pPr>
              <a:defRPr sz="1725" b="0">
                <a:solidFill>
                  <a:srgbClr val="37475B"/>
                </a:solidFill>
                <a:latin typeface="Aptos"/>
                <a:ea typeface="Aptos"/>
                <a:cs typeface="Aptos"/>
              </a:defRPr>
            </a:lvl2pPr>
            <a:lvl3pPr>
              <a:defRPr sz="1725" b="0">
                <a:solidFill>
                  <a:srgbClr val="37475B"/>
                </a:solidFill>
                <a:latin typeface="Aptos"/>
                <a:ea typeface="Aptos"/>
                <a:cs typeface="Aptos"/>
              </a:defRPr>
            </a:lvl3pPr>
            <a:lvl4pPr>
              <a:defRPr sz="1725" b="0">
                <a:solidFill>
                  <a:srgbClr val="37475B"/>
                </a:solidFill>
                <a:latin typeface="Aptos"/>
                <a:ea typeface="Aptos"/>
                <a:cs typeface="Aptos"/>
              </a:defRPr>
            </a:lvl4pPr>
            <a:lvl5pPr>
              <a:defRPr sz="1725" b="0">
                <a:solidFill>
                  <a:srgbClr val="37475B"/>
                </a:solidFill>
                <a:latin typeface="Aptos"/>
                <a:ea typeface="Aptos"/>
                <a:cs typeface="Aptos"/>
              </a:defRPr>
            </a:lvl5pPr>
            <a:lvl6pPr>
              <a:defRPr sz="1725" b="0">
                <a:solidFill>
                  <a:srgbClr val="37475B"/>
                </a:solidFill>
                <a:latin typeface="Aptos"/>
                <a:ea typeface="Aptos"/>
                <a:cs typeface="Aptos"/>
              </a:defRPr>
            </a:lvl6pPr>
            <a:lvl7pPr>
              <a:defRPr sz="1725" b="0">
                <a:solidFill>
                  <a:srgbClr val="37475B"/>
                </a:solidFill>
                <a:latin typeface="Aptos"/>
                <a:ea typeface="Aptos"/>
                <a:cs typeface="Aptos"/>
              </a:defRPr>
            </a:lvl7pPr>
            <a:lvl8pPr>
              <a:defRPr sz="1725" b="0">
                <a:solidFill>
                  <a:srgbClr val="37475B"/>
                </a:solidFill>
                <a:latin typeface="Aptos"/>
                <a:ea typeface="Aptos"/>
                <a:cs typeface="Aptos"/>
              </a:defRPr>
            </a:lvl8pPr>
            <a:lvl9pPr>
              <a:defRPr sz="1725" b="0">
                <a:solidFill>
                  <a:srgbClr val="37475B"/>
                </a:solidFill>
                <a:latin typeface="Aptos"/>
                <a:ea typeface="Aptos"/>
                <a:cs typeface="Aptos"/>
              </a:defRPr>
            </a:lvl9pPr>
          </a:lstStyle>
          <a:p>
            <a:pPr>
              <a:defRPr sz="1725" b="0">
                <a:solidFill>
                  <a:srgbClr val="37475B"/>
                </a:solidFill>
                <a:latin typeface="Aptos"/>
                <a:ea typeface="Aptos"/>
                <a:cs typeface="Aptos"/>
              </a:defRPr>
            </a:pPr>
            <a:r>
              <a:rPr sz="1725" b="0">
                <a:solidFill>
                  <a:srgbClr val="37475B"/>
                </a:solidFill>
                <a:latin typeface="Aptos"/>
                <a:ea typeface="Aptos"/>
                <a:cs typeface="Aptos"/>
              </a:rPr>
              <a:t>Repeat each action for 4 emulator frames. Scale pixel values by 255.</a:t>
            </a:r>
          </a:p>
        </p:txBody>
      </p:sp>
    </p:spTree>
    <p:extLst>
      <p:ext uri="{BB962C8B-B14F-4D97-AF65-F5344CB8AC3E}">
        <p14:creationId xmlns:p14="http://schemas.microsoft.com/office/powerpoint/2010/main" val="912466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he convolutional Q-network">
            <a:extLst>
              <a:ext uri="{FF2B5EF4-FFF2-40B4-BE49-F238E27FC236}">
                <a16:creationId xmlns:a16="http://schemas.microsoft.com/office/drawing/2014/main" id="{AB474AFA-E48A-404D-8B36-C197BA40F88A}"/>
              </a:ext>
            </a:extLst>
          </p:cNvPr>
          <p:cNvSpPr>
            <a:spLocks noGrp="1"/>
          </p:cNvSpPr>
          <p:nvPr/>
        </p:nvSpPr>
        <p:spPr>
          <a:xfrm>
            <a:off x="609600" y="438150"/>
            <a:ext cx="10763250" cy="666750"/>
          </a:xfrm>
          <a:prstGeom prst="rect">
            <a:avLst/>
          </a:prstGeom>
          <a:noFill/>
          <a:ln w="0">
            <a:noFill/>
          </a:ln>
        </p:spPr>
        <p:txBody>
          <a:bodyPr lIns="0" tIns="0" rIns="0" bIns="0" anchor="t">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The convolutional Q-network</a:t>
            </a:r>
          </a:p>
        </p:txBody>
      </p:sp>
      <p:sp>
        <p:nvSpPr>
          <p:cNvPr id="3" name="05">
            <a:extLst>
              <a:ext uri="{FF2B5EF4-FFF2-40B4-BE49-F238E27FC236}">
                <a16:creationId xmlns:a16="http://schemas.microsoft.com/office/drawing/2014/main" id="{DA54D662-7CB1-4264-A29B-BA5FEB135714}"/>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06</a:t>
            </a:r>
          </a:p>
        </p:txBody>
      </p:sp>
      <p:graphicFrame>
        <p:nvGraphicFramePr>
          <p:cNvPr id="4" name="Table 3">
            <a:extLst>
              <a:ext uri="{FF2B5EF4-FFF2-40B4-BE49-F238E27FC236}">
                <a16:creationId xmlns:a16="http://schemas.microsoft.com/office/drawing/2014/main" id="{1B5B5318-A32B-4C8B-8320-F12F16B0FA36}"/>
              </a:ext>
            </a:extLst>
          </p:cNvPr>
          <p:cNvGraphicFramePr/>
          <p:nvPr/>
        </p:nvGraphicFramePr>
        <p:xfrm>
          <a:off x="609600" y="1495425"/>
          <a:ext cx="10972800" cy="4019550"/>
        </p:xfrm>
        <a:graphic>
          <a:graphicData uri="http://schemas.openxmlformats.org/drawingml/2006/table">
            <a:tbl>
              <a:tblPr/>
              <a:tblGrid>
                <a:gridCol w="2857500">
                  <a:extLst>
                    <a:ext uri="{9D8B030D-6E8A-4147-A177-3AD203B41FA5}">
                      <a16:colId xmlns:a16="http://schemas.microsoft.com/office/drawing/2014/main" val="20000"/>
                    </a:ext>
                  </a:extLst>
                </a:gridCol>
                <a:gridCol w="4953000">
                  <a:extLst>
                    <a:ext uri="{9D8B030D-6E8A-4147-A177-3AD203B41FA5}">
                      <a16:colId xmlns:a16="http://schemas.microsoft.com/office/drawing/2014/main" val="20001"/>
                    </a:ext>
                  </a:extLst>
                </a:gridCol>
                <a:gridCol w="3162300">
                  <a:extLst>
                    <a:ext uri="{9D8B030D-6E8A-4147-A177-3AD203B41FA5}">
                      <a16:colId xmlns:a16="http://schemas.microsoft.com/office/drawing/2014/main" val="20002"/>
                    </a:ext>
                  </a:extLst>
                </a:gridCol>
              </a:tblGrid>
              <a:tr h="669925">
                <a:tc>
                  <a:txBody>
                    <a:bodyPr/>
                    <a:lstStyle/>
                    <a:p>
                      <a:r>
                        <a:rPr sz="1800" b="1">
                          <a:solidFill>
                            <a:srgbClr val="087F8C"/>
                          </a:solidFill>
                          <a:latin typeface="Aptos"/>
                          <a:ea typeface="Aptos"/>
                          <a:cs typeface="Aptos"/>
                        </a:rPr>
                        <a:t>Layer</a:t>
                      </a:r>
                    </a:p>
                  </a:txBody>
                  <a:tcPr anchor="ctr">
                    <a:lnL w="9525">
                      <a:solidFill>
                        <a:srgbClr val="D4DEE8"/>
                      </a:solidFill>
                      <a:prstDash val="solid"/>
                    </a:lnL>
                    <a:lnR w="9525">
                      <a:solidFill>
                        <a:srgbClr val="D4DEE8"/>
                      </a:solidFill>
                      <a:prstDash val="solid"/>
                    </a:lnR>
                    <a:lnT w="9525">
                      <a:solidFill>
                        <a:srgbClr val="D4DEE8"/>
                      </a:solidFill>
                      <a:prstDash val="solid"/>
                    </a:lnT>
                    <a:lnB w="9525">
                      <a:solidFill>
                        <a:srgbClr val="D4DEE8"/>
                      </a:solidFill>
                      <a:prstDash val="solid"/>
                    </a:lnB>
                    <a:solidFill>
                      <a:srgbClr val="E7EEF5"/>
                    </a:solidFill>
                  </a:tcPr>
                </a:tc>
                <a:tc>
                  <a:txBody>
                    <a:bodyPr/>
                    <a:lstStyle/>
                    <a:p>
                      <a:r>
                        <a:rPr sz="1800" b="1">
                          <a:solidFill>
                            <a:srgbClr val="087F8C"/>
                          </a:solidFill>
                          <a:latin typeface="Aptos"/>
                          <a:ea typeface="Aptos"/>
                          <a:cs typeface="Aptos"/>
                        </a:rPr>
                        <a:t>Configuration</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E7EEF5"/>
                    </a:solidFill>
                  </a:tcPr>
                </a:tc>
                <a:tc>
                  <a:txBody>
                    <a:bodyPr/>
                    <a:lstStyle/>
                    <a:p>
                      <a:r>
                        <a:rPr sz="1800" b="1">
                          <a:solidFill>
                            <a:srgbClr val="087F8C"/>
                          </a:solidFill>
                          <a:latin typeface="Aptos"/>
                          <a:ea typeface="Aptos"/>
                          <a:cs typeface="Aptos"/>
                        </a:rPr>
                        <a:t>Output shape</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E7EEF5"/>
                    </a:solidFill>
                  </a:tcPr>
                </a:tc>
                <a:extLst>
                  <a:ext uri="{0D108BD9-81ED-4DB2-BD59-A6C34878D82A}">
                    <a16:rowId xmlns:a16="http://schemas.microsoft.com/office/drawing/2014/main" val="10000"/>
                  </a:ext>
                </a:extLst>
              </a:tr>
              <a:tr h="669925">
                <a:tc>
                  <a:txBody>
                    <a:bodyPr/>
                    <a:lstStyle/>
                    <a:p>
                      <a:r>
                        <a:rPr sz="1800" b="0">
                          <a:solidFill>
                            <a:srgbClr val="18324F"/>
                          </a:solidFill>
                          <a:latin typeface="Aptos"/>
                          <a:ea typeface="Aptos"/>
                          <a:cs typeface="Aptos"/>
                        </a:rPr>
                        <a:t>Input</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800" b="0">
                          <a:solidFill>
                            <a:srgbClr val="18324F"/>
                          </a:solidFill>
                          <a:latin typeface="Aptos"/>
                          <a:ea typeface="Aptos"/>
                          <a:cs typeface="Aptos"/>
                        </a:rPr>
                        <a:t>4 grayscale frames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800" b="0">
                          <a:solidFill>
                            <a:srgbClr val="18324F"/>
                          </a:solidFill>
                          <a:latin typeface="Aptos"/>
                          <a:ea typeface="Aptos"/>
                          <a:cs typeface="Aptos"/>
                        </a:rPr>
                        <a:t>4 × 84 × 84</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extLst>
                  <a:ext uri="{0D108BD9-81ED-4DB2-BD59-A6C34878D82A}">
                    <a16:rowId xmlns:a16="http://schemas.microsoft.com/office/drawing/2014/main" val="10001"/>
                  </a:ext>
                </a:extLst>
              </a:tr>
              <a:tr h="669925">
                <a:tc>
                  <a:txBody>
                    <a:bodyPr/>
                    <a:lstStyle/>
                    <a:p>
                      <a:r>
                        <a:rPr sz="1800" b="0">
                          <a:solidFill>
                            <a:srgbClr val="18324F"/>
                          </a:solidFill>
                          <a:latin typeface="Aptos"/>
                          <a:ea typeface="Aptos"/>
                          <a:cs typeface="Aptos"/>
                        </a:rPr>
                        <a:t>Convolution + ReLU</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800" b="0">
                          <a:solidFill>
                            <a:srgbClr val="18324F"/>
                          </a:solidFill>
                          <a:latin typeface="Aptos"/>
                          <a:ea typeface="Aptos"/>
                          <a:cs typeface="Aptos"/>
                        </a:rPr>
                        <a:t>16 filters, 8 × 8, stride 4</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800" b="0">
                          <a:solidFill>
                            <a:srgbClr val="18324F"/>
                          </a:solidFill>
                          <a:latin typeface="Aptos"/>
                          <a:ea typeface="Aptos"/>
                          <a:cs typeface="Aptos"/>
                        </a:rPr>
                        <a:t>16 × 20 × 20</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extLst>
                  <a:ext uri="{0D108BD9-81ED-4DB2-BD59-A6C34878D82A}">
                    <a16:rowId xmlns:a16="http://schemas.microsoft.com/office/drawing/2014/main" val="10002"/>
                  </a:ext>
                </a:extLst>
              </a:tr>
              <a:tr h="669925">
                <a:tc>
                  <a:txBody>
                    <a:bodyPr/>
                    <a:lstStyle/>
                    <a:p>
                      <a:r>
                        <a:rPr sz="1800" b="0">
                          <a:solidFill>
                            <a:srgbClr val="18324F"/>
                          </a:solidFill>
                          <a:latin typeface="Aptos"/>
                          <a:ea typeface="Aptos"/>
                          <a:cs typeface="Aptos"/>
                        </a:rPr>
                        <a:t>Convolution + ReLU</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800" b="0">
                          <a:solidFill>
                            <a:srgbClr val="18324F"/>
                          </a:solidFill>
                          <a:latin typeface="Aptos"/>
                          <a:ea typeface="Aptos"/>
                          <a:cs typeface="Aptos"/>
                        </a:rPr>
                        <a:t>32 filters, 4 × 4, stride 2</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800" b="0">
                          <a:solidFill>
                            <a:srgbClr val="18324F"/>
                          </a:solidFill>
                          <a:latin typeface="Aptos"/>
                          <a:ea typeface="Aptos"/>
                          <a:cs typeface="Aptos"/>
                        </a:rPr>
                        <a:t>32 × 9 × 9</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extLst>
                  <a:ext uri="{0D108BD9-81ED-4DB2-BD59-A6C34878D82A}">
                    <a16:rowId xmlns:a16="http://schemas.microsoft.com/office/drawing/2014/main" val="10003"/>
                  </a:ext>
                </a:extLst>
              </a:tr>
              <a:tr h="669925">
                <a:tc>
                  <a:txBody>
                    <a:bodyPr/>
                    <a:lstStyle/>
                    <a:p>
                      <a:r>
                        <a:rPr sz="1800" b="0">
                          <a:solidFill>
                            <a:srgbClr val="18324F"/>
                          </a:solidFill>
                          <a:latin typeface="Aptos"/>
                          <a:ea typeface="Aptos"/>
                          <a:cs typeface="Aptos"/>
                        </a:rPr>
                        <a:t>Flatten + dense + ReLU</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800" b="0">
                          <a:solidFill>
                            <a:srgbClr val="18324F"/>
                          </a:solidFill>
                          <a:latin typeface="Aptos"/>
                          <a:ea typeface="Aptos"/>
                          <a:cs typeface="Aptos"/>
                        </a:rPr>
                        <a:t>2,592 inputs, 256 units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800" b="0">
                          <a:solidFill>
                            <a:srgbClr val="18324F"/>
                          </a:solidFill>
                          <a:latin typeface="Aptos"/>
                          <a:ea typeface="Aptos"/>
                          <a:cs typeface="Aptos"/>
                        </a:rPr>
                        <a:t>256</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extLst>
                  <a:ext uri="{0D108BD9-81ED-4DB2-BD59-A6C34878D82A}">
                    <a16:rowId xmlns:a16="http://schemas.microsoft.com/office/drawing/2014/main" val="10004"/>
                  </a:ext>
                </a:extLst>
              </a:tr>
              <a:tr h="669925">
                <a:tc>
                  <a:txBody>
                    <a:bodyPr/>
                    <a:lstStyle/>
                    <a:p>
                      <a:r>
                        <a:rPr sz="1800" b="0">
                          <a:solidFill>
                            <a:srgbClr val="18324F"/>
                          </a:solidFill>
                          <a:latin typeface="Aptos"/>
                          <a:ea typeface="Aptos"/>
                          <a:cs typeface="Aptos"/>
                        </a:rPr>
                        <a:t>Linear output</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800" b="0">
                          <a:solidFill>
                            <a:srgbClr val="18324F"/>
                          </a:solidFill>
                          <a:latin typeface="Aptos"/>
                          <a:ea typeface="Aptos"/>
                          <a:cs typeface="Aptos"/>
                        </a:rPr>
                        <a:t>One Q-value per action</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800" b="0">
                          <a:solidFill>
                            <a:srgbClr val="18324F"/>
                          </a:solidFill>
                          <a:latin typeface="Aptos"/>
                          <a:ea typeface="Aptos"/>
                          <a:cs typeface="Aptos"/>
                        </a:rPr>
                        <a:t>4</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extLst>
                  <a:ext uri="{0D108BD9-81ED-4DB2-BD59-A6C34878D82A}">
                    <a16:rowId xmlns:a16="http://schemas.microsoft.com/office/drawing/2014/main" val="10005"/>
                  </a:ext>
                </a:extLst>
              </a:tr>
            </a:tbl>
          </a:graphicData>
        </a:graphic>
      </p:graphicFrame>
      <p:sp>
        <p:nvSpPr>
          <p:cNvPr id="5" name="677,172 trainable parameters">
            <a:extLst>
              <a:ext uri="{FF2B5EF4-FFF2-40B4-BE49-F238E27FC236}">
                <a16:creationId xmlns:a16="http://schemas.microsoft.com/office/drawing/2014/main" id="{5FC0DE5E-9CEC-45DD-9931-8DBE13761319}"/>
              </a:ext>
            </a:extLst>
          </p:cNvPr>
          <p:cNvSpPr>
            <a:spLocks noGrp="1"/>
          </p:cNvSpPr>
          <p:nvPr/>
        </p:nvSpPr>
        <p:spPr>
          <a:xfrm>
            <a:off x="619125" y="5753100"/>
            <a:ext cx="6477000" cy="428625"/>
          </a:xfrm>
          <a:prstGeom prst="rect">
            <a:avLst/>
          </a:prstGeom>
          <a:noFill/>
          <a:ln w="0">
            <a:noFill/>
          </a:ln>
        </p:spPr>
        <p:txBody>
          <a:bodyPr lIns="0" tIns="0" rIns="0" bIns="0" anchor="t">
            <a:noAutofit/>
          </a:bodyPr>
          <a:lstStyle>
            <a:defPPr>
              <a:defRPr sz="2325" b="1">
                <a:solidFill>
                  <a:srgbClr val="087F8C"/>
                </a:solidFill>
                <a:latin typeface="Aptos"/>
                <a:ea typeface="Aptos"/>
                <a:cs typeface="Aptos"/>
              </a:defRPr>
            </a:defPPr>
            <a:lvl1pPr>
              <a:defRPr sz="2325" b="1">
                <a:solidFill>
                  <a:srgbClr val="087F8C"/>
                </a:solidFill>
                <a:latin typeface="Aptos"/>
                <a:ea typeface="Aptos"/>
                <a:cs typeface="Aptos"/>
              </a:defRPr>
            </a:lvl1pPr>
            <a:lvl2pPr>
              <a:defRPr sz="2325" b="1">
                <a:solidFill>
                  <a:srgbClr val="087F8C"/>
                </a:solidFill>
                <a:latin typeface="Aptos"/>
                <a:ea typeface="Aptos"/>
                <a:cs typeface="Aptos"/>
              </a:defRPr>
            </a:lvl2pPr>
            <a:lvl3pPr>
              <a:defRPr sz="2325" b="1">
                <a:solidFill>
                  <a:srgbClr val="087F8C"/>
                </a:solidFill>
                <a:latin typeface="Aptos"/>
                <a:ea typeface="Aptos"/>
                <a:cs typeface="Aptos"/>
              </a:defRPr>
            </a:lvl3pPr>
            <a:lvl4pPr>
              <a:defRPr sz="2325" b="1">
                <a:solidFill>
                  <a:srgbClr val="087F8C"/>
                </a:solidFill>
                <a:latin typeface="Aptos"/>
                <a:ea typeface="Aptos"/>
                <a:cs typeface="Aptos"/>
              </a:defRPr>
            </a:lvl4pPr>
            <a:lvl5pPr>
              <a:defRPr sz="2325" b="1">
                <a:solidFill>
                  <a:srgbClr val="087F8C"/>
                </a:solidFill>
                <a:latin typeface="Aptos"/>
                <a:ea typeface="Aptos"/>
                <a:cs typeface="Aptos"/>
              </a:defRPr>
            </a:lvl5pPr>
            <a:lvl6pPr>
              <a:defRPr sz="2325" b="1">
                <a:solidFill>
                  <a:srgbClr val="087F8C"/>
                </a:solidFill>
                <a:latin typeface="Aptos"/>
                <a:ea typeface="Aptos"/>
                <a:cs typeface="Aptos"/>
              </a:defRPr>
            </a:lvl6pPr>
            <a:lvl7pPr>
              <a:defRPr sz="2325" b="1">
                <a:solidFill>
                  <a:srgbClr val="087F8C"/>
                </a:solidFill>
                <a:latin typeface="Aptos"/>
                <a:ea typeface="Aptos"/>
                <a:cs typeface="Aptos"/>
              </a:defRPr>
            </a:lvl7pPr>
            <a:lvl8pPr>
              <a:defRPr sz="2325" b="1">
                <a:solidFill>
                  <a:srgbClr val="087F8C"/>
                </a:solidFill>
                <a:latin typeface="Aptos"/>
                <a:ea typeface="Aptos"/>
                <a:cs typeface="Aptos"/>
              </a:defRPr>
            </a:lvl8pPr>
            <a:lvl9pPr>
              <a:defRPr sz="2325" b="1">
                <a:solidFill>
                  <a:srgbClr val="087F8C"/>
                </a:solidFill>
                <a:latin typeface="Aptos"/>
                <a:ea typeface="Aptos"/>
                <a:cs typeface="Aptos"/>
              </a:defRPr>
            </a:lvl9pPr>
          </a:lstStyle>
          <a:p>
            <a:pPr>
              <a:defRPr sz="2325" b="1">
                <a:solidFill>
                  <a:srgbClr val="087F8C"/>
                </a:solidFill>
                <a:latin typeface="Aptos"/>
                <a:ea typeface="Aptos"/>
                <a:cs typeface="Aptos"/>
              </a:defRPr>
            </a:pPr>
            <a:r>
              <a:rPr sz="2325" b="1">
                <a:solidFill>
                  <a:srgbClr val="087F8C"/>
                </a:solidFill>
                <a:latin typeface="Aptos"/>
                <a:ea typeface="Aptos"/>
                <a:cs typeface="Aptos"/>
              </a:rPr>
              <a:t>677,172 trainable parameters</a:t>
            </a:r>
          </a:p>
        </p:txBody>
      </p:sp>
      <p:sp>
        <p:nvSpPr>
          <p:cNvPr id="6" name="Linear outputs, no softmax">
            <a:extLst>
              <a:ext uri="{FF2B5EF4-FFF2-40B4-BE49-F238E27FC236}">
                <a16:creationId xmlns:a16="http://schemas.microsoft.com/office/drawing/2014/main" id="{D23E3311-1904-4FC6-BFCD-FF8F58FA8815}"/>
              </a:ext>
            </a:extLst>
          </p:cNvPr>
          <p:cNvSpPr>
            <a:spLocks noGrp="1"/>
          </p:cNvSpPr>
          <p:nvPr/>
        </p:nvSpPr>
        <p:spPr>
          <a:xfrm>
            <a:off x="7429500" y="5810250"/>
            <a:ext cx="4095750" cy="381000"/>
          </a:xfrm>
          <a:prstGeom prst="rect">
            <a:avLst/>
          </a:prstGeom>
          <a:noFill/>
          <a:ln w="0">
            <a:noFill/>
          </a:ln>
        </p:spPr>
        <p:txBody>
          <a:bodyPr lIns="0" tIns="0" rIns="0" bIns="0" anchor="t">
            <a:noAutofit/>
          </a:bodyPr>
          <a:lstStyle>
            <a:defPPr>
              <a:defRPr sz="1800" b="0">
                <a:solidFill>
                  <a:srgbClr val="37475B"/>
                </a:solidFill>
                <a:latin typeface="Aptos"/>
                <a:ea typeface="Aptos"/>
                <a:cs typeface="Aptos"/>
              </a:defRPr>
            </a:defPPr>
            <a:lvl1pPr>
              <a:defRPr sz="1800" b="0">
                <a:solidFill>
                  <a:srgbClr val="37475B"/>
                </a:solidFill>
                <a:latin typeface="Aptos"/>
                <a:ea typeface="Aptos"/>
                <a:cs typeface="Aptos"/>
              </a:defRPr>
            </a:lvl1pPr>
            <a:lvl2pPr>
              <a:defRPr sz="1800" b="0">
                <a:solidFill>
                  <a:srgbClr val="37475B"/>
                </a:solidFill>
                <a:latin typeface="Aptos"/>
                <a:ea typeface="Aptos"/>
                <a:cs typeface="Aptos"/>
              </a:defRPr>
            </a:lvl2pPr>
            <a:lvl3pPr>
              <a:defRPr sz="1800" b="0">
                <a:solidFill>
                  <a:srgbClr val="37475B"/>
                </a:solidFill>
                <a:latin typeface="Aptos"/>
                <a:ea typeface="Aptos"/>
                <a:cs typeface="Aptos"/>
              </a:defRPr>
            </a:lvl3pPr>
            <a:lvl4pPr>
              <a:defRPr sz="1800" b="0">
                <a:solidFill>
                  <a:srgbClr val="37475B"/>
                </a:solidFill>
                <a:latin typeface="Aptos"/>
                <a:ea typeface="Aptos"/>
                <a:cs typeface="Aptos"/>
              </a:defRPr>
            </a:lvl4pPr>
            <a:lvl5pPr>
              <a:defRPr sz="1800" b="0">
                <a:solidFill>
                  <a:srgbClr val="37475B"/>
                </a:solidFill>
                <a:latin typeface="Aptos"/>
                <a:ea typeface="Aptos"/>
                <a:cs typeface="Aptos"/>
              </a:defRPr>
            </a:lvl5pPr>
            <a:lvl6pPr>
              <a:defRPr sz="1800" b="0">
                <a:solidFill>
                  <a:srgbClr val="37475B"/>
                </a:solidFill>
                <a:latin typeface="Aptos"/>
                <a:ea typeface="Aptos"/>
                <a:cs typeface="Aptos"/>
              </a:defRPr>
            </a:lvl6pPr>
            <a:lvl7pPr>
              <a:defRPr sz="1800" b="0">
                <a:solidFill>
                  <a:srgbClr val="37475B"/>
                </a:solidFill>
                <a:latin typeface="Aptos"/>
                <a:ea typeface="Aptos"/>
                <a:cs typeface="Aptos"/>
              </a:defRPr>
            </a:lvl7pPr>
            <a:lvl8pPr>
              <a:defRPr sz="1800" b="0">
                <a:solidFill>
                  <a:srgbClr val="37475B"/>
                </a:solidFill>
                <a:latin typeface="Aptos"/>
                <a:ea typeface="Aptos"/>
                <a:cs typeface="Aptos"/>
              </a:defRPr>
            </a:lvl8pPr>
            <a:lvl9pPr>
              <a:defRPr sz="1800" b="0">
                <a:solidFill>
                  <a:srgbClr val="37475B"/>
                </a:solidFill>
                <a:latin typeface="Aptos"/>
                <a:ea typeface="Aptos"/>
                <a:cs typeface="Aptos"/>
              </a:defRPr>
            </a:lvl9pPr>
          </a:lstStyle>
          <a:p>
            <a:pPr>
              <a:defRPr sz="1800" b="0">
                <a:solidFill>
                  <a:srgbClr val="37475B"/>
                </a:solidFill>
                <a:latin typeface="Aptos"/>
                <a:ea typeface="Aptos"/>
                <a:cs typeface="Aptos"/>
              </a:defRPr>
            </a:pPr>
            <a:r>
              <a:rPr sz="1800" b="0">
                <a:solidFill>
                  <a:srgbClr val="37475B"/>
                </a:solidFill>
                <a:latin typeface="Aptos"/>
                <a:ea typeface="Aptos"/>
                <a:cs typeface="Aptos"/>
              </a:rPr>
              <a:t>Linear outputs, no softmax</a:t>
            </a:r>
          </a:p>
        </p:txBody>
      </p:sp>
    </p:spTree>
    <p:extLst>
      <p:ext uri="{BB962C8B-B14F-4D97-AF65-F5344CB8AC3E}">
        <p14:creationId xmlns:p14="http://schemas.microsoft.com/office/powerpoint/2010/main" val="627052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Experience replay and the training loop">
            <a:extLst>
              <a:ext uri="{FF2B5EF4-FFF2-40B4-BE49-F238E27FC236}">
                <a16:creationId xmlns:a16="http://schemas.microsoft.com/office/drawing/2014/main" id="{ADBF7771-7D86-4341-B4E4-39ED17C6E59B}"/>
              </a:ext>
            </a:extLst>
          </p:cNvPr>
          <p:cNvSpPr>
            <a:spLocks noGrp="1"/>
          </p:cNvSpPr>
          <p:nvPr/>
        </p:nvSpPr>
        <p:spPr>
          <a:xfrm>
            <a:off x="609600" y="438150"/>
            <a:ext cx="10763250" cy="666750"/>
          </a:xfrm>
          <a:prstGeom prst="rect">
            <a:avLst/>
          </a:prstGeom>
          <a:noFill/>
          <a:ln w="0">
            <a:noFill/>
          </a:ln>
        </p:spPr>
        <p:txBody>
          <a:bodyPr lIns="0" tIns="0" rIns="0" bIns="0" anchor="t">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Experience replay and the training loop</a:t>
            </a:r>
          </a:p>
        </p:txBody>
      </p:sp>
      <p:sp>
        <p:nvSpPr>
          <p:cNvPr id="3" name="06">
            <a:extLst>
              <a:ext uri="{FF2B5EF4-FFF2-40B4-BE49-F238E27FC236}">
                <a16:creationId xmlns:a16="http://schemas.microsoft.com/office/drawing/2014/main" id="{2C4692A3-BC94-4137-8D0B-4F00092C5AA7}"/>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07</a:t>
            </a:r>
          </a:p>
        </p:txBody>
      </p:sp>
      <p:sp>
        <p:nvSpPr>
          <p:cNvPr id="4" name="D = { (s, a, r̃, s′, d) }">
            <a:extLst>
              <a:ext uri="{FF2B5EF4-FFF2-40B4-BE49-F238E27FC236}">
                <a16:creationId xmlns:a16="http://schemas.microsoft.com/office/drawing/2014/main" id="{B133C3AA-63B4-447A-BE18-7183D071622E}"/>
              </a:ext>
            </a:extLst>
          </p:cNvPr>
          <p:cNvSpPr>
            <a:spLocks noGrp="1"/>
          </p:cNvSpPr>
          <p:nvPr/>
        </p:nvSpPr>
        <p:spPr>
          <a:xfrm>
            <a:off x="619125" y="1485900"/>
            <a:ext cx="10382250" cy="628650"/>
          </a:xfrm>
          <a:prstGeom prst="rect">
            <a:avLst/>
          </a:prstGeom>
          <a:noFill/>
          <a:ln w="0">
            <a:noFill/>
          </a:ln>
        </p:spPr>
        <p:txBody>
          <a:bodyPr lIns="0" tIns="0" rIns="0" bIns="0" anchor="t">
            <a:noAutofit/>
          </a:bodyPr>
          <a:lstStyle>
            <a:defPPr>
              <a:defRPr sz="3225" b="0">
                <a:solidFill>
                  <a:srgbClr val="087F8C"/>
                </a:solidFill>
                <a:latin typeface="Aptos"/>
                <a:ea typeface="Aptos"/>
                <a:cs typeface="Aptos"/>
              </a:defRPr>
            </a:defPPr>
            <a:lvl1pPr>
              <a:defRPr sz="3225" b="0">
                <a:solidFill>
                  <a:srgbClr val="087F8C"/>
                </a:solidFill>
                <a:latin typeface="Aptos"/>
                <a:ea typeface="Aptos"/>
                <a:cs typeface="Aptos"/>
              </a:defRPr>
            </a:lvl1pPr>
            <a:lvl2pPr>
              <a:defRPr sz="3225" b="0">
                <a:solidFill>
                  <a:srgbClr val="087F8C"/>
                </a:solidFill>
                <a:latin typeface="Aptos"/>
                <a:ea typeface="Aptos"/>
                <a:cs typeface="Aptos"/>
              </a:defRPr>
            </a:lvl2pPr>
            <a:lvl3pPr>
              <a:defRPr sz="3225" b="0">
                <a:solidFill>
                  <a:srgbClr val="087F8C"/>
                </a:solidFill>
                <a:latin typeface="Aptos"/>
                <a:ea typeface="Aptos"/>
                <a:cs typeface="Aptos"/>
              </a:defRPr>
            </a:lvl3pPr>
            <a:lvl4pPr>
              <a:defRPr sz="3225" b="0">
                <a:solidFill>
                  <a:srgbClr val="087F8C"/>
                </a:solidFill>
                <a:latin typeface="Aptos"/>
                <a:ea typeface="Aptos"/>
                <a:cs typeface="Aptos"/>
              </a:defRPr>
            </a:lvl4pPr>
            <a:lvl5pPr>
              <a:defRPr sz="3225" b="0">
                <a:solidFill>
                  <a:srgbClr val="087F8C"/>
                </a:solidFill>
                <a:latin typeface="Aptos"/>
                <a:ea typeface="Aptos"/>
                <a:cs typeface="Aptos"/>
              </a:defRPr>
            </a:lvl5pPr>
            <a:lvl6pPr>
              <a:defRPr sz="3225" b="0">
                <a:solidFill>
                  <a:srgbClr val="087F8C"/>
                </a:solidFill>
                <a:latin typeface="Aptos"/>
                <a:ea typeface="Aptos"/>
                <a:cs typeface="Aptos"/>
              </a:defRPr>
            </a:lvl6pPr>
            <a:lvl7pPr>
              <a:defRPr sz="3225" b="0">
                <a:solidFill>
                  <a:srgbClr val="087F8C"/>
                </a:solidFill>
                <a:latin typeface="Aptos"/>
                <a:ea typeface="Aptos"/>
                <a:cs typeface="Aptos"/>
              </a:defRPr>
            </a:lvl7pPr>
            <a:lvl8pPr>
              <a:defRPr sz="3225" b="0">
                <a:solidFill>
                  <a:srgbClr val="087F8C"/>
                </a:solidFill>
                <a:latin typeface="Aptos"/>
                <a:ea typeface="Aptos"/>
                <a:cs typeface="Aptos"/>
              </a:defRPr>
            </a:lvl8pPr>
            <a:lvl9pPr>
              <a:defRPr sz="3225" b="0">
                <a:solidFill>
                  <a:srgbClr val="087F8C"/>
                </a:solidFill>
                <a:latin typeface="Aptos"/>
                <a:ea typeface="Aptos"/>
                <a:cs typeface="Aptos"/>
              </a:defRPr>
            </a:lvl9pPr>
          </a:lstStyle>
          <a:p>
            <a:pPr>
              <a:defRPr sz="3225" b="0">
                <a:solidFill>
                  <a:srgbClr val="087F8C"/>
                </a:solidFill>
                <a:latin typeface="Aptos"/>
                <a:ea typeface="Aptos"/>
                <a:cs typeface="Aptos"/>
              </a:defRPr>
            </a:pPr>
            <a:r>
              <a:rPr sz="3225" b="0">
                <a:solidFill>
                  <a:srgbClr val="087F8C"/>
                </a:solidFill>
                <a:latin typeface="Aptos"/>
                <a:ea typeface="Aptos"/>
                <a:cs typeface="Aptos"/>
              </a:rPr>
              <a:t>D = { (s, a, r̃, s′, d) }</a:t>
            </a:r>
          </a:p>
        </p:txBody>
      </p:sp>
      <p:sp>
        <p:nvSpPr>
          <p:cNvPr id="5" name="01   Interact and store">
            <a:extLst>
              <a:ext uri="{FF2B5EF4-FFF2-40B4-BE49-F238E27FC236}">
                <a16:creationId xmlns:a16="http://schemas.microsoft.com/office/drawing/2014/main" id="{C9E089AD-A4E9-4D32-B14F-1D9D664FC276}"/>
              </a:ext>
            </a:extLst>
          </p:cNvPr>
          <p:cNvSpPr>
            <a:spLocks noGrp="1"/>
          </p:cNvSpPr>
          <p:nvPr/>
        </p:nvSpPr>
        <p:spPr>
          <a:xfrm>
            <a:off x="609600" y="2457450"/>
            <a:ext cx="10287000" cy="381000"/>
          </a:xfrm>
          <a:prstGeom prst="rect">
            <a:avLst/>
          </a:prstGeom>
          <a:noFill/>
          <a:ln w="0">
            <a:noFill/>
          </a:ln>
        </p:spPr>
        <p:txBody>
          <a:bodyPr lIns="0" tIns="0" rIns="0" bIns="0" anchor="t">
            <a:noAutofit/>
          </a:bodyPr>
          <a:lstStyle>
            <a:defPPr>
              <a:defRPr sz="2100" b="1">
                <a:solidFill>
                  <a:srgbClr val="087F8C"/>
                </a:solidFill>
                <a:latin typeface="Aptos"/>
                <a:ea typeface="Aptos"/>
                <a:cs typeface="Aptos"/>
              </a:defRPr>
            </a:defPPr>
            <a:lvl1pPr>
              <a:defRPr sz="2100" b="1">
                <a:solidFill>
                  <a:srgbClr val="087F8C"/>
                </a:solidFill>
                <a:latin typeface="Aptos"/>
                <a:ea typeface="Aptos"/>
                <a:cs typeface="Aptos"/>
              </a:defRPr>
            </a:lvl1pPr>
            <a:lvl2pPr>
              <a:defRPr sz="2100" b="1">
                <a:solidFill>
                  <a:srgbClr val="087F8C"/>
                </a:solidFill>
                <a:latin typeface="Aptos"/>
                <a:ea typeface="Aptos"/>
                <a:cs typeface="Aptos"/>
              </a:defRPr>
            </a:lvl2pPr>
            <a:lvl3pPr>
              <a:defRPr sz="2100" b="1">
                <a:solidFill>
                  <a:srgbClr val="087F8C"/>
                </a:solidFill>
                <a:latin typeface="Aptos"/>
                <a:ea typeface="Aptos"/>
                <a:cs typeface="Aptos"/>
              </a:defRPr>
            </a:lvl3pPr>
            <a:lvl4pPr>
              <a:defRPr sz="2100" b="1">
                <a:solidFill>
                  <a:srgbClr val="087F8C"/>
                </a:solidFill>
                <a:latin typeface="Aptos"/>
                <a:ea typeface="Aptos"/>
                <a:cs typeface="Aptos"/>
              </a:defRPr>
            </a:lvl4pPr>
            <a:lvl5pPr>
              <a:defRPr sz="2100" b="1">
                <a:solidFill>
                  <a:srgbClr val="087F8C"/>
                </a:solidFill>
                <a:latin typeface="Aptos"/>
                <a:ea typeface="Aptos"/>
                <a:cs typeface="Aptos"/>
              </a:defRPr>
            </a:lvl5pPr>
            <a:lvl6pPr>
              <a:defRPr sz="2100" b="1">
                <a:solidFill>
                  <a:srgbClr val="087F8C"/>
                </a:solidFill>
                <a:latin typeface="Aptos"/>
                <a:ea typeface="Aptos"/>
                <a:cs typeface="Aptos"/>
              </a:defRPr>
            </a:lvl6pPr>
            <a:lvl7pPr>
              <a:defRPr sz="2100" b="1">
                <a:solidFill>
                  <a:srgbClr val="087F8C"/>
                </a:solidFill>
                <a:latin typeface="Aptos"/>
                <a:ea typeface="Aptos"/>
                <a:cs typeface="Aptos"/>
              </a:defRPr>
            </a:lvl7pPr>
            <a:lvl8pPr>
              <a:defRPr sz="2100" b="1">
                <a:solidFill>
                  <a:srgbClr val="087F8C"/>
                </a:solidFill>
                <a:latin typeface="Aptos"/>
                <a:ea typeface="Aptos"/>
                <a:cs typeface="Aptos"/>
              </a:defRPr>
            </a:lvl8pPr>
            <a:lvl9pPr>
              <a:defRPr sz="2100" b="1">
                <a:solidFill>
                  <a:srgbClr val="087F8C"/>
                </a:solidFill>
                <a:latin typeface="Aptos"/>
                <a:ea typeface="Aptos"/>
                <a:cs typeface="Aptos"/>
              </a:defRPr>
            </a:lvl9pPr>
          </a:lstStyle>
          <a:p>
            <a:pPr>
              <a:defRPr sz="2100" b="1">
                <a:solidFill>
                  <a:srgbClr val="087F8C"/>
                </a:solidFill>
                <a:latin typeface="Aptos"/>
                <a:ea typeface="Aptos"/>
                <a:cs typeface="Aptos"/>
              </a:defRPr>
            </a:pPr>
            <a:r>
              <a:rPr sz="2100" b="1">
                <a:solidFill>
                  <a:srgbClr val="087F8C"/>
                </a:solidFill>
                <a:latin typeface="Aptos"/>
                <a:ea typeface="Aptos"/>
                <a:cs typeface="Aptos"/>
              </a:rPr>
              <a:t>01   Interact and store</a:t>
            </a:r>
          </a:p>
        </p:txBody>
      </p:sp>
      <p:sp>
        <p:nvSpPr>
          <p:cNvPr id="6" name="Choose an ε-greedy action and save the resulting transi">
            <a:extLst>
              <a:ext uri="{FF2B5EF4-FFF2-40B4-BE49-F238E27FC236}">
                <a16:creationId xmlns:a16="http://schemas.microsoft.com/office/drawing/2014/main" id="{15715DCF-4E9F-442B-BA6B-57BCA9413549}"/>
              </a:ext>
            </a:extLst>
          </p:cNvPr>
          <p:cNvSpPr>
            <a:spLocks noGrp="1"/>
          </p:cNvSpPr>
          <p:nvPr/>
        </p:nvSpPr>
        <p:spPr>
          <a:xfrm>
            <a:off x="609600" y="2895600"/>
            <a:ext cx="10287000" cy="723900"/>
          </a:xfrm>
          <a:prstGeom prst="rect">
            <a:avLst/>
          </a:prstGeom>
          <a:noFill/>
          <a:ln w="0">
            <a:noFill/>
          </a:ln>
        </p:spPr>
        <p:txBody>
          <a:bodyPr lIns="0" tIns="0" rIns="0" bIns="0" anchor="t">
            <a:noAutofit/>
          </a:bodyPr>
          <a:lstStyle>
            <a:defPPr>
              <a:defRPr sz="1950" b="0">
                <a:solidFill>
                  <a:srgbClr val="37475B"/>
                </a:solidFill>
                <a:latin typeface="Aptos"/>
                <a:ea typeface="Aptos"/>
                <a:cs typeface="Aptos"/>
              </a:defRPr>
            </a:defPPr>
            <a:lvl1pPr>
              <a:defRPr sz="1950" b="0">
                <a:solidFill>
                  <a:srgbClr val="37475B"/>
                </a:solidFill>
                <a:latin typeface="Aptos"/>
                <a:ea typeface="Aptos"/>
                <a:cs typeface="Aptos"/>
              </a:defRPr>
            </a:lvl1pPr>
            <a:lvl2pPr>
              <a:defRPr sz="1950" b="0">
                <a:solidFill>
                  <a:srgbClr val="37475B"/>
                </a:solidFill>
                <a:latin typeface="Aptos"/>
                <a:ea typeface="Aptos"/>
                <a:cs typeface="Aptos"/>
              </a:defRPr>
            </a:lvl2pPr>
            <a:lvl3pPr>
              <a:defRPr sz="1950" b="0">
                <a:solidFill>
                  <a:srgbClr val="37475B"/>
                </a:solidFill>
                <a:latin typeface="Aptos"/>
                <a:ea typeface="Aptos"/>
                <a:cs typeface="Aptos"/>
              </a:defRPr>
            </a:lvl3pPr>
            <a:lvl4pPr>
              <a:defRPr sz="1950" b="0">
                <a:solidFill>
                  <a:srgbClr val="37475B"/>
                </a:solidFill>
                <a:latin typeface="Aptos"/>
                <a:ea typeface="Aptos"/>
                <a:cs typeface="Aptos"/>
              </a:defRPr>
            </a:lvl4pPr>
            <a:lvl5pPr>
              <a:defRPr sz="1950" b="0">
                <a:solidFill>
                  <a:srgbClr val="37475B"/>
                </a:solidFill>
                <a:latin typeface="Aptos"/>
                <a:ea typeface="Aptos"/>
                <a:cs typeface="Aptos"/>
              </a:defRPr>
            </a:lvl5pPr>
            <a:lvl6pPr>
              <a:defRPr sz="1950" b="0">
                <a:solidFill>
                  <a:srgbClr val="37475B"/>
                </a:solidFill>
                <a:latin typeface="Aptos"/>
                <a:ea typeface="Aptos"/>
                <a:cs typeface="Aptos"/>
              </a:defRPr>
            </a:lvl6pPr>
            <a:lvl7pPr>
              <a:defRPr sz="1950" b="0">
                <a:solidFill>
                  <a:srgbClr val="37475B"/>
                </a:solidFill>
                <a:latin typeface="Aptos"/>
                <a:ea typeface="Aptos"/>
                <a:cs typeface="Aptos"/>
              </a:defRPr>
            </a:lvl7pPr>
            <a:lvl8pPr>
              <a:defRPr sz="1950" b="0">
                <a:solidFill>
                  <a:srgbClr val="37475B"/>
                </a:solidFill>
                <a:latin typeface="Aptos"/>
                <a:ea typeface="Aptos"/>
                <a:cs typeface="Aptos"/>
              </a:defRPr>
            </a:lvl8pPr>
            <a:lvl9pPr>
              <a:defRPr sz="1950" b="0">
                <a:solidFill>
                  <a:srgbClr val="37475B"/>
                </a:solidFill>
                <a:latin typeface="Aptos"/>
                <a:ea typeface="Aptos"/>
                <a:cs typeface="Aptos"/>
              </a:defRPr>
            </a:lvl9pPr>
          </a:lstStyle>
          <a:p>
            <a:pPr>
              <a:defRPr sz="1950" b="0">
                <a:solidFill>
                  <a:srgbClr val="37475B"/>
                </a:solidFill>
                <a:latin typeface="Aptos"/>
                <a:ea typeface="Aptos"/>
                <a:cs typeface="Aptos"/>
              </a:defRPr>
            </a:pPr>
            <a:r>
              <a:rPr sz="1950" b="0">
                <a:solidFill>
                  <a:srgbClr val="37475B"/>
                </a:solidFill>
                <a:latin typeface="Aptos"/>
                <a:ea typeface="Aptos"/>
                <a:cs typeface="Aptos"/>
              </a:rPr>
              <a:t>Choose an ε-greedy action and save the resulting transition.</a:t>
            </a:r>
          </a:p>
        </p:txBody>
      </p:sp>
      <p:sp>
        <p:nvSpPr>
          <p:cNvPr id="7" name="02   Sample past experience">
            <a:extLst>
              <a:ext uri="{FF2B5EF4-FFF2-40B4-BE49-F238E27FC236}">
                <a16:creationId xmlns:a16="http://schemas.microsoft.com/office/drawing/2014/main" id="{F0BADBE6-CDE7-431D-8764-8C0602AC4865}"/>
              </a:ext>
            </a:extLst>
          </p:cNvPr>
          <p:cNvSpPr>
            <a:spLocks noGrp="1"/>
          </p:cNvSpPr>
          <p:nvPr/>
        </p:nvSpPr>
        <p:spPr>
          <a:xfrm>
            <a:off x="609600" y="3657600"/>
            <a:ext cx="10287000" cy="381000"/>
          </a:xfrm>
          <a:prstGeom prst="rect">
            <a:avLst/>
          </a:prstGeom>
          <a:noFill/>
          <a:ln w="0">
            <a:noFill/>
          </a:ln>
        </p:spPr>
        <p:txBody>
          <a:bodyPr lIns="0" tIns="0" rIns="0" bIns="0" anchor="t">
            <a:noAutofit/>
          </a:bodyPr>
          <a:lstStyle>
            <a:defPPr>
              <a:defRPr sz="2100" b="1">
                <a:solidFill>
                  <a:srgbClr val="087F8C"/>
                </a:solidFill>
                <a:latin typeface="Aptos"/>
                <a:ea typeface="Aptos"/>
                <a:cs typeface="Aptos"/>
              </a:defRPr>
            </a:defPPr>
            <a:lvl1pPr>
              <a:defRPr sz="2100" b="1">
                <a:solidFill>
                  <a:srgbClr val="087F8C"/>
                </a:solidFill>
                <a:latin typeface="Aptos"/>
                <a:ea typeface="Aptos"/>
                <a:cs typeface="Aptos"/>
              </a:defRPr>
            </a:lvl1pPr>
            <a:lvl2pPr>
              <a:defRPr sz="2100" b="1">
                <a:solidFill>
                  <a:srgbClr val="087F8C"/>
                </a:solidFill>
                <a:latin typeface="Aptos"/>
                <a:ea typeface="Aptos"/>
                <a:cs typeface="Aptos"/>
              </a:defRPr>
            </a:lvl2pPr>
            <a:lvl3pPr>
              <a:defRPr sz="2100" b="1">
                <a:solidFill>
                  <a:srgbClr val="087F8C"/>
                </a:solidFill>
                <a:latin typeface="Aptos"/>
                <a:ea typeface="Aptos"/>
                <a:cs typeface="Aptos"/>
              </a:defRPr>
            </a:lvl3pPr>
            <a:lvl4pPr>
              <a:defRPr sz="2100" b="1">
                <a:solidFill>
                  <a:srgbClr val="087F8C"/>
                </a:solidFill>
                <a:latin typeface="Aptos"/>
                <a:ea typeface="Aptos"/>
                <a:cs typeface="Aptos"/>
              </a:defRPr>
            </a:lvl4pPr>
            <a:lvl5pPr>
              <a:defRPr sz="2100" b="1">
                <a:solidFill>
                  <a:srgbClr val="087F8C"/>
                </a:solidFill>
                <a:latin typeface="Aptos"/>
                <a:ea typeface="Aptos"/>
                <a:cs typeface="Aptos"/>
              </a:defRPr>
            </a:lvl5pPr>
            <a:lvl6pPr>
              <a:defRPr sz="2100" b="1">
                <a:solidFill>
                  <a:srgbClr val="087F8C"/>
                </a:solidFill>
                <a:latin typeface="Aptos"/>
                <a:ea typeface="Aptos"/>
                <a:cs typeface="Aptos"/>
              </a:defRPr>
            </a:lvl6pPr>
            <a:lvl7pPr>
              <a:defRPr sz="2100" b="1">
                <a:solidFill>
                  <a:srgbClr val="087F8C"/>
                </a:solidFill>
                <a:latin typeface="Aptos"/>
                <a:ea typeface="Aptos"/>
                <a:cs typeface="Aptos"/>
              </a:defRPr>
            </a:lvl7pPr>
            <a:lvl8pPr>
              <a:defRPr sz="2100" b="1">
                <a:solidFill>
                  <a:srgbClr val="087F8C"/>
                </a:solidFill>
                <a:latin typeface="Aptos"/>
                <a:ea typeface="Aptos"/>
                <a:cs typeface="Aptos"/>
              </a:defRPr>
            </a:lvl8pPr>
            <a:lvl9pPr>
              <a:defRPr sz="2100" b="1">
                <a:solidFill>
                  <a:srgbClr val="087F8C"/>
                </a:solidFill>
                <a:latin typeface="Aptos"/>
                <a:ea typeface="Aptos"/>
                <a:cs typeface="Aptos"/>
              </a:defRPr>
            </a:lvl9pPr>
          </a:lstStyle>
          <a:p>
            <a:pPr>
              <a:defRPr sz="2100" b="1">
                <a:solidFill>
                  <a:srgbClr val="087F8C"/>
                </a:solidFill>
                <a:latin typeface="Aptos"/>
                <a:ea typeface="Aptos"/>
                <a:cs typeface="Aptos"/>
              </a:defRPr>
            </a:pPr>
            <a:r>
              <a:rPr sz="2100" b="1">
                <a:solidFill>
                  <a:srgbClr val="087F8C"/>
                </a:solidFill>
                <a:latin typeface="Aptos"/>
                <a:ea typeface="Aptos"/>
                <a:cs typeface="Aptos"/>
              </a:rPr>
              <a:t>02   Sample past experience</a:t>
            </a:r>
          </a:p>
        </p:txBody>
      </p:sp>
      <p:sp>
        <p:nvSpPr>
          <p:cNvPr id="8" name="Draw 32 transitions uniformly from a 10,000-entry circu">
            <a:extLst>
              <a:ext uri="{FF2B5EF4-FFF2-40B4-BE49-F238E27FC236}">
                <a16:creationId xmlns:a16="http://schemas.microsoft.com/office/drawing/2014/main" id="{4D5CF802-56A5-43C4-9713-57C9FBA8F87C}"/>
              </a:ext>
            </a:extLst>
          </p:cNvPr>
          <p:cNvSpPr>
            <a:spLocks noGrp="1"/>
          </p:cNvSpPr>
          <p:nvPr/>
        </p:nvSpPr>
        <p:spPr>
          <a:xfrm>
            <a:off x="609600" y="4095750"/>
            <a:ext cx="10287000" cy="723900"/>
          </a:xfrm>
          <a:prstGeom prst="rect">
            <a:avLst/>
          </a:prstGeom>
          <a:noFill/>
          <a:ln w="0">
            <a:noFill/>
          </a:ln>
        </p:spPr>
        <p:txBody>
          <a:bodyPr lIns="0" tIns="0" rIns="0" bIns="0" anchor="t">
            <a:noAutofit/>
          </a:bodyPr>
          <a:lstStyle>
            <a:defPPr>
              <a:defRPr sz="1950" b="0">
                <a:solidFill>
                  <a:srgbClr val="37475B"/>
                </a:solidFill>
                <a:latin typeface="Aptos"/>
                <a:ea typeface="Aptos"/>
                <a:cs typeface="Aptos"/>
              </a:defRPr>
            </a:defPPr>
            <a:lvl1pPr>
              <a:defRPr sz="1950" b="0">
                <a:solidFill>
                  <a:srgbClr val="37475B"/>
                </a:solidFill>
                <a:latin typeface="Aptos"/>
                <a:ea typeface="Aptos"/>
                <a:cs typeface="Aptos"/>
              </a:defRPr>
            </a:lvl1pPr>
            <a:lvl2pPr>
              <a:defRPr sz="1950" b="0">
                <a:solidFill>
                  <a:srgbClr val="37475B"/>
                </a:solidFill>
                <a:latin typeface="Aptos"/>
                <a:ea typeface="Aptos"/>
                <a:cs typeface="Aptos"/>
              </a:defRPr>
            </a:lvl2pPr>
            <a:lvl3pPr>
              <a:defRPr sz="1950" b="0">
                <a:solidFill>
                  <a:srgbClr val="37475B"/>
                </a:solidFill>
                <a:latin typeface="Aptos"/>
                <a:ea typeface="Aptos"/>
                <a:cs typeface="Aptos"/>
              </a:defRPr>
            </a:lvl3pPr>
            <a:lvl4pPr>
              <a:defRPr sz="1950" b="0">
                <a:solidFill>
                  <a:srgbClr val="37475B"/>
                </a:solidFill>
                <a:latin typeface="Aptos"/>
                <a:ea typeface="Aptos"/>
                <a:cs typeface="Aptos"/>
              </a:defRPr>
            </a:lvl4pPr>
            <a:lvl5pPr>
              <a:defRPr sz="1950" b="0">
                <a:solidFill>
                  <a:srgbClr val="37475B"/>
                </a:solidFill>
                <a:latin typeface="Aptos"/>
                <a:ea typeface="Aptos"/>
                <a:cs typeface="Aptos"/>
              </a:defRPr>
            </a:lvl5pPr>
            <a:lvl6pPr>
              <a:defRPr sz="1950" b="0">
                <a:solidFill>
                  <a:srgbClr val="37475B"/>
                </a:solidFill>
                <a:latin typeface="Aptos"/>
                <a:ea typeface="Aptos"/>
                <a:cs typeface="Aptos"/>
              </a:defRPr>
            </a:lvl6pPr>
            <a:lvl7pPr>
              <a:defRPr sz="1950" b="0">
                <a:solidFill>
                  <a:srgbClr val="37475B"/>
                </a:solidFill>
                <a:latin typeface="Aptos"/>
                <a:ea typeface="Aptos"/>
                <a:cs typeface="Aptos"/>
              </a:defRPr>
            </a:lvl7pPr>
            <a:lvl8pPr>
              <a:defRPr sz="1950" b="0">
                <a:solidFill>
                  <a:srgbClr val="37475B"/>
                </a:solidFill>
                <a:latin typeface="Aptos"/>
                <a:ea typeface="Aptos"/>
                <a:cs typeface="Aptos"/>
              </a:defRPr>
            </a:lvl8pPr>
            <a:lvl9pPr>
              <a:defRPr sz="1950" b="0">
                <a:solidFill>
                  <a:srgbClr val="37475B"/>
                </a:solidFill>
                <a:latin typeface="Aptos"/>
                <a:ea typeface="Aptos"/>
                <a:cs typeface="Aptos"/>
              </a:defRPr>
            </a:lvl9pPr>
          </a:lstStyle>
          <a:p>
            <a:pPr>
              <a:defRPr sz="1950" b="0">
                <a:solidFill>
                  <a:srgbClr val="37475B"/>
                </a:solidFill>
                <a:latin typeface="Aptos"/>
                <a:ea typeface="Aptos"/>
                <a:cs typeface="Aptos"/>
              </a:defRPr>
            </a:pPr>
            <a:r>
              <a:rPr sz="1950" b="0">
                <a:solidFill>
                  <a:srgbClr val="37475B"/>
                </a:solidFill>
                <a:latin typeface="Aptos"/>
                <a:ea typeface="Aptos"/>
                <a:cs typeface="Aptos"/>
              </a:rPr>
              <a:t>Draw 32 transitions uniformly from a 10,000-entry circular buffer.</a:t>
            </a:r>
          </a:p>
        </p:txBody>
      </p:sp>
      <p:sp>
        <p:nvSpPr>
          <p:cNvPr id="9" name="03   Update the network">
            <a:extLst>
              <a:ext uri="{FF2B5EF4-FFF2-40B4-BE49-F238E27FC236}">
                <a16:creationId xmlns:a16="http://schemas.microsoft.com/office/drawing/2014/main" id="{31C5D69D-384F-45DA-AC49-03DAEE681310}"/>
              </a:ext>
            </a:extLst>
          </p:cNvPr>
          <p:cNvSpPr>
            <a:spLocks noGrp="1"/>
          </p:cNvSpPr>
          <p:nvPr/>
        </p:nvSpPr>
        <p:spPr>
          <a:xfrm>
            <a:off x="609600" y="4857750"/>
            <a:ext cx="10287000" cy="381000"/>
          </a:xfrm>
          <a:prstGeom prst="rect">
            <a:avLst/>
          </a:prstGeom>
          <a:noFill/>
          <a:ln w="0">
            <a:noFill/>
          </a:ln>
        </p:spPr>
        <p:txBody>
          <a:bodyPr lIns="0" tIns="0" rIns="0" bIns="0" anchor="t">
            <a:noAutofit/>
          </a:bodyPr>
          <a:lstStyle>
            <a:defPPr>
              <a:defRPr sz="2100" b="1">
                <a:solidFill>
                  <a:srgbClr val="087F8C"/>
                </a:solidFill>
                <a:latin typeface="Aptos"/>
                <a:ea typeface="Aptos"/>
                <a:cs typeface="Aptos"/>
              </a:defRPr>
            </a:defPPr>
            <a:lvl1pPr>
              <a:defRPr sz="2100" b="1">
                <a:solidFill>
                  <a:srgbClr val="087F8C"/>
                </a:solidFill>
                <a:latin typeface="Aptos"/>
                <a:ea typeface="Aptos"/>
                <a:cs typeface="Aptos"/>
              </a:defRPr>
            </a:lvl1pPr>
            <a:lvl2pPr>
              <a:defRPr sz="2100" b="1">
                <a:solidFill>
                  <a:srgbClr val="087F8C"/>
                </a:solidFill>
                <a:latin typeface="Aptos"/>
                <a:ea typeface="Aptos"/>
                <a:cs typeface="Aptos"/>
              </a:defRPr>
            </a:lvl2pPr>
            <a:lvl3pPr>
              <a:defRPr sz="2100" b="1">
                <a:solidFill>
                  <a:srgbClr val="087F8C"/>
                </a:solidFill>
                <a:latin typeface="Aptos"/>
                <a:ea typeface="Aptos"/>
                <a:cs typeface="Aptos"/>
              </a:defRPr>
            </a:lvl3pPr>
            <a:lvl4pPr>
              <a:defRPr sz="2100" b="1">
                <a:solidFill>
                  <a:srgbClr val="087F8C"/>
                </a:solidFill>
                <a:latin typeface="Aptos"/>
                <a:ea typeface="Aptos"/>
                <a:cs typeface="Aptos"/>
              </a:defRPr>
            </a:lvl4pPr>
            <a:lvl5pPr>
              <a:defRPr sz="2100" b="1">
                <a:solidFill>
                  <a:srgbClr val="087F8C"/>
                </a:solidFill>
                <a:latin typeface="Aptos"/>
                <a:ea typeface="Aptos"/>
                <a:cs typeface="Aptos"/>
              </a:defRPr>
            </a:lvl5pPr>
            <a:lvl6pPr>
              <a:defRPr sz="2100" b="1">
                <a:solidFill>
                  <a:srgbClr val="087F8C"/>
                </a:solidFill>
                <a:latin typeface="Aptos"/>
                <a:ea typeface="Aptos"/>
                <a:cs typeface="Aptos"/>
              </a:defRPr>
            </a:lvl6pPr>
            <a:lvl7pPr>
              <a:defRPr sz="2100" b="1">
                <a:solidFill>
                  <a:srgbClr val="087F8C"/>
                </a:solidFill>
                <a:latin typeface="Aptos"/>
                <a:ea typeface="Aptos"/>
                <a:cs typeface="Aptos"/>
              </a:defRPr>
            </a:lvl7pPr>
            <a:lvl8pPr>
              <a:defRPr sz="2100" b="1">
                <a:solidFill>
                  <a:srgbClr val="087F8C"/>
                </a:solidFill>
                <a:latin typeface="Aptos"/>
                <a:ea typeface="Aptos"/>
                <a:cs typeface="Aptos"/>
              </a:defRPr>
            </a:lvl8pPr>
            <a:lvl9pPr>
              <a:defRPr sz="2100" b="1">
                <a:solidFill>
                  <a:srgbClr val="087F8C"/>
                </a:solidFill>
                <a:latin typeface="Aptos"/>
                <a:ea typeface="Aptos"/>
                <a:cs typeface="Aptos"/>
              </a:defRPr>
            </a:lvl9pPr>
          </a:lstStyle>
          <a:p>
            <a:pPr>
              <a:defRPr sz="2100" b="1">
                <a:solidFill>
                  <a:srgbClr val="087F8C"/>
                </a:solidFill>
                <a:latin typeface="Aptos"/>
                <a:ea typeface="Aptos"/>
                <a:cs typeface="Aptos"/>
              </a:defRPr>
            </a:pPr>
            <a:r>
              <a:rPr sz="2100" b="1">
                <a:solidFill>
                  <a:srgbClr val="087F8C"/>
                </a:solidFill>
                <a:latin typeface="Aptos"/>
                <a:ea typeface="Aptos"/>
                <a:cs typeface="Aptos"/>
              </a:rPr>
              <a:t>03   Update the network</a:t>
            </a:r>
          </a:p>
        </p:txBody>
      </p:sp>
      <p:sp>
        <p:nvSpPr>
          <p:cNvPr id="10" name="Compute temporal-difference targets and take one RMSPro">
            <a:extLst>
              <a:ext uri="{FF2B5EF4-FFF2-40B4-BE49-F238E27FC236}">
                <a16:creationId xmlns:a16="http://schemas.microsoft.com/office/drawing/2014/main" id="{EB525324-6452-41D1-BD74-0DA180987BE4}"/>
              </a:ext>
            </a:extLst>
          </p:cNvPr>
          <p:cNvSpPr>
            <a:spLocks noGrp="1"/>
          </p:cNvSpPr>
          <p:nvPr/>
        </p:nvSpPr>
        <p:spPr>
          <a:xfrm>
            <a:off x="609600" y="5295900"/>
            <a:ext cx="10287000" cy="723900"/>
          </a:xfrm>
          <a:prstGeom prst="rect">
            <a:avLst/>
          </a:prstGeom>
          <a:noFill/>
          <a:ln w="0">
            <a:noFill/>
          </a:ln>
        </p:spPr>
        <p:txBody>
          <a:bodyPr lIns="0" tIns="0" rIns="0" bIns="0" anchor="t">
            <a:noAutofit/>
          </a:bodyPr>
          <a:lstStyle>
            <a:defPPr>
              <a:defRPr sz="1950" b="0">
                <a:solidFill>
                  <a:srgbClr val="37475B"/>
                </a:solidFill>
                <a:latin typeface="Aptos"/>
                <a:ea typeface="Aptos"/>
                <a:cs typeface="Aptos"/>
              </a:defRPr>
            </a:defPPr>
            <a:lvl1pPr>
              <a:defRPr sz="1950" b="0">
                <a:solidFill>
                  <a:srgbClr val="37475B"/>
                </a:solidFill>
                <a:latin typeface="Aptos"/>
                <a:ea typeface="Aptos"/>
                <a:cs typeface="Aptos"/>
              </a:defRPr>
            </a:lvl1pPr>
            <a:lvl2pPr>
              <a:defRPr sz="1950" b="0">
                <a:solidFill>
                  <a:srgbClr val="37475B"/>
                </a:solidFill>
                <a:latin typeface="Aptos"/>
                <a:ea typeface="Aptos"/>
                <a:cs typeface="Aptos"/>
              </a:defRPr>
            </a:lvl2pPr>
            <a:lvl3pPr>
              <a:defRPr sz="1950" b="0">
                <a:solidFill>
                  <a:srgbClr val="37475B"/>
                </a:solidFill>
                <a:latin typeface="Aptos"/>
                <a:ea typeface="Aptos"/>
                <a:cs typeface="Aptos"/>
              </a:defRPr>
            </a:lvl3pPr>
            <a:lvl4pPr>
              <a:defRPr sz="1950" b="0">
                <a:solidFill>
                  <a:srgbClr val="37475B"/>
                </a:solidFill>
                <a:latin typeface="Aptos"/>
                <a:ea typeface="Aptos"/>
                <a:cs typeface="Aptos"/>
              </a:defRPr>
            </a:lvl4pPr>
            <a:lvl5pPr>
              <a:defRPr sz="1950" b="0">
                <a:solidFill>
                  <a:srgbClr val="37475B"/>
                </a:solidFill>
                <a:latin typeface="Aptos"/>
                <a:ea typeface="Aptos"/>
                <a:cs typeface="Aptos"/>
              </a:defRPr>
            </a:lvl5pPr>
            <a:lvl6pPr>
              <a:defRPr sz="1950" b="0">
                <a:solidFill>
                  <a:srgbClr val="37475B"/>
                </a:solidFill>
                <a:latin typeface="Aptos"/>
                <a:ea typeface="Aptos"/>
                <a:cs typeface="Aptos"/>
              </a:defRPr>
            </a:lvl6pPr>
            <a:lvl7pPr>
              <a:defRPr sz="1950" b="0">
                <a:solidFill>
                  <a:srgbClr val="37475B"/>
                </a:solidFill>
                <a:latin typeface="Aptos"/>
                <a:ea typeface="Aptos"/>
                <a:cs typeface="Aptos"/>
              </a:defRPr>
            </a:lvl7pPr>
            <a:lvl8pPr>
              <a:defRPr sz="1950" b="0">
                <a:solidFill>
                  <a:srgbClr val="37475B"/>
                </a:solidFill>
                <a:latin typeface="Aptos"/>
                <a:ea typeface="Aptos"/>
                <a:cs typeface="Aptos"/>
              </a:defRPr>
            </a:lvl8pPr>
            <a:lvl9pPr>
              <a:defRPr sz="1950" b="0">
                <a:solidFill>
                  <a:srgbClr val="37475B"/>
                </a:solidFill>
                <a:latin typeface="Aptos"/>
                <a:ea typeface="Aptos"/>
                <a:cs typeface="Aptos"/>
              </a:defRPr>
            </a:lvl9pPr>
          </a:lstStyle>
          <a:p>
            <a:pPr>
              <a:defRPr sz="1950" b="0">
                <a:solidFill>
                  <a:srgbClr val="37475B"/>
                </a:solidFill>
                <a:latin typeface="Aptos"/>
                <a:ea typeface="Aptos"/>
                <a:cs typeface="Aptos"/>
              </a:defRPr>
            </a:pPr>
            <a:r>
              <a:rPr sz="1950" b="0">
                <a:solidFill>
                  <a:srgbClr val="37475B"/>
                </a:solidFill>
                <a:latin typeface="Aptos"/>
                <a:ea typeface="Aptos"/>
                <a:cs typeface="Aptos"/>
              </a:rPr>
              <a:t>Compute temporal-difference targets and take one RMSProp step.</a:t>
            </a:r>
          </a:p>
        </p:txBody>
      </p:sp>
    </p:spTree>
    <p:extLst>
      <p:ext uri="{BB962C8B-B14F-4D97-AF65-F5344CB8AC3E}">
        <p14:creationId xmlns:p14="http://schemas.microsoft.com/office/powerpoint/2010/main" val="398308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he temporal-difference learning rule">
            <a:extLst>
              <a:ext uri="{FF2B5EF4-FFF2-40B4-BE49-F238E27FC236}">
                <a16:creationId xmlns:a16="http://schemas.microsoft.com/office/drawing/2014/main" id="{A35B79B7-834A-4CB0-A7F8-913AC7B4C8B5}"/>
              </a:ext>
            </a:extLst>
          </p:cNvPr>
          <p:cNvSpPr>
            <a:spLocks noGrp="1"/>
          </p:cNvSpPr>
          <p:nvPr/>
        </p:nvSpPr>
        <p:spPr>
          <a:xfrm>
            <a:off x="609600" y="438150"/>
            <a:ext cx="10763250" cy="666750"/>
          </a:xfrm>
          <a:prstGeom prst="rect">
            <a:avLst/>
          </a:prstGeom>
          <a:noFill/>
          <a:ln w="0">
            <a:noFill/>
          </a:ln>
        </p:spPr>
        <p:txBody>
          <a:bodyPr lIns="0" tIns="0" rIns="0" bIns="0" anchor="t">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The temporal-difference learning rule</a:t>
            </a:r>
          </a:p>
        </p:txBody>
      </p:sp>
      <p:sp>
        <p:nvSpPr>
          <p:cNvPr id="3" name="07">
            <a:extLst>
              <a:ext uri="{FF2B5EF4-FFF2-40B4-BE49-F238E27FC236}">
                <a16:creationId xmlns:a16="http://schemas.microsoft.com/office/drawing/2014/main" id="{3748EFC0-7026-4EB3-8413-263B1E30DA4F}"/>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08</a:t>
            </a:r>
          </a:p>
        </p:txBody>
      </p:sp>
      <p:sp>
        <p:nvSpPr>
          <p:cNvPr id="4" name="r̃ = sign(r)">
            <a:extLst>
              <a:ext uri="{FF2B5EF4-FFF2-40B4-BE49-F238E27FC236}">
                <a16:creationId xmlns:a16="http://schemas.microsoft.com/office/drawing/2014/main" id="{FAAB7F2F-9DBF-46C5-8982-ACEC8FC77E45}"/>
              </a:ext>
            </a:extLst>
          </p:cNvPr>
          <p:cNvSpPr>
            <a:spLocks noGrp="1"/>
          </p:cNvSpPr>
          <p:nvPr/>
        </p:nvSpPr>
        <p:spPr>
          <a:xfrm>
            <a:off x="619125" y="1476375"/>
            <a:ext cx="10572750" cy="523875"/>
          </a:xfrm>
          <a:prstGeom prst="rect">
            <a:avLst/>
          </a:prstGeom>
          <a:noFill/>
          <a:ln w="0">
            <a:noFill/>
          </a:ln>
        </p:spPr>
        <p:txBody>
          <a:bodyPr lIns="0" tIns="0" rIns="0" bIns="0" anchor="t">
            <a:noAutofit/>
          </a:bodyPr>
          <a:lstStyle>
            <a:defPPr>
              <a:defRPr sz="2700" b="0">
                <a:solidFill>
                  <a:srgbClr val="087F8C"/>
                </a:solidFill>
                <a:latin typeface="Aptos"/>
                <a:ea typeface="Aptos"/>
                <a:cs typeface="Aptos"/>
              </a:defRPr>
            </a:defPPr>
            <a:lvl1pPr>
              <a:defRPr sz="2700" b="0">
                <a:solidFill>
                  <a:srgbClr val="087F8C"/>
                </a:solidFill>
                <a:latin typeface="Aptos"/>
                <a:ea typeface="Aptos"/>
                <a:cs typeface="Aptos"/>
              </a:defRPr>
            </a:lvl1pPr>
            <a:lvl2pPr>
              <a:defRPr sz="2700" b="0">
                <a:solidFill>
                  <a:srgbClr val="087F8C"/>
                </a:solidFill>
                <a:latin typeface="Aptos"/>
                <a:ea typeface="Aptos"/>
                <a:cs typeface="Aptos"/>
              </a:defRPr>
            </a:lvl2pPr>
            <a:lvl3pPr>
              <a:defRPr sz="2700" b="0">
                <a:solidFill>
                  <a:srgbClr val="087F8C"/>
                </a:solidFill>
                <a:latin typeface="Aptos"/>
                <a:ea typeface="Aptos"/>
                <a:cs typeface="Aptos"/>
              </a:defRPr>
            </a:lvl3pPr>
            <a:lvl4pPr>
              <a:defRPr sz="2700" b="0">
                <a:solidFill>
                  <a:srgbClr val="087F8C"/>
                </a:solidFill>
                <a:latin typeface="Aptos"/>
                <a:ea typeface="Aptos"/>
                <a:cs typeface="Aptos"/>
              </a:defRPr>
            </a:lvl4pPr>
            <a:lvl5pPr>
              <a:defRPr sz="2700" b="0">
                <a:solidFill>
                  <a:srgbClr val="087F8C"/>
                </a:solidFill>
                <a:latin typeface="Aptos"/>
                <a:ea typeface="Aptos"/>
                <a:cs typeface="Aptos"/>
              </a:defRPr>
            </a:lvl5pPr>
            <a:lvl6pPr>
              <a:defRPr sz="2700" b="0">
                <a:solidFill>
                  <a:srgbClr val="087F8C"/>
                </a:solidFill>
                <a:latin typeface="Aptos"/>
                <a:ea typeface="Aptos"/>
                <a:cs typeface="Aptos"/>
              </a:defRPr>
            </a:lvl6pPr>
            <a:lvl7pPr>
              <a:defRPr sz="2700" b="0">
                <a:solidFill>
                  <a:srgbClr val="087F8C"/>
                </a:solidFill>
                <a:latin typeface="Aptos"/>
                <a:ea typeface="Aptos"/>
                <a:cs typeface="Aptos"/>
              </a:defRPr>
            </a:lvl7pPr>
            <a:lvl8pPr>
              <a:defRPr sz="2700" b="0">
                <a:solidFill>
                  <a:srgbClr val="087F8C"/>
                </a:solidFill>
                <a:latin typeface="Aptos"/>
                <a:ea typeface="Aptos"/>
                <a:cs typeface="Aptos"/>
              </a:defRPr>
            </a:lvl8pPr>
            <a:lvl9pPr>
              <a:defRPr sz="2700" b="0">
                <a:solidFill>
                  <a:srgbClr val="087F8C"/>
                </a:solidFill>
                <a:latin typeface="Aptos"/>
                <a:ea typeface="Aptos"/>
                <a:cs typeface="Aptos"/>
              </a:defRPr>
            </a:lvl9pPr>
          </a:lstStyle>
          <a:p>
            <a:pPr>
              <a:defRPr sz="2700" b="0">
                <a:solidFill>
                  <a:srgbClr val="087F8C"/>
                </a:solidFill>
                <a:latin typeface="Aptos"/>
                <a:ea typeface="Aptos"/>
                <a:cs typeface="Aptos"/>
              </a:defRPr>
            </a:pPr>
            <a:r>
              <a:rPr sz="2700" b="0">
                <a:solidFill>
                  <a:srgbClr val="087F8C"/>
                </a:solidFill>
                <a:latin typeface="Aptos"/>
                <a:ea typeface="Aptos"/>
                <a:cs typeface="Aptos"/>
              </a:rPr>
              <a:t>r̃ = sign(r)</a:t>
            </a:r>
          </a:p>
        </p:txBody>
      </p:sp>
      <p:sp>
        <p:nvSpPr>
          <p:cNvPr id="5" name="y = r̃ + γ(1 − d) maxₐ′ Q(s′, a′; θ)">
            <a:extLst>
              <a:ext uri="{FF2B5EF4-FFF2-40B4-BE49-F238E27FC236}">
                <a16:creationId xmlns:a16="http://schemas.microsoft.com/office/drawing/2014/main" id="{AE758C61-9714-41DE-9467-2DDBF9A5142A}"/>
              </a:ext>
            </a:extLst>
          </p:cNvPr>
          <p:cNvSpPr>
            <a:spLocks noGrp="1"/>
          </p:cNvSpPr>
          <p:nvPr/>
        </p:nvSpPr>
        <p:spPr>
          <a:xfrm>
            <a:off x="619125" y="2409825"/>
            <a:ext cx="10668000" cy="609600"/>
          </a:xfrm>
          <a:prstGeom prst="rect">
            <a:avLst/>
          </a:prstGeom>
          <a:noFill/>
          <a:ln w="0">
            <a:noFill/>
          </a:ln>
        </p:spPr>
        <p:txBody>
          <a:bodyPr lIns="0" tIns="0" rIns="0" bIns="0" anchor="t">
            <a:noAutofit/>
          </a:bodyPr>
          <a:lstStyle>
            <a:defPPr>
              <a:defRPr sz="3225" b="0">
                <a:solidFill>
                  <a:srgbClr val="087F8C"/>
                </a:solidFill>
                <a:latin typeface="Aptos"/>
                <a:ea typeface="Aptos"/>
                <a:cs typeface="Aptos"/>
              </a:defRPr>
            </a:defPPr>
            <a:lvl1pPr>
              <a:defRPr sz="3225" b="0">
                <a:solidFill>
                  <a:srgbClr val="087F8C"/>
                </a:solidFill>
                <a:latin typeface="Aptos"/>
                <a:ea typeface="Aptos"/>
                <a:cs typeface="Aptos"/>
              </a:defRPr>
            </a:lvl1pPr>
            <a:lvl2pPr>
              <a:defRPr sz="3225" b="0">
                <a:solidFill>
                  <a:srgbClr val="087F8C"/>
                </a:solidFill>
                <a:latin typeface="Aptos"/>
                <a:ea typeface="Aptos"/>
                <a:cs typeface="Aptos"/>
              </a:defRPr>
            </a:lvl2pPr>
            <a:lvl3pPr>
              <a:defRPr sz="3225" b="0">
                <a:solidFill>
                  <a:srgbClr val="087F8C"/>
                </a:solidFill>
                <a:latin typeface="Aptos"/>
                <a:ea typeface="Aptos"/>
                <a:cs typeface="Aptos"/>
              </a:defRPr>
            </a:lvl3pPr>
            <a:lvl4pPr>
              <a:defRPr sz="3225" b="0">
                <a:solidFill>
                  <a:srgbClr val="087F8C"/>
                </a:solidFill>
                <a:latin typeface="Aptos"/>
                <a:ea typeface="Aptos"/>
                <a:cs typeface="Aptos"/>
              </a:defRPr>
            </a:lvl4pPr>
            <a:lvl5pPr>
              <a:defRPr sz="3225" b="0">
                <a:solidFill>
                  <a:srgbClr val="087F8C"/>
                </a:solidFill>
                <a:latin typeface="Aptos"/>
                <a:ea typeface="Aptos"/>
                <a:cs typeface="Aptos"/>
              </a:defRPr>
            </a:lvl5pPr>
            <a:lvl6pPr>
              <a:defRPr sz="3225" b="0">
                <a:solidFill>
                  <a:srgbClr val="087F8C"/>
                </a:solidFill>
                <a:latin typeface="Aptos"/>
                <a:ea typeface="Aptos"/>
                <a:cs typeface="Aptos"/>
              </a:defRPr>
            </a:lvl6pPr>
            <a:lvl7pPr>
              <a:defRPr sz="3225" b="0">
                <a:solidFill>
                  <a:srgbClr val="087F8C"/>
                </a:solidFill>
                <a:latin typeface="Aptos"/>
                <a:ea typeface="Aptos"/>
                <a:cs typeface="Aptos"/>
              </a:defRPr>
            </a:lvl7pPr>
            <a:lvl8pPr>
              <a:defRPr sz="3225" b="0">
                <a:solidFill>
                  <a:srgbClr val="087F8C"/>
                </a:solidFill>
                <a:latin typeface="Aptos"/>
                <a:ea typeface="Aptos"/>
                <a:cs typeface="Aptos"/>
              </a:defRPr>
            </a:lvl8pPr>
            <a:lvl9pPr>
              <a:defRPr sz="3225" b="0">
                <a:solidFill>
                  <a:srgbClr val="087F8C"/>
                </a:solidFill>
                <a:latin typeface="Aptos"/>
                <a:ea typeface="Aptos"/>
                <a:cs typeface="Aptos"/>
              </a:defRPr>
            </a:lvl9pPr>
          </a:lstStyle>
          <a:p>
            <a:pPr>
              <a:defRPr sz="3225" b="0">
                <a:solidFill>
                  <a:srgbClr val="087F8C"/>
                </a:solidFill>
                <a:latin typeface="Aptos"/>
                <a:ea typeface="Aptos"/>
                <a:cs typeface="Aptos"/>
              </a:defRPr>
            </a:pPr>
            <a:r>
              <a:rPr sz="3225" b="0">
                <a:solidFill>
                  <a:srgbClr val="087F8C"/>
                </a:solidFill>
                <a:latin typeface="Aptos"/>
                <a:ea typeface="Aptos"/>
                <a:cs typeface="Aptos"/>
              </a:rPr>
              <a:t>y = r̃ + γ(1 − d) maxₐ′ Q(s′, a′; θ)</a:t>
            </a:r>
          </a:p>
        </p:txBody>
      </p:sp>
      <p:sp>
        <p:nvSpPr>
          <p:cNvPr id="6" name="L(θ) = (1 / B) ∑ⱼ [ yⱼ − Q(sⱼ, aⱼ; θ) ]²">
            <a:extLst>
              <a:ext uri="{FF2B5EF4-FFF2-40B4-BE49-F238E27FC236}">
                <a16:creationId xmlns:a16="http://schemas.microsoft.com/office/drawing/2014/main" id="{3A58ACC4-5E63-4273-B5C9-276951A46EE1}"/>
              </a:ext>
            </a:extLst>
          </p:cNvPr>
          <p:cNvSpPr>
            <a:spLocks noGrp="1"/>
          </p:cNvSpPr>
          <p:nvPr/>
        </p:nvSpPr>
        <p:spPr>
          <a:xfrm>
            <a:off x="619125" y="3505200"/>
            <a:ext cx="10668000" cy="619125"/>
          </a:xfrm>
          <a:prstGeom prst="rect">
            <a:avLst/>
          </a:prstGeom>
          <a:noFill/>
          <a:ln w="0">
            <a:noFill/>
          </a:ln>
        </p:spPr>
        <p:txBody>
          <a:bodyPr lIns="0" tIns="0" rIns="0" bIns="0" anchor="t">
            <a:noAutofit/>
          </a:bodyPr>
          <a:lstStyle>
            <a:defPPr>
              <a:defRPr sz="3075" b="0">
                <a:solidFill>
                  <a:srgbClr val="18324F"/>
                </a:solidFill>
                <a:latin typeface="Aptos"/>
                <a:ea typeface="Aptos"/>
                <a:cs typeface="Aptos"/>
              </a:defRPr>
            </a:defPPr>
            <a:lvl1pPr>
              <a:defRPr sz="3075" b="0">
                <a:solidFill>
                  <a:srgbClr val="18324F"/>
                </a:solidFill>
                <a:latin typeface="Aptos"/>
                <a:ea typeface="Aptos"/>
                <a:cs typeface="Aptos"/>
              </a:defRPr>
            </a:lvl1pPr>
            <a:lvl2pPr>
              <a:defRPr sz="3075" b="0">
                <a:solidFill>
                  <a:srgbClr val="18324F"/>
                </a:solidFill>
                <a:latin typeface="Aptos"/>
                <a:ea typeface="Aptos"/>
                <a:cs typeface="Aptos"/>
              </a:defRPr>
            </a:lvl2pPr>
            <a:lvl3pPr>
              <a:defRPr sz="3075" b="0">
                <a:solidFill>
                  <a:srgbClr val="18324F"/>
                </a:solidFill>
                <a:latin typeface="Aptos"/>
                <a:ea typeface="Aptos"/>
                <a:cs typeface="Aptos"/>
              </a:defRPr>
            </a:lvl3pPr>
            <a:lvl4pPr>
              <a:defRPr sz="3075" b="0">
                <a:solidFill>
                  <a:srgbClr val="18324F"/>
                </a:solidFill>
                <a:latin typeface="Aptos"/>
                <a:ea typeface="Aptos"/>
                <a:cs typeface="Aptos"/>
              </a:defRPr>
            </a:lvl4pPr>
            <a:lvl5pPr>
              <a:defRPr sz="3075" b="0">
                <a:solidFill>
                  <a:srgbClr val="18324F"/>
                </a:solidFill>
                <a:latin typeface="Aptos"/>
                <a:ea typeface="Aptos"/>
                <a:cs typeface="Aptos"/>
              </a:defRPr>
            </a:lvl5pPr>
            <a:lvl6pPr>
              <a:defRPr sz="3075" b="0">
                <a:solidFill>
                  <a:srgbClr val="18324F"/>
                </a:solidFill>
                <a:latin typeface="Aptos"/>
                <a:ea typeface="Aptos"/>
                <a:cs typeface="Aptos"/>
              </a:defRPr>
            </a:lvl6pPr>
            <a:lvl7pPr>
              <a:defRPr sz="3075" b="0">
                <a:solidFill>
                  <a:srgbClr val="18324F"/>
                </a:solidFill>
                <a:latin typeface="Aptos"/>
                <a:ea typeface="Aptos"/>
                <a:cs typeface="Aptos"/>
              </a:defRPr>
            </a:lvl7pPr>
            <a:lvl8pPr>
              <a:defRPr sz="3075" b="0">
                <a:solidFill>
                  <a:srgbClr val="18324F"/>
                </a:solidFill>
                <a:latin typeface="Aptos"/>
                <a:ea typeface="Aptos"/>
                <a:cs typeface="Aptos"/>
              </a:defRPr>
            </a:lvl8pPr>
            <a:lvl9pPr>
              <a:defRPr sz="3075" b="0">
                <a:solidFill>
                  <a:srgbClr val="18324F"/>
                </a:solidFill>
                <a:latin typeface="Aptos"/>
                <a:ea typeface="Aptos"/>
                <a:cs typeface="Aptos"/>
              </a:defRPr>
            </a:lvl9pPr>
          </a:lstStyle>
          <a:p>
            <a:pPr>
              <a:defRPr sz="3075" b="0">
                <a:solidFill>
                  <a:srgbClr val="18324F"/>
                </a:solidFill>
                <a:latin typeface="Aptos"/>
                <a:ea typeface="Aptos"/>
                <a:cs typeface="Aptos"/>
              </a:defRPr>
            </a:pPr>
            <a:r>
              <a:rPr sz="3075" b="0">
                <a:solidFill>
                  <a:srgbClr val="18324F"/>
                </a:solidFill>
                <a:latin typeface="Aptos"/>
                <a:ea typeface="Aptos"/>
                <a:cs typeface="Aptos"/>
              </a:rPr>
              <a:t>L(θ) = (1 / B) ∑ⱼ [ yⱼ − Q(sⱼ, aⱼ; θ) ]²</a:t>
            </a:r>
          </a:p>
        </p:txBody>
      </p:sp>
      <p:sp>
        <p:nvSpPr>
          <p:cNvPr id="7" name="B = 32     γ = 0.99     d = 1 for game-over">
            <a:extLst>
              <a:ext uri="{FF2B5EF4-FFF2-40B4-BE49-F238E27FC236}">
                <a16:creationId xmlns:a16="http://schemas.microsoft.com/office/drawing/2014/main" id="{27A22582-1FF4-4640-95F9-69DB2C90A376}"/>
              </a:ext>
            </a:extLst>
          </p:cNvPr>
          <p:cNvSpPr>
            <a:spLocks noGrp="1"/>
          </p:cNvSpPr>
          <p:nvPr/>
        </p:nvSpPr>
        <p:spPr>
          <a:xfrm>
            <a:off x="619125" y="4543425"/>
            <a:ext cx="10477500" cy="428625"/>
          </a:xfrm>
          <a:prstGeom prst="rect">
            <a:avLst/>
          </a:prstGeom>
          <a:noFill/>
          <a:ln w="0">
            <a:noFill/>
          </a:ln>
        </p:spPr>
        <p:txBody>
          <a:bodyPr lIns="0" tIns="0" rIns="0" bIns="0" anchor="t">
            <a:noAutofit/>
          </a:bodyPr>
          <a:lstStyle>
            <a:defPPr>
              <a:defRPr sz="2175" b="0">
                <a:solidFill>
                  <a:srgbClr val="37475B"/>
                </a:solidFill>
                <a:latin typeface="Aptos"/>
                <a:ea typeface="Aptos"/>
                <a:cs typeface="Aptos"/>
              </a:defRPr>
            </a:defPPr>
            <a:lvl1pPr>
              <a:defRPr sz="2175" b="0">
                <a:solidFill>
                  <a:srgbClr val="37475B"/>
                </a:solidFill>
                <a:latin typeface="Aptos"/>
                <a:ea typeface="Aptos"/>
                <a:cs typeface="Aptos"/>
              </a:defRPr>
            </a:lvl1pPr>
            <a:lvl2pPr>
              <a:defRPr sz="2175" b="0">
                <a:solidFill>
                  <a:srgbClr val="37475B"/>
                </a:solidFill>
                <a:latin typeface="Aptos"/>
                <a:ea typeface="Aptos"/>
                <a:cs typeface="Aptos"/>
              </a:defRPr>
            </a:lvl2pPr>
            <a:lvl3pPr>
              <a:defRPr sz="2175" b="0">
                <a:solidFill>
                  <a:srgbClr val="37475B"/>
                </a:solidFill>
                <a:latin typeface="Aptos"/>
                <a:ea typeface="Aptos"/>
                <a:cs typeface="Aptos"/>
              </a:defRPr>
            </a:lvl3pPr>
            <a:lvl4pPr>
              <a:defRPr sz="2175" b="0">
                <a:solidFill>
                  <a:srgbClr val="37475B"/>
                </a:solidFill>
                <a:latin typeface="Aptos"/>
                <a:ea typeface="Aptos"/>
                <a:cs typeface="Aptos"/>
              </a:defRPr>
            </a:lvl4pPr>
            <a:lvl5pPr>
              <a:defRPr sz="2175" b="0">
                <a:solidFill>
                  <a:srgbClr val="37475B"/>
                </a:solidFill>
                <a:latin typeface="Aptos"/>
                <a:ea typeface="Aptos"/>
                <a:cs typeface="Aptos"/>
              </a:defRPr>
            </a:lvl5pPr>
            <a:lvl6pPr>
              <a:defRPr sz="2175" b="0">
                <a:solidFill>
                  <a:srgbClr val="37475B"/>
                </a:solidFill>
                <a:latin typeface="Aptos"/>
                <a:ea typeface="Aptos"/>
                <a:cs typeface="Aptos"/>
              </a:defRPr>
            </a:lvl6pPr>
            <a:lvl7pPr>
              <a:defRPr sz="2175" b="0">
                <a:solidFill>
                  <a:srgbClr val="37475B"/>
                </a:solidFill>
                <a:latin typeface="Aptos"/>
                <a:ea typeface="Aptos"/>
                <a:cs typeface="Aptos"/>
              </a:defRPr>
            </a:lvl7pPr>
            <a:lvl8pPr>
              <a:defRPr sz="2175" b="0">
                <a:solidFill>
                  <a:srgbClr val="37475B"/>
                </a:solidFill>
                <a:latin typeface="Aptos"/>
                <a:ea typeface="Aptos"/>
                <a:cs typeface="Aptos"/>
              </a:defRPr>
            </a:lvl8pPr>
            <a:lvl9pPr>
              <a:defRPr sz="2175" b="0">
                <a:solidFill>
                  <a:srgbClr val="37475B"/>
                </a:solidFill>
                <a:latin typeface="Aptos"/>
                <a:ea typeface="Aptos"/>
                <a:cs typeface="Aptos"/>
              </a:defRPr>
            </a:lvl9pPr>
          </a:lstStyle>
          <a:p>
            <a:pPr>
              <a:defRPr sz="2175" b="0">
                <a:solidFill>
                  <a:srgbClr val="37475B"/>
                </a:solidFill>
                <a:latin typeface="Aptos"/>
                <a:ea typeface="Aptos"/>
                <a:cs typeface="Aptos"/>
              </a:defRPr>
            </a:pPr>
            <a:r>
              <a:rPr sz="2175" b="0">
                <a:solidFill>
                  <a:srgbClr val="37475B"/>
                </a:solidFill>
                <a:latin typeface="Aptos"/>
                <a:ea typeface="Aptos"/>
                <a:cs typeface="Aptos"/>
              </a:rPr>
              <a:t>B = 32     γ = 0.99     d = 1 for game-over</a:t>
            </a:r>
          </a:p>
        </p:txBody>
      </p:sp>
      <p:sp>
        <p:nvSpPr>
          <p:cNvPr id="8" name="Detach y from the gradient, then update θ with RMSProp.">
            <a:extLst>
              <a:ext uri="{FF2B5EF4-FFF2-40B4-BE49-F238E27FC236}">
                <a16:creationId xmlns:a16="http://schemas.microsoft.com/office/drawing/2014/main" id="{0FE08769-CC62-4E53-A735-456C90AA8E56}"/>
              </a:ext>
            </a:extLst>
          </p:cNvPr>
          <p:cNvSpPr>
            <a:spLocks noGrp="1"/>
          </p:cNvSpPr>
          <p:nvPr/>
        </p:nvSpPr>
        <p:spPr>
          <a:xfrm>
            <a:off x="619125" y="5448300"/>
            <a:ext cx="10668000" cy="590550"/>
          </a:xfrm>
          <a:prstGeom prst="rect">
            <a:avLst/>
          </a:prstGeom>
          <a:noFill/>
          <a:ln w="0">
            <a:noFill/>
          </a:ln>
        </p:spPr>
        <p:txBody>
          <a:bodyPr lIns="0" tIns="0" rIns="0" bIns="0" anchor="t">
            <a:noAutofit/>
          </a:bodyPr>
          <a:lstStyle>
            <a:defPPr>
              <a:defRPr sz="2175" b="0">
                <a:solidFill>
                  <a:srgbClr val="18324F"/>
                </a:solidFill>
                <a:latin typeface="Aptos"/>
                <a:ea typeface="Aptos"/>
                <a:cs typeface="Aptos"/>
              </a:defRPr>
            </a:defPPr>
            <a:lvl1pPr>
              <a:defRPr sz="2175" b="0">
                <a:solidFill>
                  <a:srgbClr val="18324F"/>
                </a:solidFill>
                <a:latin typeface="Aptos"/>
                <a:ea typeface="Aptos"/>
                <a:cs typeface="Aptos"/>
              </a:defRPr>
            </a:lvl1pPr>
            <a:lvl2pPr>
              <a:defRPr sz="2175" b="0">
                <a:solidFill>
                  <a:srgbClr val="18324F"/>
                </a:solidFill>
                <a:latin typeface="Aptos"/>
                <a:ea typeface="Aptos"/>
                <a:cs typeface="Aptos"/>
              </a:defRPr>
            </a:lvl2pPr>
            <a:lvl3pPr>
              <a:defRPr sz="2175" b="0">
                <a:solidFill>
                  <a:srgbClr val="18324F"/>
                </a:solidFill>
                <a:latin typeface="Aptos"/>
                <a:ea typeface="Aptos"/>
                <a:cs typeface="Aptos"/>
              </a:defRPr>
            </a:lvl3pPr>
            <a:lvl4pPr>
              <a:defRPr sz="2175" b="0">
                <a:solidFill>
                  <a:srgbClr val="18324F"/>
                </a:solidFill>
                <a:latin typeface="Aptos"/>
                <a:ea typeface="Aptos"/>
                <a:cs typeface="Aptos"/>
              </a:defRPr>
            </a:lvl4pPr>
            <a:lvl5pPr>
              <a:defRPr sz="2175" b="0">
                <a:solidFill>
                  <a:srgbClr val="18324F"/>
                </a:solidFill>
                <a:latin typeface="Aptos"/>
                <a:ea typeface="Aptos"/>
                <a:cs typeface="Aptos"/>
              </a:defRPr>
            </a:lvl5pPr>
            <a:lvl6pPr>
              <a:defRPr sz="2175" b="0">
                <a:solidFill>
                  <a:srgbClr val="18324F"/>
                </a:solidFill>
                <a:latin typeface="Aptos"/>
                <a:ea typeface="Aptos"/>
                <a:cs typeface="Aptos"/>
              </a:defRPr>
            </a:lvl6pPr>
            <a:lvl7pPr>
              <a:defRPr sz="2175" b="0">
                <a:solidFill>
                  <a:srgbClr val="18324F"/>
                </a:solidFill>
                <a:latin typeface="Aptos"/>
                <a:ea typeface="Aptos"/>
                <a:cs typeface="Aptos"/>
              </a:defRPr>
            </a:lvl7pPr>
            <a:lvl8pPr>
              <a:defRPr sz="2175" b="0">
                <a:solidFill>
                  <a:srgbClr val="18324F"/>
                </a:solidFill>
                <a:latin typeface="Aptos"/>
                <a:ea typeface="Aptos"/>
                <a:cs typeface="Aptos"/>
              </a:defRPr>
            </a:lvl8pPr>
            <a:lvl9pPr>
              <a:defRPr sz="2175" b="0">
                <a:solidFill>
                  <a:srgbClr val="18324F"/>
                </a:solidFill>
                <a:latin typeface="Aptos"/>
                <a:ea typeface="Aptos"/>
                <a:cs typeface="Aptos"/>
              </a:defRPr>
            </a:lvl9pPr>
          </a:lstStyle>
          <a:p>
            <a:pPr>
              <a:defRPr sz="2175" b="0">
                <a:solidFill>
                  <a:srgbClr val="18324F"/>
                </a:solidFill>
                <a:latin typeface="Aptos"/>
                <a:ea typeface="Aptos"/>
                <a:cs typeface="Aptos"/>
              </a:defRPr>
            </a:pPr>
            <a:r>
              <a:rPr sz="2175" b="0">
                <a:solidFill>
                  <a:srgbClr val="18324F"/>
                </a:solidFill>
                <a:latin typeface="Aptos"/>
                <a:ea typeface="Aptos"/>
                <a:cs typeface="Aptos"/>
              </a:rPr>
              <a:t>Detach y from the gradient, then update θ with RMSProp.</a:t>
            </a:r>
          </a:p>
        </p:txBody>
      </p:sp>
    </p:spTree>
    <p:extLst>
      <p:ext uri="{BB962C8B-B14F-4D97-AF65-F5344CB8AC3E}">
        <p14:creationId xmlns:p14="http://schemas.microsoft.com/office/powerpoint/2010/main" val="1492854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Exploration drops quickly in this run">
            <a:extLst>
              <a:ext uri="{FF2B5EF4-FFF2-40B4-BE49-F238E27FC236}">
                <a16:creationId xmlns:a16="http://schemas.microsoft.com/office/drawing/2014/main" id="{C68042BF-187C-4AF0-B9EB-0726DB57E287}"/>
              </a:ext>
            </a:extLst>
          </p:cNvPr>
          <p:cNvSpPr>
            <a:spLocks noGrp="1"/>
          </p:cNvSpPr>
          <p:nvPr/>
        </p:nvSpPr>
        <p:spPr>
          <a:xfrm>
            <a:off x="609600" y="438150"/>
            <a:ext cx="10763250" cy="666750"/>
          </a:xfrm>
          <a:prstGeom prst="rect">
            <a:avLst/>
          </a:prstGeom>
          <a:noFill/>
          <a:ln w="0">
            <a:noFill/>
          </a:ln>
        </p:spPr>
        <p:txBody>
          <a:bodyPr lIns="0" tIns="0" rIns="0" bIns="0" anchor="t">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Exploration drops quickly in this run</a:t>
            </a:r>
          </a:p>
        </p:txBody>
      </p:sp>
      <p:sp>
        <p:nvSpPr>
          <p:cNvPr id="3" name="08">
            <a:extLst>
              <a:ext uri="{FF2B5EF4-FFF2-40B4-BE49-F238E27FC236}">
                <a16:creationId xmlns:a16="http://schemas.microsoft.com/office/drawing/2014/main" id="{154531DD-7442-4024-9DB5-3367F56235D8}"/>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09</a:t>
            </a:r>
          </a:p>
        </p:txBody>
      </p:sp>
      <p:graphicFrame>
        <p:nvGraphicFramePr>
          <p:cNvPr id="4" name="Chart">
            <a:extLst>
              <a:ext uri="{FF2B5EF4-FFF2-40B4-BE49-F238E27FC236}">
                <a16:creationId xmlns:a16="http://schemas.microsoft.com/office/drawing/2014/main" id="{812DCBEB-8535-470A-ADCD-17697BEA25A3}"/>
              </a:ext>
            </a:extLst>
          </p:cNvPr>
          <p:cNvGraphicFramePr/>
          <p:nvPr/>
        </p:nvGraphicFramePr>
        <p:xfrm>
          <a:off x="552450" y="1657350"/>
          <a:ext cx="7191375"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5" name="Random action">
            <a:extLst>
              <a:ext uri="{FF2B5EF4-FFF2-40B4-BE49-F238E27FC236}">
                <a16:creationId xmlns:a16="http://schemas.microsoft.com/office/drawing/2014/main" id="{0009E597-1170-4069-9BC6-556F08587B59}"/>
              </a:ext>
            </a:extLst>
          </p:cNvPr>
          <p:cNvSpPr>
            <a:spLocks noGrp="1"/>
          </p:cNvSpPr>
          <p:nvPr/>
        </p:nvSpPr>
        <p:spPr>
          <a:xfrm>
            <a:off x="8286750" y="1857375"/>
            <a:ext cx="3238500" cy="400050"/>
          </a:xfrm>
          <a:prstGeom prst="rect">
            <a:avLst/>
          </a:prstGeom>
          <a:noFill/>
          <a:ln w="0">
            <a:noFill/>
          </a:ln>
        </p:spPr>
        <p:txBody>
          <a:bodyPr lIns="0" tIns="0" rIns="0" bIns="0" anchor="t">
            <a:noAutofit/>
          </a:bodyPr>
          <a:lstStyle>
            <a:defPPr>
              <a:defRPr sz="2175" b="1">
                <a:solidFill>
                  <a:srgbClr val="087F8C"/>
                </a:solidFill>
                <a:latin typeface="Aptos"/>
                <a:ea typeface="Aptos"/>
                <a:cs typeface="Aptos"/>
              </a:defRPr>
            </a:defPPr>
            <a:lvl1pPr>
              <a:defRPr sz="2175" b="1">
                <a:solidFill>
                  <a:srgbClr val="087F8C"/>
                </a:solidFill>
                <a:latin typeface="Aptos"/>
                <a:ea typeface="Aptos"/>
                <a:cs typeface="Aptos"/>
              </a:defRPr>
            </a:lvl1pPr>
            <a:lvl2pPr>
              <a:defRPr sz="2175" b="1">
                <a:solidFill>
                  <a:srgbClr val="087F8C"/>
                </a:solidFill>
                <a:latin typeface="Aptos"/>
                <a:ea typeface="Aptos"/>
                <a:cs typeface="Aptos"/>
              </a:defRPr>
            </a:lvl2pPr>
            <a:lvl3pPr>
              <a:defRPr sz="2175" b="1">
                <a:solidFill>
                  <a:srgbClr val="087F8C"/>
                </a:solidFill>
                <a:latin typeface="Aptos"/>
                <a:ea typeface="Aptos"/>
                <a:cs typeface="Aptos"/>
              </a:defRPr>
            </a:lvl3pPr>
            <a:lvl4pPr>
              <a:defRPr sz="2175" b="1">
                <a:solidFill>
                  <a:srgbClr val="087F8C"/>
                </a:solidFill>
                <a:latin typeface="Aptos"/>
                <a:ea typeface="Aptos"/>
                <a:cs typeface="Aptos"/>
              </a:defRPr>
            </a:lvl4pPr>
            <a:lvl5pPr>
              <a:defRPr sz="2175" b="1">
                <a:solidFill>
                  <a:srgbClr val="087F8C"/>
                </a:solidFill>
                <a:latin typeface="Aptos"/>
                <a:ea typeface="Aptos"/>
                <a:cs typeface="Aptos"/>
              </a:defRPr>
            </a:lvl5pPr>
            <a:lvl6pPr>
              <a:defRPr sz="2175" b="1">
                <a:solidFill>
                  <a:srgbClr val="087F8C"/>
                </a:solidFill>
                <a:latin typeface="Aptos"/>
                <a:ea typeface="Aptos"/>
                <a:cs typeface="Aptos"/>
              </a:defRPr>
            </a:lvl6pPr>
            <a:lvl7pPr>
              <a:defRPr sz="2175" b="1">
                <a:solidFill>
                  <a:srgbClr val="087F8C"/>
                </a:solidFill>
                <a:latin typeface="Aptos"/>
                <a:ea typeface="Aptos"/>
                <a:cs typeface="Aptos"/>
              </a:defRPr>
            </a:lvl7pPr>
            <a:lvl8pPr>
              <a:defRPr sz="2175" b="1">
                <a:solidFill>
                  <a:srgbClr val="087F8C"/>
                </a:solidFill>
                <a:latin typeface="Aptos"/>
                <a:ea typeface="Aptos"/>
                <a:cs typeface="Aptos"/>
              </a:defRPr>
            </a:lvl8pPr>
            <a:lvl9pPr>
              <a:defRPr sz="2175" b="1">
                <a:solidFill>
                  <a:srgbClr val="087F8C"/>
                </a:solidFill>
                <a:latin typeface="Aptos"/>
                <a:ea typeface="Aptos"/>
                <a:cs typeface="Aptos"/>
              </a:defRPr>
            </a:lvl9pPr>
          </a:lstStyle>
          <a:p>
            <a:pPr>
              <a:defRPr sz="2175" b="1">
                <a:solidFill>
                  <a:srgbClr val="087F8C"/>
                </a:solidFill>
                <a:latin typeface="Aptos"/>
                <a:ea typeface="Aptos"/>
                <a:cs typeface="Aptos"/>
              </a:defRPr>
            </a:pPr>
            <a:r>
              <a:rPr sz="2175" b="1">
                <a:solidFill>
                  <a:srgbClr val="087F8C"/>
                </a:solidFill>
                <a:latin typeface="Aptos"/>
                <a:ea typeface="Aptos"/>
                <a:cs typeface="Aptos"/>
              </a:rPr>
              <a:t>Random action</a:t>
            </a:r>
          </a:p>
        </p:txBody>
      </p:sp>
      <p:sp>
        <p:nvSpPr>
          <p:cNvPr id="6" name="with probability ε">
            <a:extLst>
              <a:ext uri="{FF2B5EF4-FFF2-40B4-BE49-F238E27FC236}">
                <a16:creationId xmlns:a16="http://schemas.microsoft.com/office/drawing/2014/main" id="{2181CE32-07AA-4BA8-B043-BC0612D64544}"/>
              </a:ext>
            </a:extLst>
          </p:cNvPr>
          <p:cNvSpPr>
            <a:spLocks noGrp="1"/>
          </p:cNvSpPr>
          <p:nvPr/>
        </p:nvSpPr>
        <p:spPr>
          <a:xfrm>
            <a:off x="8286750" y="2333625"/>
            <a:ext cx="3238500" cy="590550"/>
          </a:xfrm>
          <a:prstGeom prst="rect">
            <a:avLst/>
          </a:prstGeom>
          <a:noFill/>
          <a:ln w="0">
            <a:noFill/>
          </a:ln>
        </p:spPr>
        <p:txBody>
          <a:bodyPr lIns="0" tIns="0" rIns="0" bIns="0" anchor="t">
            <a:noAutofit/>
          </a:bodyPr>
          <a:lstStyle>
            <a:defPPr>
              <a:defRPr sz="2025" b="0">
                <a:solidFill>
                  <a:srgbClr val="37475B"/>
                </a:solidFill>
                <a:latin typeface="Aptos"/>
                <a:ea typeface="Aptos"/>
                <a:cs typeface="Aptos"/>
              </a:defRPr>
            </a:defPPr>
            <a:lvl1pPr>
              <a:defRPr sz="2025" b="0">
                <a:solidFill>
                  <a:srgbClr val="37475B"/>
                </a:solidFill>
                <a:latin typeface="Aptos"/>
                <a:ea typeface="Aptos"/>
                <a:cs typeface="Aptos"/>
              </a:defRPr>
            </a:lvl1pPr>
            <a:lvl2pPr>
              <a:defRPr sz="2025" b="0">
                <a:solidFill>
                  <a:srgbClr val="37475B"/>
                </a:solidFill>
                <a:latin typeface="Aptos"/>
                <a:ea typeface="Aptos"/>
                <a:cs typeface="Aptos"/>
              </a:defRPr>
            </a:lvl2pPr>
            <a:lvl3pPr>
              <a:defRPr sz="2025" b="0">
                <a:solidFill>
                  <a:srgbClr val="37475B"/>
                </a:solidFill>
                <a:latin typeface="Aptos"/>
                <a:ea typeface="Aptos"/>
                <a:cs typeface="Aptos"/>
              </a:defRPr>
            </a:lvl3pPr>
            <a:lvl4pPr>
              <a:defRPr sz="2025" b="0">
                <a:solidFill>
                  <a:srgbClr val="37475B"/>
                </a:solidFill>
                <a:latin typeface="Aptos"/>
                <a:ea typeface="Aptos"/>
                <a:cs typeface="Aptos"/>
              </a:defRPr>
            </a:lvl4pPr>
            <a:lvl5pPr>
              <a:defRPr sz="2025" b="0">
                <a:solidFill>
                  <a:srgbClr val="37475B"/>
                </a:solidFill>
                <a:latin typeface="Aptos"/>
                <a:ea typeface="Aptos"/>
                <a:cs typeface="Aptos"/>
              </a:defRPr>
            </a:lvl5pPr>
            <a:lvl6pPr>
              <a:defRPr sz="2025" b="0">
                <a:solidFill>
                  <a:srgbClr val="37475B"/>
                </a:solidFill>
                <a:latin typeface="Aptos"/>
                <a:ea typeface="Aptos"/>
                <a:cs typeface="Aptos"/>
              </a:defRPr>
            </a:lvl6pPr>
            <a:lvl7pPr>
              <a:defRPr sz="2025" b="0">
                <a:solidFill>
                  <a:srgbClr val="37475B"/>
                </a:solidFill>
                <a:latin typeface="Aptos"/>
                <a:ea typeface="Aptos"/>
                <a:cs typeface="Aptos"/>
              </a:defRPr>
            </a:lvl7pPr>
            <a:lvl8pPr>
              <a:defRPr sz="2025" b="0">
                <a:solidFill>
                  <a:srgbClr val="37475B"/>
                </a:solidFill>
                <a:latin typeface="Aptos"/>
                <a:ea typeface="Aptos"/>
                <a:cs typeface="Aptos"/>
              </a:defRPr>
            </a:lvl8pPr>
            <a:lvl9pPr>
              <a:defRPr sz="2025" b="0">
                <a:solidFill>
                  <a:srgbClr val="37475B"/>
                </a:solidFill>
                <a:latin typeface="Aptos"/>
                <a:ea typeface="Aptos"/>
                <a:cs typeface="Aptos"/>
              </a:defRPr>
            </a:lvl9pPr>
          </a:lstStyle>
          <a:p>
            <a:pPr>
              <a:defRPr sz="2025" b="0">
                <a:solidFill>
                  <a:srgbClr val="37475B"/>
                </a:solidFill>
                <a:latin typeface="Aptos"/>
                <a:ea typeface="Aptos"/>
                <a:cs typeface="Aptos"/>
              </a:defRPr>
            </a:pPr>
            <a:r>
              <a:rPr sz="2025" b="0">
                <a:solidFill>
                  <a:srgbClr val="37475B"/>
                </a:solidFill>
                <a:latin typeface="Aptos"/>
                <a:ea typeface="Aptos"/>
                <a:cs typeface="Aptos"/>
              </a:rPr>
              <a:t>with probability ε</a:t>
            </a:r>
          </a:p>
        </p:txBody>
      </p:sp>
      <p:sp>
        <p:nvSpPr>
          <p:cNvPr id="7" name="Greedy action">
            <a:extLst>
              <a:ext uri="{FF2B5EF4-FFF2-40B4-BE49-F238E27FC236}">
                <a16:creationId xmlns:a16="http://schemas.microsoft.com/office/drawing/2014/main" id="{52EDD7C9-DACF-49B1-BFC5-EA58B14197FA}"/>
              </a:ext>
            </a:extLst>
          </p:cNvPr>
          <p:cNvSpPr>
            <a:spLocks noGrp="1"/>
          </p:cNvSpPr>
          <p:nvPr/>
        </p:nvSpPr>
        <p:spPr>
          <a:xfrm>
            <a:off x="8286750" y="3381375"/>
            <a:ext cx="3238500" cy="400050"/>
          </a:xfrm>
          <a:prstGeom prst="rect">
            <a:avLst/>
          </a:prstGeom>
          <a:noFill/>
          <a:ln w="0">
            <a:noFill/>
          </a:ln>
        </p:spPr>
        <p:txBody>
          <a:bodyPr lIns="0" tIns="0" rIns="0" bIns="0" anchor="t">
            <a:noAutofit/>
          </a:bodyPr>
          <a:lstStyle>
            <a:defPPr>
              <a:defRPr sz="2175" b="1">
                <a:solidFill>
                  <a:srgbClr val="18324F"/>
                </a:solidFill>
                <a:latin typeface="Aptos"/>
                <a:ea typeface="Aptos"/>
                <a:cs typeface="Aptos"/>
              </a:defRPr>
            </a:defPPr>
            <a:lvl1pPr>
              <a:defRPr sz="2175" b="1">
                <a:solidFill>
                  <a:srgbClr val="18324F"/>
                </a:solidFill>
                <a:latin typeface="Aptos"/>
                <a:ea typeface="Aptos"/>
                <a:cs typeface="Aptos"/>
              </a:defRPr>
            </a:lvl1pPr>
            <a:lvl2pPr>
              <a:defRPr sz="2175" b="1">
                <a:solidFill>
                  <a:srgbClr val="18324F"/>
                </a:solidFill>
                <a:latin typeface="Aptos"/>
                <a:ea typeface="Aptos"/>
                <a:cs typeface="Aptos"/>
              </a:defRPr>
            </a:lvl2pPr>
            <a:lvl3pPr>
              <a:defRPr sz="2175" b="1">
                <a:solidFill>
                  <a:srgbClr val="18324F"/>
                </a:solidFill>
                <a:latin typeface="Aptos"/>
                <a:ea typeface="Aptos"/>
                <a:cs typeface="Aptos"/>
              </a:defRPr>
            </a:lvl3pPr>
            <a:lvl4pPr>
              <a:defRPr sz="2175" b="1">
                <a:solidFill>
                  <a:srgbClr val="18324F"/>
                </a:solidFill>
                <a:latin typeface="Aptos"/>
                <a:ea typeface="Aptos"/>
                <a:cs typeface="Aptos"/>
              </a:defRPr>
            </a:lvl4pPr>
            <a:lvl5pPr>
              <a:defRPr sz="2175" b="1">
                <a:solidFill>
                  <a:srgbClr val="18324F"/>
                </a:solidFill>
                <a:latin typeface="Aptos"/>
                <a:ea typeface="Aptos"/>
                <a:cs typeface="Aptos"/>
              </a:defRPr>
            </a:lvl5pPr>
            <a:lvl6pPr>
              <a:defRPr sz="2175" b="1">
                <a:solidFill>
                  <a:srgbClr val="18324F"/>
                </a:solidFill>
                <a:latin typeface="Aptos"/>
                <a:ea typeface="Aptos"/>
                <a:cs typeface="Aptos"/>
              </a:defRPr>
            </a:lvl6pPr>
            <a:lvl7pPr>
              <a:defRPr sz="2175" b="1">
                <a:solidFill>
                  <a:srgbClr val="18324F"/>
                </a:solidFill>
                <a:latin typeface="Aptos"/>
                <a:ea typeface="Aptos"/>
                <a:cs typeface="Aptos"/>
              </a:defRPr>
            </a:lvl7pPr>
            <a:lvl8pPr>
              <a:defRPr sz="2175" b="1">
                <a:solidFill>
                  <a:srgbClr val="18324F"/>
                </a:solidFill>
                <a:latin typeface="Aptos"/>
                <a:ea typeface="Aptos"/>
                <a:cs typeface="Aptos"/>
              </a:defRPr>
            </a:lvl8pPr>
            <a:lvl9pPr>
              <a:defRPr sz="2175" b="1">
                <a:solidFill>
                  <a:srgbClr val="18324F"/>
                </a:solidFill>
                <a:latin typeface="Aptos"/>
                <a:ea typeface="Aptos"/>
                <a:cs typeface="Aptos"/>
              </a:defRPr>
            </a:lvl9pPr>
          </a:lstStyle>
          <a:p>
            <a:pPr>
              <a:defRPr sz="2175" b="1">
                <a:solidFill>
                  <a:srgbClr val="18324F"/>
                </a:solidFill>
                <a:latin typeface="Aptos"/>
                <a:ea typeface="Aptos"/>
                <a:cs typeface="Aptos"/>
              </a:defRPr>
            </a:pPr>
            <a:r>
              <a:rPr sz="2175" b="1">
                <a:solidFill>
                  <a:srgbClr val="18324F"/>
                </a:solidFill>
                <a:latin typeface="Aptos"/>
                <a:ea typeface="Aptos"/>
                <a:cs typeface="Aptos"/>
              </a:rPr>
              <a:t>Greedy action</a:t>
            </a:r>
          </a:p>
        </p:txBody>
      </p:sp>
      <p:sp>
        <p:nvSpPr>
          <p:cNvPr id="8" name="with probability 1 − ε">
            <a:extLst>
              <a:ext uri="{FF2B5EF4-FFF2-40B4-BE49-F238E27FC236}">
                <a16:creationId xmlns:a16="http://schemas.microsoft.com/office/drawing/2014/main" id="{37EF2A0E-BCDD-4E0C-ACB5-054A55A52017}"/>
              </a:ext>
            </a:extLst>
          </p:cNvPr>
          <p:cNvSpPr>
            <a:spLocks noGrp="1"/>
          </p:cNvSpPr>
          <p:nvPr/>
        </p:nvSpPr>
        <p:spPr>
          <a:xfrm>
            <a:off x="8286750" y="3857625"/>
            <a:ext cx="3238500" cy="590550"/>
          </a:xfrm>
          <a:prstGeom prst="rect">
            <a:avLst/>
          </a:prstGeom>
          <a:noFill/>
          <a:ln w="0">
            <a:noFill/>
          </a:ln>
        </p:spPr>
        <p:txBody>
          <a:bodyPr lIns="0" tIns="0" rIns="0" bIns="0" anchor="t">
            <a:noAutofit/>
          </a:bodyPr>
          <a:lstStyle>
            <a:defPPr>
              <a:defRPr sz="2025" b="0">
                <a:solidFill>
                  <a:srgbClr val="37475B"/>
                </a:solidFill>
                <a:latin typeface="Aptos"/>
                <a:ea typeface="Aptos"/>
                <a:cs typeface="Aptos"/>
              </a:defRPr>
            </a:defPPr>
            <a:lvl1pPr>
              <a:defRPr sz="2025" b="0">
                <a:solidFill>
                  <a:srgbClr val="37475B"/>
                </a:solidFill>
                <a:latin typeface="Aptos"/>
                <a:ea typeface="Aptos"/>
                <a:cs typeface="Aptos"/>
              </a:defRPr>
            </a:lvl1pPr>
            <a:lvl2pPr>
              <a:defRPr sz="2025" b="0">
                <a:solidFill>
                  <a:srgbClr val="37475B"/>
                </a:solidFill>
                <a:latin typeface="Aptos"/>
                <a:ea typeface="Aptos"/>
                <a:cs typeface="Aptos"/>
              </a:defRPr>
            </a:lvl2pPr>
            <a:lvl3pPr>
              <a:defRPr sz="2025" b="0">
                <a:solidFill>
                  <a:srgbClr val="37475B"/>
                </a:solidFill>
                <a:latin typeface="Aptos"/>
                <a:ea typeface="Aptos"/>
                <a:cs typeface="Aptos"/>
              </a:defRPr>
            </a:lvl3pPr>
            <a:lvl4pPr>
              <a:defRPr sz="2025" b="0">
                <a:solidFill>
                  <a:srgbClr val="37475B"/>
                </a:solidFill>
                <a:latin typeface="Aptos"/>
                <a:ea typeface="Aptos"/>
                <a:cs typeface="Aptos"/>
              </a:defRPr>
            </a:lvl4pPr>
            <a:lvl5pPr>
              <a:defRPr sz="2025" b="0">
                <a:solidFill>
                  <a:srgbClr val="37475B"/>
                </a:solidFill>
                <a:latin typeface="Aptos"/>
                <a:ea typeface="Aptos"/>
                <a:cs typeface="Aptos"/>
              </a:defRPr>
            </a:lvl5pPr>
            <a:lvl6pPr>
              <a:defRPr sz="2025" b="0">
                <a:solidFill>
                  <a:srgbClr val="37475B"/>
                </a:solidFill>
                <a:latin typeface="Aptos"/>
                <a:ea typeface="Aptos"/>
                <a:cs typeface="Aptos"/>
              </a:defRPr>
            </a:lvl6pPr>
            <a:lvl7pPr>
              <a:defRPr sz="2025" b="0">
                <a:solidFill>
                  <a:srgbClr val="37475B"/>
                </a:solidFill>
                <a:latin typeface="Aptos"/>
                <a:ea typeface="Aptos"/>
                <a:cs typeface="Aptos"/>
              </a:defRPr>
            </a:lvl7pPr>
            <a:lvl8pPr>
              <a:defRPr sz="2025" b="0">
                <a:solidFill>
                  <a:srgbClr val="37475B"/>
                </a:solidFill>
                <a:latin typeface="Aptos"/>
                <a:ea typeface="Aptos"/>
                <a:cs typeface="Aptos"/>
              </a:defRPr>
            </a:lvl8pPr>
            <a:lvl9pPr>
              <a:defRPr sz="2025" b="0">
                <a:solidFill>
                  <a:srgbClr val="37475B"/>
                </a:solidFill>
                <a:latin typeface="Aptos"/>
                <a:ea typeface="Aptos"/>
                <a:cs typeface="Aptos"/>
              </a:defRPr>
            </a:lvl9pPr>
          </a:lstStyle>
          <a:p>
            <a:pPr>
              <a:defRPr sz="2025" b="0">
                <a:solidFill>
                  <a:srgbClr val="37475B"/>
                </a:solidFill>
                <a:latin typeface="Aptos"/>
                <a:ea typeface="Aptos"/>
                <a:cs typeface="Aptos"/>
              </a:defRPr>
            </a:pPr>
            <a:r>
              <a:rPr sz="2025" b="0">
                <a:solidFill>
                  <a:srgbClr val="37475B"/>
                </a:solidFill>
                <a:latin typeface="Aptos"/>
                <a:ea typeface="Aptos"/>
                <a:cs typeface="Aptos"/>
              </a:rPr>
              <a:t>with probability 1 − ε</a:t>
            </a:r>
          </a:p>
        </p:txBody>
      </p:sp>
      <p:sp>
        <p:nvSpPr>
          <p:cNvPr id="9" name="ε(t) = 1 − 0.9 min(t / 10,000, 1)     Evaluation ε = 0.">
            <a:extLst>
              <a:ext uri="{FF2B5EF4-FFF2-40B4-BE49-F238E27FC236}">
                <a16:creationId xmlns:a16="http://schemas.microsoft.com/office/drawing/2014/main" id="{26DBFDC8-CAE7-4D6C-8C3C-908A9F9F58F6}"/>
              </a:ext>
            </a:extLst>
          </p:cNvPr>
          <p:cNvSpPr>
            <a:spLocks noGrp="1"/>
          </p:cNvSpPr>
          <p:nvPr/>
        </p:nvSpPr>
        <p:spPr>
          <a:xfrm>
            <a:off x="619125" y="5810250"/>
            <a:ext cx="10763250" cy="419100"/>
          </a:xfrm>
          <a:prstGeom prst="rect">
            <a:avLst/>
          </a:prstGeom>
          <a:noFill/>
          <a:ln w="0">
            <a:noFill/>
          </a:ln>
        </p:spPr>
        <p:txBody>
          <a:bodyPr lIns="0" tIns="0" rIns="0" bIns="0" anchor="t">
            <a:noAutofit/>
          </a:bodyPr>
          <a:lstStyle>
            <a:defPPr>
              <a:defRPr sz="2100" b="0">
                <a:solidFill>
                  <a:srgbClr val="087F8C"/>
                </a:solidFill>
                <a:latin typeface="Aptos"/>
                <a:ea typeface="Aptos"/>
                <a:cs typeface="Aptos"/>
              </a:defRPr>
            </a:defPPr>
            <a:lvl1pPr>
              <a:defRPr sz="2100" b="0">
                <a:solidFill>
                  <a:srgbClr val="087F8C"/>
                </a:solidFill>
                <a:latin typeface="Aptos"/>
                <a:ea typeface="Aptos"/>
                <a:cs typeface="Aptos"/>
              </a:defRPr>
            </a:lvl1pPr>
            <a:lvl2pPr>
              <a:defRPr sz="2100" b="0">
                <a:solidFill>
                  <a:srgbClr val="087F8C"/>
                </a:solidFill>
                <a:latin typeface="Aptos"/>
                <a:ea typeface="Aptos"/>
                <a:cs typeface="Aptos"/>
              </a:defRPr>
            </a:lvl2pPr>
            <a:lvl3pPr>
              <a:defRPr sz="2100" b="0">
                <a:solidFill>
                  <a:srgbClr val="087F8C"/>
                </a:solidFill>
                <a:latin typeface="Aptos"/>
                <a:ea typeface="Aptos"/>
                <a:cs typeface="Aptos"/>
              </a:defRPr>
            </a:lvl3pPr>
            <a:lvl4pPr>
              <a:defRPr sz="2100" b="0">
                <a:solidFill>
                  <a:srgbClr val="087F8C"/>
                </a:solidFill>
                <a:latin typeface="Aptos"/>
                <a:ea typeface="Aptos"/>
                <a:cs typeface="Aptos"/>
              </a:defRPr>
            </a:lvl4pPr>
            <a:lvl5pPr>
              <a:defRPr sz="2100" b="0">
                <a:solidFill>
                  <a:srgbClr val="087F8C"/>
                </a:solidFill>
                <a:latin typeface="Aptos"/>
                <a:ea typeface="Aptos"/>
                <a:cs typeface="Aptos"/>
              </a:defRPr>
            </a:lvl5pPr>
            <a:lvl6pPr>
              <a:defRPr sz="2100" b="0">
                <a:solidFill>
                  <a:srgbClr val="087F8C"/>
                </a:solidFill>
                <a:latin typeface="Aptos"/>
                <a:ea typeface="Aptos"/>
                <a:cs typeface="Aptos"/>
              </a:defRPr>
            </a:lvl6pPr>
            <a:lvl7pPr>
              <a:defRPr sz="2100" b="0">
                <a:solidFill>
                  <a:srgbClr val="087F8C"/>
                </a:solidFill>
                <a:latin typeface="Aptos"/>
                <a:ea typeface="Aptos"/>
                <a:cs typeface="Aptos"/>
              </a:defRPr>
            </a:lvl7pPr>
            <a:lvl8pPr>
              <a:defRPr sz="2100" b="0">
                <a:solidFill>
                  <a:srgbClr val="087F8C"/>
                </a:solidFill>
                <a:latin typeface="Aptos"/>
                <a:ea typeface="Aptos"/>
                <a:cs typeface="Aptos"/>
              </a:defRPr>
            </a:lvl8pPr>
            <a:lvl9pPr>
              <a:defRPr sz="2100" b="0">
                <a:solidFill>
                  <a:srgbClr val="087F8C"/>
                </a:solidFill>
                <a:latin typeface="Aptos"/>
                <a:ea typeface="Aptos"/>
                <a:cs typeface="Aptos"/>
              </a:defRPr>
            </a:lvl9pPr>
          </a:lstStyle>
          <a:p>
            <a:pPr>
              <a:defRPr sz="2100" b="0">
                <a:solidFill>
                  <a:srgbClr val="087F8C"/>
                </a:solidFill>
                <a:latin typeface="Aptos"/>
                <a:ea typeface="Aptos"/>
                <a:cs typeface="Aptos"/>
              </a:defRPr>
            </a:pPr>
            <a:r>
              <a:rPr sz="2100" b="0">
                <a:solidFill>
                  <a:srgbClr val="087F8C"/>
                </a:solidFill>
                <a:latin typeface="Aptos"/>
                <a:ea typeface="Aptos"/>
                <a:cs typeface="Aptos"/>
              </a:rPr>
              <a:t>ε(t) = 1 − 0.9 min(t / 10,000, 1)     Evaluation ε = 0.05</a:t>
            </a:r>
          </a:p>
        </p:txBody>
      </p:sp>
    </p:spTree>
    <p:extLst>
      <p:ext uri="{BB962C8B-B14F-4D97-AF65-F5344CB8AC3E}">
        <p14:creationId xmlns:p14="http://schemas.microsoft.com/office/powerpoint/2010/main" val="85540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ference paper and our experiment">
            <a:extLst>
              <a:ext uri="{FF2B5EF4-FFF2-40B4-BE49-F238E27FC236}">
                <a16:creationId xmlns:a16="http://schemas.microsoft.com/office/drawing/2014/main" id="{96DE074E-61D2-48C0-981D-6ABEB5870B5D}"/>
              </a:ext>
            </a:extLst>
          </p:cNvPr>
          <p:cNvSpPr>
            <a:spLocks noGrp="1"/>
          </p:cNvSpPr>
          <p:nvPr/>
        </p:nvSpPr>
        <p:spPr>
          <a:xfrm>
            <a:off x="609600" y="446776"/>
            <a:ext cx="10763250" cy="666750"/>
          </a:xfrm>
          <a:prstGeom prst="rect">
            <a:avLst/>
          </a:prstGeom>
          <a:noFill/>
          <a:ln w="0">
            <a:noFill/>
          </a:ln>
        </p:spPr>
        <p:txBody>
          <a:bodyPr lIns="0" tIns="0" rIns="0" bIns="0" anchor="t">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Reference paper and our experiment</a:t>
            </a:r>
          </a:p>
        </p:txBody>
      </p:sp>
      <p:sp>
        <p:nvSpPr>
          <p:cNvPr id="3" name="09">
            <a:extLst>
              <a:ext uri="{FF2B5EF4-FFF2-40B4-BE49-F238E27FC236}">
                <a16:creationId xmlns:a16="http://schemas.microsoft.com/office/drawing/2014/main" id="{65AA67E1-0E92-41ED-ACAA-60FF90DCB9B4}"/>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10</a:t>
            </a:r>
          </a:p>
        </p:txBody>
      </p:sp>
      <p:graphicFrame>
        <p:nvGraphicFramePr>
          <p:cNvPr id="4" name="Table 3">
            <a:extLst>
              <a:ext uri="{FF2B5EF4-FFF2-40B4-BE49-F238E27FC236}">
                <a16:creationId xmlns:a16="http://schemas.microsoft.com/office/drawing/2014/main" id="{9C294CF1-E8DA-403C-B786-A6CD98207AD9}"/>
              </a:ext>
            </a:extLst>
          </p:cNvPr>
          <p:cNvGraphicFramePr/>
          <p:nvPr/>
        </p:nvGraphicFramePr>
        <p:xfrm>
          <a:off x="609600" y="1447800"/>
          <a:ext cx="10972800" cy="4229099"/>
        </p:xfrm>
        <a:graphic>
          <a:graphicData uri="http://schemas.openxmlformats.org/drawingml/2006/table">
            <a:tbl>
              <a:tblPr/>
              <a:tblGrid>
                <a:gridCol w="2667000">
                  <a:extLst>
                    <a:ext uri="{9D8B030D-6E8A-4147-A177-3AD203B41FA5}">
                      <a16:colId xmlns:a16="http://schemas.microsoft.com/office/drawing/2014/main" val="20000"/>
                    </a:ext>
                  </a:extLst>
                </a:gridCol>
                <a:gridCol w="3905250">
                  <a:extLst>
                    <a:ext uri="{9D8B030D-6E8A-4147-A177-3AD203B41FA5}">
                      <a16:colId xmlns:a16="http://schemas.microsoft.com/office/drawing/2014/main" val="20001"/>
                    </a:ext>
                  </a:extLst>
                </a:gridCol>
                <a:gridCol w="4400550">
                  <a:extLst>
                    <a:ext uri="{9D8B030D-6E8A-4147-A177-3AD203B41FA5}">
                      <a16:colId xmlns:a16="http://schemas.microsoft.com/office/drawing/2014/main" val="20002"/>
                    </a:ext>
                  </a:extLst>
                </a:gridCol>
              </a:tblGrid>
              <a:tr h="604157">
                <a:tc>
                  <a:txBody>
                    <a:bodyPr/>
                    <a:lstStyle/>
                    <a:p>
                      <a:r>
                        <a:rPr sz="1725" b="1">
                          <a:solidFill>
                            <a:srgbClr val="087F8C"/>
                          </a:solidFill>
                          <a:latin typeface="Aptos"/>
                          <a:ea typeface="Aptos"/>
                          <a:cs typeface="Aptos"/>
                        </a:rPr>
                        <a:t>Aspect</a:t>
                      </a:r>
                    </a:p>
                  </a:txBody>
                  <a:tcPr anchor="ctr">
                    <a:lnL w="9525">
                      <a:solidFill>
                        <a:srgbClr val="D4DEE8"/>
                      </a:solidFill>
                      <a:prstDash val="solid"/>
                    </a:lnL>
                    <a:lnR w="9525">
                      <a:solidFill>
                        <a:srgbClr val="D4DEE8"/>
                      </a:solidFill>
                      <a:prstDash val="solid"/>
                    </a:lnR>
                    <a:lnT w="9525">
                      <a:solidFill>
                        <a:srgbClr val="D4DEE8"/>
                      </a:solidFill>
                      <a:prstDash val="solid"/>
                    </a:lnT>
                    <a:lnB w="9525">
                      <a:solidFill>
                        <a:srgbClr val="D4DEE8"/>
                      </a:solidFill>
                      <a:prstDash val="solid"/>
                    </a:lnB>
                    <a:solidFill>
                      <a:srgbClr val="E7EEF5"/>
                    </a:solidFill>
                  </a:tcPr>
                </a:tc>
                <a:tc>
                  <a:txBody>
                    <a:bodyPr/>
                    <a:lstStyle/>
                    <a:p>
                      <a:r>
                        <a:rPr sz="1725" b="1">
                          <a:solidFill>
                            <a:srgbClr val="087F8C"/>
                          </a:solidFill>
                          <a:latin typeface="Aptos"/>
                          <a:ea typeface="Aptos"/>
                          <a:cs typeface="Aptos"/>
                        </a:rPr>
                        <a:t>2013 reference</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E7EEF5"/>
                    </a:solidFill>
                  </a:tcPr>
                </a:tc>
                <a:tc>
                  <a:txBody>
                    <a:bodyPr/>
                    <a:lstStyle/>
                    <a:p>
                      <a:r>
                        <a:rPr sz="1725" b="1">
                          <a:solidFill>
                            <a:srgbClr val="087F8C"/>
                          </a:solidFill>
                          <a:latin typeface="Aptos"/>
                          <a:ea typeface="Aptos"/>
                          <a:cs typeface="Aptos"/>
                        </a:rPr>
                        <a:t>Executed project run</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E7EEF5"/>
                    </a:solidFill>
                  </a:tcPr>
                </a:tc>
                <a:extLst>
                  <a:ext uri="{0D108BD9-81ED-4DB2-BD59-A6C34878D82A}">
                    <a16:rowId xmlns:a16="http://schemas.microsoft.com/office/drawing/2014/main" val="10000"/>
                  </a:ext>
                </a:extLst>
              </a:tr>
              <a:tr h="604157">
                <a:tc>
                  <a:txBody>
                    <a:bodyPr/>
                    <a:lstStyle/>
                    <a:p>
                      <a:r>
                        <a:rPr sz="1725" b="0">
                          <a:solidFill>
                            <a:srgbClr val="18324F"/>
                          </a:solidFill>
                          <a:latin typeface="Aptos"/>
                          <a:ea typeface="Aptos"/>
                          <a:cs typeface="Aptos"/>
                        </a:rPr>
                        <a:t>Game coverage</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725" b="0">
                          <a:solidFill>
                            <a:srgbClr val="18324F"/>
                          </a:solidFill>
                          <a:latin typeface="Aptos"/>
                          <a:ea typeface="Aptos"/>
                          <a:cs typeface="Aptos"/>
                        </a:rPr>
                        <a:t>7 Atari games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725" b="0">
                          <a:solidFill>
                            <a:srgbClr val="18324F"/>
                          </a:solidFill>
                          <a:latin typeface="Aptos"/>
                          <a:ea typeface="Aptos"/>
                          <a:cs typeface="Aptos"/>
                        </a:rPr>
                        <a:t>Breakout only</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extLst>
                  <a:ext uri="{0D108BD9-81ED-4DB2-BD59-A6C34878D82A}">
                    <a16:rowId xmlns:a16="http://schemas.microsoft.com/office/drawing/2014/main" val="10001"/>
                  </a:ext>
                </a:extLst>
              </a:tr>
              <a:tr h="604157">
                <a:tc>
                  <a:txBody>
                    <a:bodyPr/>
                    <a:lstStyle/>
                    <a:p>
                      <a:r>
                        <a:rPr sz="1725" b="0">
                          <a:solidFill>
                            <a:srgbClr val="18324F"/>
                          </a:solidFill>
                          <a:latin typeface="Aptos"/>
                          <a:ea typeface="Aptos"/>
                          <a:cs typeface="Aptos"/>
                        </a:rPr>
                        <a:t>Training budget</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725" b="0">
                          <a:solidFill>
                            <a:srgbClr val="18324F"/>
                          </a:solidFill>
                          <a:latin typeface="Aptos"/>
                          <a:ea typeface="Aptos"/>
                          <a:cs typeface="Aptos"/>
                        </a:rPr>
                        <a:t>10 million “frames”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725" b="0">
                          <a:solidFill>
                            <a:srgbClr val="18324F"/>
                          </a:solidFill>
                          <a:latin typeface="Aptos"/>
                          <a:ea typeface="Aptos"/>
                          <a:cs typeface="Aptos"/>
                        </a:rPr>
                        <a:t>300,000 agent decisions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extLst>
                  <a:ext uri="{0D108BD9-81ED-4DB2-BD59-A6C34878D82A}">
                    <a16:rowId xmlns:a16="http://schemas.microsoft.com/office/drawing/2014/main" val="10002"/>
                  </a:ext>
                </a:extLst>
              </a:tr>
              <a:tr h="604157">
                <a:tc>
                  <a:txBody>
                    <a:bodyPr/>
                    <a:lstStyle/>
                    <a:p>
                      <a:r>
                        <a:rPr sz="1725" b="0">
                          <a:solidFill>
                            <a:srgbClr val="18324F"/>
                          </a:solidFill>
                          <a:latin typeface="Aptos"/>
                          <a:ea typeface="Aptos"/>
                          <a:cs typeface="Aptos"/>
                        </a:rPr>
                        <a:t>Replay capacity</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725" b="0">
                          <a:solidFill>
                            <a:srgbClr val="18324F"/>
                          </a:solidFill>
                          <a:latin typeface="Aptos"/>
                          <a:ea typeface="Aptos"/>
                          <a:cs typeface="Aptos"/>
                        </a:rPr>
                        <a:t>1 million recent frames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725" b="0">
                          <a:solidFill>
                            <a:srgbClr val="18324F"/>
                          </a:solidFill>
                          <a:latin typeface="Aptos"/>
                          <a:ea typeface="Aptos"/>
                          <a:cs typeface="Aptos"/>
                        </a:rPr>
                        <a:t>10,000 transitions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extLst>
                  <a:ext uri="{0D108BD9-81ED-4DB2-BD59-A6C34878D82A}">
                    <a16:rowId xmlns:a16="http://schemas.microsoft.com/office/drawing/2014/main" val="10003"/>
                  </a:ext>
                </a:extLst>
              </a:tr>
              <a:tr h="604157">
                <a:tc>
                  <a:txBody>
                    <a:bodyPr/>
                    <a:lstStyle/>
                    <a:p>
                      <a:r>
                        <a:rPr sz="1725" b="0">
                          <a:solidFill>
                            <a:srgbClr val="18324F"/>
                          </a:solidFill>
                          <a:latin typeface="Aptos"/>
                          <a:ea typeface="Aptos"/>
                          <a:cs typeface="Aptos"/>
                        </a:rPr>
                        <a:t>Exploration decay</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725" b="0">
                          <a:solidFill>
                            <a:srgbClr val="18324F"/>
                          </a:solidFill>
                          <a:latin typeface="Aptos"/>
                          <a:ea typeface="Aptos"/>
                          <a:cs typeface="Aptos"/>
                        </a:rPr>
                        <a:t>First 1 million frames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725" b="0">
                          <a:solidFill>
                            <a:srgbClr val="18324F"/>
                          </a:solidFill>
                          <a:latin typeface="Aptos"/>
                          <a:ea typeface="Aptos"/>
                          <a:cs typeface="Aptos"/>
                        </a:rPr>
                        <a:t>First 10,000 decisions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extLst>
                  <a:ext uri="{0D108BD9-81ED-4DB2-BD59-A6C34878D82A}">
                    <a16:rowId xmlns:a16="http://schemas.microsoft.com/office/drawing/2014/main" val="10004"/>
                  </a:ext>
                </a:extLst>
              </a:tr>
              <a:tr h="604157">
                <a:tc>
                  <a:txBody>
                    <a:bodyPr/>
                    <a:lstStyle/>
                    <a:p>
                      <a:r>
                        <a:rPr sz="1725" b="0">
                          <a:solidFill>
                            <a:srgbClr val="18324F"/>
                          </a:solidFill>
                          <a:latin typeface="Aptos"/>
                          <a:ea typeface="Aptos"/>
                          <a:cs typeface="Aptos"/>
                        </a:rPr>
                        <a:t>Network and learning</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725" b="0">
                          <a:solidFill>
                            <a:srgbClr val="18324F"/>
                          </a:solidFill>
                          <a:latin typeface="Aptos"/>
                          <a:ea typeface="Aptos"/>
                          <a:cs typeface="Aptos"/>
                        </a:rPr>
                        <a:t>2 conv layers, replay, RMSProp</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725" b="0">
                          <a:solidFill>
                            <a:srgbClr val="18324F"/>
                          </a:solidFill>
                          <a:latin typeface="Aptos"/>
                          <a:ea typeface="Aptos"/>
                          <a:cs typeface="Aptos"/>
                        </a:rPr>
                        <a:t>Same core design</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extLst>
                  <a:ext uri="{0D108BD9-81ED-4DB2-BD59-A6C34878D82A}">
                    <a16:rowId xmlns:a16="http://schemas.microsoft.com/office/drawing/2014/main" val="10005"/>
                  </a:ext>
                </a:extLst>
              </a:tr>
              <a:tr h="604157">
                <a:tc>
                  <a:txBody>
                    <a:bodyPr/>
                    <a:lstStyle/>
                    <a:p>
                      <a:r>
                        <a:rPr sz="1725" b="0">
                          <a:solidFill>
                            <a:srgbClr val="18324F"/>
                          </a:solidFill>
                          <a:latin typeface="Aptos"/>
                          <a:ea typeface="Aptos"/>
                          <a:cs typeface="Aptos"/>
                        </a:rPr>
                        <a:t>Evaluation</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725" b="0">
                          <a:solidFill>
                            <a:srgbClr val="18324F"/>
                          </a:solidFill>
                          <a:latin typeface="Aptos"/>
                          <a:ea typeface="Aptos"/>
                          <a:cs typeface="Aptos"/>
                        </a:rPr>
                        <a:t>Periodic and final experiments</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725" b="0">
                          <a:solidFill>
                            <a:srgbClr val="18324F"/>
                          </a:solidFill>
                          <a:latin typeface="Aptos"/>
                          <a:ea typeface="Aptos"/>
                          <a:cs typeface="Aptos"/>
                        </a:rPr>
                        <a:t>One final 10,000-decision run</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extLst>
                  <a:ext uri="{0D108BD9-81ED-4DB2-BD59-A6C34878D82A}">
                    <a16:rowId xmlns:a16="http://schemas.microsoft.com/office/drawing/2014/main" val="10006"/>
                  </a:ext>
                </a:extLst>
              </a:tr>
            </a:tbl>
          </a:graphicData>
        </a:graphic>
      </p:graphicFrame>
      <p:sp>
        <p:nvSpPr>
          <p:cNvPr id="5" name="Our run collected 1,198,445 raw frames. Frame-count con">
            <a:extLst>
              <a:ext uri="{FF2B5EF4-FFF2-40B4-BE49-F238E27FC236}">
                <a16:creationId xmlns:a16="http://schemas.microsoft.com/office/drawing/2014/main" id="{BEE19157-176D-4D63-BF18-41FB0DCECBA4}"/>
              </a:ext>
            </a:extLst>
          </p:cNvPr>
          <p:cNvSpPr>
            <a:spLocks noGrp="1"/>
          </p:cNvSpPr>
          <p:nvPr/>
        </p:nvSpPr>
        <p:spPr>
          <a:xfrm>
            <a:off x="619125" y="5915025"/>
            <a:ext cx="10763250" cy="381000"/>
          </a:xfrm>
          <a:prstGeom prst="rect">
            <a:avLst/>
          </a:prstGeom>
          <a:noFill/>
          <a:ln w="0">
            <a:noFill/>
          </a:ln>
        </p:spPr>
        <p:txBody>
          <a:bodyPr lIns="0" tIns="0" rIns="0" bIns="0" anchor="t">
            <a:noAutofit/>
          </a:bodyPr>
          <a:lstStyle>
            <a:defPPr>
              <a:defRPr sz="1725" b="0">
                <a:solidFill>
                  <a:srgbClr val="37475B"/>
                </a:solidFill>
                <a:latin typeface="Aptos"/>
                <a:ea typeface="Aptos"/>
                <a:cs typeface="Aptos"/>
              </a:defRPr>
            </a:defPPr>
            <a:lvl1pPr>
              <a:defRPr sz="1725" b="0">
                <a:solidFill>
                  <a:srgbClr val="37475B"/>
                </a:solidFill>
                <a:latin typeface="Aptos"/>
                <a:ea typeface="Aptos"/>
                <a:cs typeface="Aptos"/>
              </a:defRPr>
            </a:lvl1pPr>
            <a:lvl2pPr>
              <a:defRPr sz="1725" b="0">
                <a:solidFill>
                  <a:srgbClr val="37475B"/>
                </a:solidFill>
                <a:latin typeface="Aptos"/>
                <a:ea typeface="Aptos"/>
                <a:cs typeface="Aptos"/>
              </a:defRPr>
            </a:lvl2pPr>
            <a:lvl3pPr>
              <a:defRPr sz="1725" b="0">
                <a:solidFill>
                  <a:srgbClr val="37475B"/>
                </a:solidFill>
                <a:latin typeface="Aptos"/>
                <a:ea typeface="Aptos"/>
                <a:cs typeface="Aptos"/>
              </a:defRPr>
            </a:lvl3pPr>
            <a:lvl4pPr>
              <a:defRPr sz="1725" b="0">
                <a:solidFill>
                  <a:srgbClr val="37475B"/>
                </a:solidFill>
                <a:latin typeface="Aptos"/>
                <a:ea typeface="Aptos"/>
                <a:cs typeface="Aptos"/>
              </a:defRPr>
            </a:lvl4pPr>
            <a:lvl5pPr>
              <a:defRPr sz="1725" b="0">
                <a:solidFill>
                  <a:srgbClr val="37475B"/>
                </a:solidFill>
                <a:latin typeface="Aptos"/>
                <a:ea typeface="Aptos"/>
                <a:cs typeface="Aptos"/>
              </a:defRPr>
            </a:lvl5pPr>
            <a:lvl6pPr>
              <a:defRPr sz="1725" b="0">
                <a:solidFill>
                  <a:srgbClr val="37475B"/>
                </a:solidFill>
                <a:latin typeface="Aptos"/>
                <a:ea typeface="Aptos"/>
                <a:cs typeface="Aptos"/>
              </a:defRPr>
            </a:lvl6pPr>
            <a:lvl7pPr>
              <a:defRPr sz="1725" b="0">
                <a:solidFill>
                  <a:srgbClr val="37475B"/>
                </a:solidFill>
                <a:latin typeface="Aptos"/>
                <a:ea typeface="Aptos"/>
                <a:cs typeface="Aptos"/>
              </a:defRPr>
            </a:lvl7pPr>
            <a:lvl8pPr>
              <a:defRPr sz="1725" b="0">
                <a:solidFill>
                  <a:srgbClr val="37475B"/>
                </a:solidFill>
                <a:latin typeface="Aptos"/>
                <a:ea typeface="Aptos"/>
                <a:cs typeface="Aptos"/>
              </a:defRPr>
            </a:lvl8pPr>
            <a:lvl9pPr>
              <a:defRPr sz="1725" b="0">
                <a:solidFill>
                  <a:srgbClr val="37475B"/>
                </a:solidFill>
                <a:latin typeface="Aptos"/>
                <a:ea typeface="Aptos"/>
                <a:cs typeface="Aptos"/>
              </a:defRPr>
            </a:lvl9pPr>
          </a:lstStyle>
          <a:p>
            <a:pPr>
              <a:defRPr sz="1725" b="0">
                <a:solidFill>
                  <a:srgbClr val="37475B"/>
                </a:solidFill>
                <a:latin typeface="Aptos"/>
                <a:ea typeface="Aptos"/>
                <a:cs typeface="Aptos"/>
              </a:defRPr>
            </a:pPr>
            <a:r>
              <a:rPr sz="1725" b="0">
                <a:solidFill>
                  <a:srgbClr val="37475B"/>
                </a:solidFill>
                <a:latin typeface="Aptos"/>
                <a:ea typeface="Aptos"/>
                <a:cs typeface="Aptos"/>
              </a:rPr>
              <a:t>Our run collected 1,198,445 raw frames. Frame-count conventions differ.</a:t>
            </a:r>
          </a:p>
        </p:txBody>
      </p:sp>
    </p:spTree>
    <p:extLst>
      <p:ext uri="{BB962C8B-B14F-4D97-AF65-F5344CB8AC3E}">
        <p14:creationId xmlns:p14="http://schemas.microsoft.com/office/powerpoint/2010/main" val="1605899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raining configuration and runtime">
            <a:extLst>
              <a:ext uri="{FF2B5EF4-FFF2-40B4-BE49-F238E27FC236}">
                <a16:creationId xmlns:a16="http://schemas.microsoft.com/office/drawing/2014/main" id="{F09D2342-E90A-4988-ACBA-F835ADCC0698}"/>
              </a:ext>
            </a:extLst>
          </p:cNvPr>
          <p:cNvSpPr>
            <a:spLocks noGrp="1"/>
          </p:cNvSpPr>
          <p:nvPr/>
        </p:nvSpPr>
        <p:spPr>
          <a:xfrm>
            <a:off x="609600" y="438150"/>
            <a:ext cx="10763250" cy="666750"/>
          </a:xfrm>
          <a:prstGeom prst="rect">
            <a:avLst/>
          </a:prstGeom>
          <a:noFill/>
          <a:ln w="0">
            <a:noFill/>
          </a:ln>
        </p:spPr>
        <p:txBody>
          <a:bodyPr lIns="0" tIns="0" rIns="0" bIns="0" anchor="t">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Training configuration and runtime</a:t>
            </a:r>
          </a:p>
        </p:txBody>
      </p:sp>
      <p:sp>
        <p:nvSpPr>
          <p:cNvPr id="3" name="10">
            <a:extLst>
              <a:ext uri="{FF2B5EF4-FFF2-40B4-BE49-F238E27FC236}">
                <a16:creationId xmlns:a16="http://schemas.microsoft.com/office/drawing/2014/main" id="{7FB8A565-B461-43E8-A004-834495ABE0C7}"/>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11</a:t>
            </a:r>
          </a:p>
        </p:txBody>
      </p:sp>
      <p:sp>
        <p:nvSpPr>
          <p:cNvPr id="4" name="300,000">
            <a:extLst>
              <a:ext uri="{FF2B5EF4-FFF2-40B4-BE49-F238E27FC236}">
                <a16:creationId xmlns:a16="http://schemas.microsoft.com/office/drawing/2014/main" id="{AEAEE01B-F39A-42D1-8810-5868336F951D}"/>
              </a:ext>
            </a:extLst>
          </p:cNvPr>
          <p:cNvSpPr>
            <a:spLocks noGrp="1"/>
          </p:cNvSpPr>
          <p:nvPr/>
        </p:nvSpPr>
        <p:spPr>
          <a:xfrm>
            <a:off x="619125" y="1647825"/>
            <a:ext cx="4762500" cy="952500"/>
          </a:xfrm>
          <a:prstGeom prst="rect">
            <a:avLst/>
          </a:prstGeom>
          <a:noFill/>
          <a:ln w="0">
            <a:noFill/>
          </a:ln>
        </p:spPr>
        <p:txBody>
          <a:bodyPr lIns="0" tIns="0" rIns="0" bIns="0" anchor="t">
            <a:noAutofit/>
          </a:bodyPr>
          <a:lstStyle>
            <a:defPPr>
              <a:defRPr sz="5400" b="1">
                <a:solidFill>
                  <a:srgbClr val="087F8C"/>
                </a:solidFill>
                <a:latin typeface="Aptos"/>
                <a:ea typeface="Aptos"/>
                <a:cs typeface="Aptos"/>
              </a:defRPr>
            </a:defPPr>
            <a:lvl1pPr>
              <a:defRPr sz="5400" b="1">
                <a:solidFill>
                  <a:srgbClr val="087F8C"/>
                </a:solidFill>
                <a:latin typeface="Aptos"/>
                <a:ea typeface="Aptos"/>
                <a:cs typeface="Aptos"/>
              </a:defRPr>
            </a:lvl1pPr>
            <a:lvl2pPr>
              <a:defRPr sz="5400" b="1">
                <a:solidFill>
                  <a:srgbClr val="087F8C"/>
                </a:solidFill>
                <a:latin typeface="Aptos"/>
                <a:ea typeface="Aptos"/>
                <a:cs typeface="Aptos"/>
              </a:defRPr>
            </a:lvl2pPr>
            <a:lvl3pPr>
              <a:defRPr sz="5400" b="1">
                <a:solidFill>
                  <a:srgbClr val="087F8C"/>
                </a:solidFill>
                <a:latin typeface="Aptos"/>
                <a:ea typeface="Aptos"/>
                <a:cs typeface="Aptos"/>
              </a:defRPr>
            </a:lvl3pPr>
            <a:lvl4pPr>
              <a:defRPr sz="5400" b="1">
                <a:solidFill>
                  <a:srgbClr val="087F8C"/>
                </a:solidFill>
                <a:latin typeface="Aptos"/>
                <a:ea typeface="Aptos"/>
                <a:cs typeface="Aptos"/>
              </a:defRPr>
            </a:lvl4pPr>
            <a:lvl5pPr>
              <a:defRPr sz="5400" b="1">
                <a:solidFill>
                  <a:srgbClr val="087F8C"/>
                </a:solidFill>
                <a:latin typeface="Aptos"/>
                <a:ea typeface="Aptos"/>
                <a:cs typeface="Aptos"/>
              </a:defRPr>
            </a:lvl5pPr>
            <a:lvl6pPr>
              <a:defRPr sz="5400" b="1">
                <a:solidFill>
                  <a:srgbClr val="087F8C"/>
                </a:solidFill>
                <a:latin typeface="Aptos"/>
                <a:ea typeface="Aptos"/>
                <a:cs typeface="Aptos"/>
              </a:defRPr>
            </a:lvl6pPr>
            <a:lvl7pPr>
              <a:defRPr sz="5400" b="1">
                <a:solidFill>
                  <a:srgbClr val="087F8C"/>
                </a:solidFill>
                <a:latin typeface="Aptos"/>
                <a:ea typeface="Aptos"/>
                <a:cs typeface="Aptos"/>
              </a:defRPr>
            </a:lvl7pPr>
            <a:lvl8pPr>
              <a:defRPr sz="5400" b="1">
                <a:solidFill>
                  <a:srgbClr val="087F8C"/>
                </a:solidFill>
                <a:latin typeface="Aptos"/>
                <a:ea typeface="Aptos"/>
                <a:cs typeface="Aptos"/>
              </a:defRPr>
            </a:lvl8pPr>
            <a:lvl9pPr>
              <a:defRPr sz="5400" b="1">
                <a:solidFill>
                  <a:srgbClr val="087F8C"/>
                </a:solidFill>
                <a:latin typeface="Aptos"/>
                <a:ea typeface="Aptos"/>
                <a:cs typeface="Aptos"/>
              </a:defRPr>
            </a:lvl9pPr>
          </a:lstStyle>
          <a:p>
            <a:pPr>
              <a:defRPr sz="5400" b="1">
                <a:solidFill>
                  <a:srgbClr val="087F8C"/>
                </a:solidFill>
                <a:latin typeface="Aptos"/>
                <a:ea typeface="Aptos"/>
                <a:cs typeface="Aptos"/>
              </a:defRPr>
            </a:pPr>
            <a:r>
              <a:rPr sz="5400" b="1">
                <a:solidFill>
                  <a:srgbClr val="087F8C"/>
                </a:solidFill>
                <a:latin typeface="Aptos"/>
                <a:ea typeface="Aptos"/>
                <a:cs typeface="Aptos"/>
              </a:rPr>
              <a:t>300,000</a:t>
            </a:r>
          </a:p>
        </p:txBody>
      </p:sp>
      <p:sp>
        <p:nvSpPr>
          <p:cNvPr id="5" name="agent decisions">
            <a:extLst>
              <a:ext uri="{FF2B5EF4-FFF2-40B4-BE49-F238E27FC236}">
                <a16:creationId xmlns:a16="http://schemas.microsoft.com/office/drawing/2014/main" id="{2CC74425-F9EB-4BA4-8E9A-A2A3115E5580}"/>
              </a:ext>
            </a:extLst>
          </p:cNvPr>
          <p:cNvSpPr>
            <a:spLocks noGrp="1"/>
          </p:cNvSpPr>
          <p:nvPr/>
        </p:nvSpPr>
        <p:spPr>
          <a:xfrm>
            <a:off x="638175" y="2647950"/>
            <a:ext cx="4762500" cy="428625"/>
          </a:xfrm>
          <a:prstGeom prst="rect">
            <a:avLst/>
          </a:prstGeom>
          <a:noFill/>
          <a:ln w="0">
            <a:noFill/>
          </a:ln>
        </p:spPr>
        <p:txBody>
          <a:bodyPr lIns="0" tIns="0" rIns="0" bIns="0" anchor="t">
            <a:noAutofit/>
          </a:bodyPr>
          <a:lstStyle>
            <a:defPPr>
              <a:defRPr sz="2175" b="0">
                <a:solidFill>
                  <a:srgbClr val="37475B"/>
                </a:solidFill>
                <a:latin typeface="Aptos"/>
                <a:ea typeface="Aptos"/>
                <a:cs typeface="Aptos"/>
              </a:defRPr>
            </a:defPPr>
            <a:lvl1pPr>
              <a:defRPr sz="2175" b="0">
                <a:solidFill>
                  <a:srgbClr val="37475B"/>
                </a:solidFill>
                <a:latin typeface="Aptos"/>
                <a:ea typeface="Aptos"/>
                <a:cs typeface="Aptos"/>
              </a:defRPr>
            </a:lvl1pPr>
            <a:lvl2pPr>
              <a:defRPr sz="2175" b="0">
                <a:solidFill>
                  <a:srgbClr val="37475B"/>
                </a:solidFill>
                <a:latin typeface="Aptos"/>
                <a:ea typeface="Aptos"/>
                <a:cs typeface="Aptos"/>
              </a:defRPr>
            </a:lvl2pPr>
            <a:lvl3pPr>
              <a:defRPr sz="2175" b="0">
                <a:solidFill>
                  <a:srgbClr val="37475B"/>
                </a:solidFill>
                <a:latin typeface="Aptos"/>
                <a:ea typeface="Aptos"/>
                <a:cs typeface="Aptos"/>
              </a:defRPr>
            </a:lvl3pPr>
            <a:lvl4pPr>
              <a:defRPr sz="2175" b="0">
                <a:solidFill>
                  <a:srgbClr val="37475B"/>
                </a:solidFill>
                <a:latin typeface="Aptos"/>
                <a:ea typeface="Aptos"/>
                <a:cs typeface="Aptos"/>
              </a:defRPr>
            </a:lvl4pPr>
            <a:lvl5pPr>
              <a:defRPr sz="2175" b="0">
                <a:solidFill>
                  <a:srgbClr val="37475B"/>
                </a:solidFill>
                <a:latin typeface="Aptos"/>
                <a:ea typeface="Aptos"/>
                <a:cs typeface="Aptos"/>
              </a:defRPr>
            </a:lvl5pPr>
            <a:lvl6pPr>
              <a:defRPr sz="2175" b="0">
                <a:solidFill>
                  <a:srgbClr val="37475B"/>
                </a:solidFill>
                <a:latin typeface="Aptos"/>
                <a:ea typeface="Aptos"/>
                <a:cs typeface="Aptos"/>
              </a:defRPr>
            </a:lvl6pPr>
            <a:lvl7pPr>
              <a:defRPr sz="2175" b="0">
                <a:solidFill>
                  <a:srgbClr val="37475B"/>
                </a:solidFill>
                <a:latin typeface="Aptos"/>
                <a:ea typeface="Aptos"/>
                <a:cs typeface="Aptos"/>
              </a:defRPr>
            </a:lvl7pPr>
            <a:lvl8pPr>
              <a:defRPr sz="2175" b="0">
                <a:solidFill>
                  <a:srgbClr val="37475B"/>
                </a:solidFill>
                <a:latin typeface="Aptos"/>
                <a:ea typeface="Aptos"/>
                <a:cs typeface="Aptos"/>
              </a:defRPr>
            </a:lvl8pPr>
            <a:lvl9pPr>
              <a:defRPr sz="2175" b="0">
                <a:solidFill>
                  <a:srgbClr val="37475B"/>
                </a:solidFill>
                <a:latin typeface="Aptos"/>
                <a:ea typeface="Aptos"/>
                <a:cs typeface="Aptos"/>
              </a:defRPr>
            </a:lvl9pPr>
          </a:lstStyle>
          <a:p>
            <a:pPr>
              <a:defRPr sz="2175" b="0">
                <a:solidFill>
                  <a:srgbClr val="37475B"/>
                </a:solidFill>
                <a:latin typeface="Aptos"/>
                <a:ea typeface="Aptos"/>
                <a:cs typeface="Aptos"/>
              </a:defRPr>
            </a:pPr>
            <a:r>
              <a:rPr sz="2175" b="0">
                <a:solidFill>
                  <a:srgbClr val="37475B"/>
                </a:solidFill>
                <a:latin typeface="Aptos"/>
                <a:ea typeface="Aptos"/>
                <a:cs typeface="Aptos"/>
              </a:rPr>
              <a:t>agent decisions</a:t>
            </a:r>
          </a:p>
        </p:txBody>
      </p:sp>
      <p:sp>
        <p:nvSpPr>
          <p:cNvPr id="6" name="98.2 min">
            <a:extLst>
              <a:ext uri="{FF2B5EF4-FFF2-40B4-BE49-F238E27FC236}">
                <a16:creationId xmlns:a16="http://schemas.microsoft.com/office/drawing/2014/main" id="{652D0250-5E3A-40BE-B73C-5194FD452F83}"/>
              </a:ext>
            </a:extLst>
          </p:cNvPr>
          <p:cNvSpPr>
            <a:spLocks noGrp="1"/>
          </p:cNvSpPr>
          <p:nvPr/>
        </p:nvSpPr>
        <p:spPr>
          <a:xfrm>
            <a:off x="6572250" y="1647825"/>
            <a:ext cx="4762500" cy="952500"/>
          </a:xfrm>
          <a:prstGeom prst="rect">
            <a:avLst/>
          </a:prstGeom>
          <a:noFill/>
          <a:ln w="0">
            <a:noFill/>
          </a:ln>
        </p:spPr>
        <p:txBody>
          <a:bodyPr lIns="0" tIns="0" rIns="0" bIns="0" anchor="t">
            <a:noAutofit/>
          </a:bodyPr>
          <a:lstStyle>
            <a:defPPr>
              <a:defRPr sz="5400" b="1">
                <a:solidFill>
                  <a:srgbClr val="087F8C"/>
                </a:solidFill>
                <a:latin typeface="Aptos"/>
                <a:ea typeface="Aptos"/>
                <a:cs typeface="Aptos"/>
              </a:defRPr>
            </a:defPPr>
            <a:lvl1pPr>
              <a:defRPr sz="5400" b="1">
                <a:solidFill>
                  <a:srgbClr val="087F8C"/>
                </a:solidFill>
                <a:latin typeface="Aptos"/>
                <a:ea typeface="Aptos"/>
                <a:cs typeface="Aptos"/>
              </a:defRPr>
            </a:lvl1pPr>
            <a:lvl2pPr>
              <a:defRPr sz="5400" b="1">
                <a:solidFill>
                  <a:srgbClr val="087F8C"/>
                </a:solidFill>
                <a:latin typeface="Aptos"/>
                <a:ea typeface="Aptos"/>
                <a:cs typeface="Aptos"/>
              </a:defRPr>
            </a:lvl2pPr>
            <a:lvl3pPr>
              <a:defRPr sz="5400" b="1">
                <a:solidFill>
                  <a:srgbClr val="087F8C"/>
                </a:solidFill>
                <a:latin typeface="Aptos"/>
                <a:ea typeface="Aptos"/>
                <a:cs typeface="Aptos"/>
              </a:defRPr>
            </a:lvl3pPr>
            <a:lvl4pPr>
              <a:defRPr sz="5400" b="1">
                <a:solidFill>
                  <a:srgbClr val="087F8C"/>
                </a:solidFill>
                <a:latin typeface="Aptos"/>
                <a:ea typeface="Aptos"/>
                <a:cs typeface="Aptos"/>
              </a:defRPr>
            </a:lvl4pPr>
            <a:lvl5pPr>
              <a:defRPr sz="5400" b="1">
                <a:solidFill>
                  <a:srgbClr val="087F8C"/>
                </a:solidFill>
                <a:latin typeface="Aptos"/>
                <a:ea typeface="Aptos"/>
                <a:cs typeface="Aptos"/>
              </a:defRPr>
            </a:lvl5pPr>
            <a:lvl6pPr>
              <a:defRPr sz="5400" b="1">
                <a:solidFill>
                  <a:srgbClr val="087F8C"/>
                </a:solidFill>
                <a:latin typeface="Aptos"/>
                <a:ea typeface="Aptos"/>
                <a:cs typeface="Aptos"/>
              </a:defRPr>
            </a:lvl6pPr>
            <a:lvl7pPr>
              <a:defRPr sz="5400" b="1">
                <a:solidFill>
                  <a:srgbClr val="087F8C"/>
                </a:solidFill>
                <a:latin typeface="Aptos"/>
                <a:ea typeface="Aptos"/>
                <a:cs typeface="Aptos"/>
              </a:defRPr>
            </a:lvl7pPr>
            <a:lvl8pPr>
              <a:defRPr sz="5400" b="1">
                <a:solidFill>
                  <a:srgbClr val="087F8C"/>
                </a:solidFill>
                <a:latin typeface="Aptos"/>
                <a:ea typeface="Aptos"/>
                <a:cs typeface="Aptos"/>
              </a:defRPr>
            </a:lvl8pPr>
            <a:lvl9pPr>
              <a:defRPr sz="5400" b="1">
                <a:solidFill>
                  <a:srgbClr val="087F8C"/>
                </a:solidFill>
                <a:latin typeface="Aptos"/>
                <a:ea typeface="Aptos"/>
                <a:cs typeface="Aptos"/>
              </a:defRPr>
            </a:lvl9pPr>
          </a:lstStyle>
          <a:p>
            <a:pPr>
              <a:defRPr sz="5400" b="1">
                <a:solidFill>
                  <a:srgbClr val="087F8C"/>
                </a:solidFill>
                <a:latin typeface="Aptos"/>
                <a:ea typeface="Aptos"/>
                <a:cs typeface="Aptos"/>
              </a:defRPr>
            </a:pPr>
            <a:r>
              <a:rPr sz="5400" b="1">
                <a:solidFill>
                  <a:srgbClr val="087F8C"/>
                </a:solidFill>
                <a:latin typeface="Aptos"/>
                <a:ea typeface="Aptos"/>
                <a:cs typeface="Aptos"/>
              </a:rPr>
              <a:t>98.2 min</a:t>
            </a:r>
          </a:p>
        </p:txBody>
      </p:sp>
      <p:sp>
        <p:nvSpPr>
          <p:cNvPr id="7" name="recorded training time">
            <a:extLst>
              <a:ext uri="{FF2B5EF4-FFF2-40B4-BE49-F238E27FC236}">
                <a16:creationId xmlns:a16="http://schemas.microsoft.com/office/drawing/2014/main" id="{CF6B2D4C-1090-4524-923C-377E7B2DF851}"/>
              </a:ext>
            </a:extLst>
          </p:cNvPr>
          <p:cNvSpPr>
            <a:spLocks noGrp="1"/>
          </p:cNvSpPr>
          <p:nvPr/>
        </p:nvSpPr>
        <p:spPr>
          <a:xfrm>
            <a:off x="6600825" y="2647950"/>
            <a:ext cx="4857750" cy="428625"/>
          </a:xfrm>
          <a:prstGeom prst="rect">
            <a:avLst/>
          </a:prstGeom>
          <a:noFill/>
          <a:ln w="0">
            <a:noFill/>
          </a:ln>
        </p:spPr>
        <p:txBody>
          <a:bodyPr lIns="0" tIns="0" rIns="0" bIns="0" anchor="t">
            <a:noAutofit/>
          </a:bodyPr>
          <a:lstStyle>
            <a:defPPr>
              <a:defRPr sz="2175" b="0">
                <a:solidFill>
                  <a:srgbClr val="37475B"/>
                </a:solidFill>
                <a:latin typeface="Aptos"/>
                <a:ea typeface="Aptos"/>
                <a:cs typeface="Aptos"/>
              </a:defRPr>
            </a:defPPr>
            <a:lvl1pPr>
              <a:defRPr sz="2175" b="0">
                <a:solidFill>
                  <a:srgbClr val="37475B"/>
                </a:solidFill>
                <a:latin typeface="Aptos"/>
                <a:ea typeface="Aptos"/>
                <a:cs typeface="Aptos"/>
              </a:defRPr>
            </a:lvl1pPr>
            <a:lvl2pPr>
              <a:defRPr sz="2175" b="0">
                <a:solidFill>
                  <a:srgbClr val="37475B"/>
                </a:solidFill>
                <a:latin typeface="Aptos"/>
                <a:ea typeface="Aptos"/>
                <a:cs typeface="Aptos"/>
              </a:defRPr>
            </a:lvl2pPr>
            <a:lvl3pPr>
              <a:defRPr sz="2175" b="0">
                <a:solidFill>
                  <a:srgbClr val="37475B"/>
                </a:solidFill>
                <a:latin typeface="Aptos"/>
                <a:ea typeface="Aptos"/>
                <a:cs typeface="Aptos"/>
              </a:defRPr>
            </a:lvl3pPr>
            <a:lvl4pPr>
              <a:defRPr sz="2175" b="0">
                <a:solidFill>
                  <a:srgbClr val="37475B"/>
                </a:solidFill>
                <a:latin typeface="Aptos"/>
                <a:ea typeface="Aptos"/>
                <a:cs typeface="Aptos"/>
              </a:defRPr>
            </a:lvl4pPr>
            <a:lvl5pPr>
              <a:defRPr sz="2175" b="0">
                <a:solidFill>
                  <a:srgbClr val="37475B"/>
                </a:solidFill>
                <a:latin typeface="Aptos"/>
                <a:ea typeface="Aptos"/>
                <a:cs typeface="Aptos"/>
              </a:defRPr>
            </a:lvl5pPr>
            <a:lvl6pPr>
              <a:defRPr sz="2175" b="0">
                <a:solidFill>
                  <a:srgbClr val="37475B"/>
                </a:solidFill>
                <a:latin typeface="Aptos"/>
                <a:ea typeface="Aptos"/>
                <a:cs typeface="Aptos"/>
              </a:defRPr>
            </a:lvl6pPr>
            <a:lvl7pPr>
              <a:defRPr sz="2175" b="0">
                <a:solidFill>
                  <a:srgbClr val="37475B"/>
                </a:solidFill>
                <a:latin typeface="Aptos"/>
                <a:ea typeface="Aptos"/>
                <a:cs typeface="Aptos"/>
              </a:defRPr>
            </a:lvl7pPr>
            <a:lvl8pPr>
              <a:defRPr sz="2175" b="0">
                <a:solidFill>
                  <a:srgbClr val="37475B"/>
                </a:solidFill>
                <a:latin typeface="Aptos"/>
                <a:ea typeface="Aptos"/>
                <a:cs typeface="Aptos"/>
              </a:defRPr>
            </a:lvl8pPr>
            <a:lvl9pPr>
              <a:defRPr sz="2175" b="0">
                <a:solidFill>
                  <a:srgbClr val="37475B"/>
                </a:solidFill>
                <a:latin typeface="Aptos"/>
                <a:ea typeface="Aptos"/>
                <a:cs typeface="Aptos"/>
              </a:defRPr>
            </a:lvl9pPr>
          </a:lstStyle>
          <a:p>
            <a:pPr>
              <a:defRPr sz="2175" b="0">
                <a:solidFill>
                  <a:srgbClr val="37475B"/>
                </a:solidFill>
                <a:latin typeface="Aptos"/>
                <a:ea typeface="Aptos"/>
                <a:cs typeface="Aptos"/>
              </a:defRPr>
            </a:pPr>
            <a:r>
              <a:rPr sz="2175" b="0">
                <a:solidFill>
                  <a:srgbClr val="37475B"/>
                </a:solidFill>
                <a:latin typeface="Aptos"/>
                <a:ea typeface="Aptos"/>
                <a:cs typeface="Aptos"/>
              </a:rPr>
              <a:t>recorded training time</a:t>
            </a:r>
          </a:p>
        </p:txBody>
      </p:sp>
      <p:graphicFrame>
        <p:nvGraphicFramePr>
          <p:cNvPr id="8" name="Table 7">
            <a:extLst>
              <a:ext uri="{FF2B5EF4-FFF2-40B4-BE49-F238E27FC236}">
                <a16:creationId xmlns:a16="http://schemas.microsoft.com/office/drawing/2014/main" id="{D3577A1F-DB02-47C5-AFC4-1CF3EE9DCA1A}"/>
              </a:ext>
            </a:extLst>
          </p:cNvPr>
          <p:cNvGraphicFramePr/>
          <p:nvPr/>
        </p:nvGraphicFramePr>
        <p:xfrm>
          <a:off x="609600" y="3571875"/>
          <a:ext cx="10972800" cy="2257425"/>
        </p:xfrm>
        <a:graphic>
          <a:graphicData uri="http://schemas.openxmlformats.org/drawingml/2006/table">
            <a:tbl>
              <a:tblPr/>
              <a:tblGrid>
                <a:gridCol w="3905250">
                  <a:extLst>
                    <a:ext uri="{9D8B030D-6E8A-4147-A177-3AD203B41FA5}">
                      <a16:colId xmlns:a16="http://schemas.microsoft.com/office/drawing/2014/main" val="20000"/>
                    </a:ext>
                  </a:extLst>
                </a:gridCol>
                <a:gridCol w="7067550">
                  <a:extLst>
                    <a:ext uri="{9D8B030D-6E8A-4147-A177-3AD203B41FA5}">
                      <a16:colId xmlns:a16="http://schemas.microsoft.com/office/drawing/2014/main" val="20001"/>
                    </a:ext>
                  </a:extLst>
                </a:gridCol>
              </a:tblGrid>
              <a:tr h="451485">
                <a:tc>
                  <a:txBody>
                    <a:bodyPr/>
                    <a:lstStyle/>
                    <a:p>
                      <a:r>
                        <a:rPr sz="1725" b="1">
                          <a:solidFill>
                            <a:srgbClr val="087F8C"/>
                          </a:solidFill>
                          <a:latin typeface="Aptos"/>
                          <a:ea typeface="Aptos"/>
                          <a:cs typeface="Aptos"/>
                        </a:rPr>
                        <a:t>Setting</a:t>
                      </a:r>
                    </a:p>
                  </a:txBody>
                  <a:tcPr anchor="ctr">
                    <a:lnL w="9525">
                      <a:solidFill>
                        <a:srgbClr val="D4DEE8"/>
                      </a:solidFill>
                      <a:prstDash val="solid"/>
                    </a:lnL>
                    <a:lnR w="9525">
                      <a:solidFill>
                        <a:srgbClr val="D4DEE8"/>
                      </a:solidFill>
                      <a:prstDash val="solid"/>
                    </a:lnR>
                    <a:lnT w="9525">
                      <a:solidFill>
                        <a:srgbClr val="D4DEE8"/>
                      </a:solidFill>
                      <a:prstDash val="solid"/>
                    </a:lnT>
                    <a:lnB w="9525">
                      <a:solidFill>
                        <a:srgbClr val="D4DEE8"/>
                      </a:solidFill>
                      <a:prstDash val="solid"/>
                    </a:lnB>
                    <a:solidFill>
                      <a:srgbClr val="E7EEF5"/>
                    </a:solidFill>
                  </a:tcPr>
                </a:tc>
                <a:tc>
                  <a:txBody>
                    <a:bodyPr/>
                    <a:lstStyle/>
                    <a:p>
                      <a:r>
                        <a:rPr sz="1725" b="1">
                          <a:solidFill>
                            <a:srgbClr val="087F8C"/>
                          </a:solidFill>
                          <a:latin typeface="Aptos"/>
                          <a:ea typeface="Aptos"/>
                          <a:cs typeface="Aptos"/>
                        </a:rPr>
                        <a:t>Value</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a:solidFill>
                        <a:srgbClr val="D4DEE8"/>
                      </a:solidFill>
                      <a:prstDash val="solid"/>
                    </a:lnT>
                    <a:lnB w="9525">
                      <a:solidFill>
                        <a:srgbClr val="D4DEE8"/>
                      </a:solidFill>
                      <a:prstDash val="solid"/>
                    </a:lnB>
                    <a:solidFill>
                      <a:srgbClr val="E7EEF5"/>
                    </a:solidFill>
                  </a:tcPr>
                </a:tc>
                <a:extLst>
                  <a:ext uri="{0D108BD9-81ED-4DB2-BD59-A6C34878D82A}">
                    <a16:rowId xmlns:a16="http://schemas.microsoft.com/office/drawing/2014/main" val="10000"/>
                  </a:ext>
                </a:extLst>
              </a:tr>
              <a:tr h="451485">
                <a:tc>
                  <a:txBody>
                    <a:bodyPr/>
                    <a:lstStyle/>
                    <a:p>
                      <a:r>
                        <a:rPr sz="1725" b="0">
                          <a:solidFill>
                            <a:srgbClr val="18324F"/>
                          </a:solidFill>
                          <a:latin typeface="Aptos"/>
                          <a:ea typeface="Aptos"/>
                          <a:cs typeface="Aptos"/>
                        </a:rPr>
                        <a:t>Optimizer</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725" b="0">
                          <a:solidFill>
                            <a:srgbClr val="18324F"/>
                          </a:solidFill>
                          <a:latin typeface="Aptos"/>
                          <a:ea typeface="Aptos"/>
                          <a:cs typeface="Aptos"/>
                        </a:rPr>
                        <a:t>RMSProp, learning rate 0.00025</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extLst>
                  <a:ext uri="{0D108BD9-81ED-4DB2-BD59-A6C34878D82A}">
                    <a16:rowId xmlns:a16="http://schemas.microsoft.com/office/drawing/2014/main" val="10001"/>
                  </a:ext>
                </a:extLst>
              </a:tr>
              <a:tr h="451485">
                <a:tc>
                  <a:txBody>
                    <a:bodyPr/>
                    <a:lstStyle/>
                    <a:p>
                      <a:r>
                        <a:rPr sz="1725" b="0">
                          <a:solidFill>
                            <a:srgbClr val="18324F"/>
                          </a:solidFill>
                          <a:latin typeface="Aptos"/>
                          <a:ea typeface="Aptos"/>
                          <a:cs typeface="Aptos"/>
                        </a:rPr>
                        <a:t>RMSProp parameters</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725" b="0">
                          <a:solidFill>
                            <a:srgbClr val="18324F"/>
                          </a:solidFill>
                          <a:latin typeface="Aptos"/>
                          <a:ea typeface="Aptos"/>
                          <a:cs typeface="Aptos"/>
                        </a:rPr>
                        <a:t>α = 0.95, numerical ε = 0.01</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extLst>
                  <a:ext uri="{0D108BD9-81ED-4DB2-BD59-A6C34878D82A}">
                    <a16:rowId xmlns:a16="http://schemas.microsoft.com/office/drawing/2014/main" val="10002"/>
                  </a:ext>
                </a:extLst>
              </a:tr>
              <a:tr h="451485">
                <a:tc>
                  <a:txBody>
                    <a:bodyPr/>
                    <a:lstStyle/>
                    <a:p>
                      <a:r>
                        <a:rPr sz="1725" b="0">
                          <a:solidFill>
                            <a:srgbClr val="18324F"/>
                          </a:solidFill>
                          <a:latin typeface="Aptos"/>
                          <a:ea typeface="Aptos"/>
                          <a:cs typeface="Aptos"/>
                        </a:rPr>
                        <a:t>Updates and batch size</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725" b="0">
                          <a:solidFill>
                            <a:srgbClr val="18324F"/>
                          </a:solidFill>
                          <a:latin typeface="Aptos"/>
                          <a:ea typeface="Aptos"/>
                          <a:cs typeface="Aptos"/>
                        </a:rPr>
                        <a:t>299,969 updates, 32 transitions per batch</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extLst>
                  <a:ext uri="{0D108BD9-81ED-4DB2-BD59-A6C34878D82A}">
                    <a16:rowId xmlns:a16="http://schemas.microsoft.com/office/drawing/2014/main" val="10003"/>
                  </a:ext>
                </a:extLst>
              </a:tr>
              <a:tr h="451485">
                <a:tc>
                  <a:txBody>
                    <a:bodyPr/>
                    <a:lstStyle/>
                    <a:p>
                      <a:r>
                        <a:rPr sz="1725" b="0">
                          <a:solidFill>
                            <a:srgbClr val="18324F"/>
                          </a:solidFill>
                          <a:latin typeface="Aptos"/>
                          <a:ea typeface="Aptos"/>
                          <a:cs typeface="Aptos"/>
                        </a:rPr>
                        <a:t>Runtime</a:t>
                      </a:r>
                    </a:p>
                  </a:txBody>
                  <a:tcPr anchor="ctr">
                    <a:lnL w="9525">
                      <a:solidFill>
                        <a:srgbClr val="D4DEE8"/>
                      </a:solidFill>
                      <a:prstDash val="soli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tc>
                  <a:txBody>
                    <a:bodyPr/>
                    <a:lstStyle/>
                    <a:p>
                      <a:r>
                        <a:rPr sz="1725" b="0">
                          <a:solidFill>
                            <a:srgbClr val="18324F"/>
                          </a:solidFill>
                          <a:latin typeface="Aptos"/>
                          <a:ea typeface="Aptos"/>
                          <a:cs typeface="Aptos"/>
                        </a:rPr>
                        <a:t>PyTorch on NVIDIA RTX 3050 Laptop GPU</a:t>
                      </a:r>
                    </a:p>
                  </a:txBody>
                  <a:tcPr anchor="ctr">
                    <a:lnL w="9525" cap="flat" cmpd="sng" algn="ctr">
                      <a:solidFill>
                        <a:srgbClr val="D4DEE8"/>
                      </a:solidFill>
                      <a:prstDash val="solid"/>
                      <a:round/>
                      <a:headEnd type="none" w="med" len="med"/>
                      <a:tailEnd type="none" w="med" len="med"/>
                    </a:lnL>
                    <a:lnR w="9525">
                      <a:solidFill>
                        <a:srgbClr val="D4DEE8"/>
                      </a:solidFill>
                      <a:prstDash val="solid"/>
                    </a:lnR>
                    <a:lnT w="9525" cap="flat" cmpd="sng" algn="ctr">
                      <a:solidFill>
                        <a:srgbClr val="D4DEE8"/>
                      </a:solidFill>
                      <a:prstDash val="solid"/>
                      <a:round/>
                      <a:headEnd type="none" w="med" len="med"/>
                      <a:tailEnd type="none" w="med" len="med"/>
                    </a:lnT>
                    <a:lnB w="9525">
                      <a:solidFill>
                        <a:srgbClr val="D4DEE8"/>
                      </a:solidFill>
                      <a:prstDash val="solid"/>
                    </a:lnB>
                    <a:solidFill>
                      <a:srgbClr val="F7F9FC"/>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33565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raining improved, then fluctuated">
            <a:extLst>
              <a:ext uri="{FF2B5EF4-FFF2-40B4-BE49-F238E27FC236}">
                <a16:creationId xmlns:a16="http://schemas.microsoft.com/office/drawing/2014/main" id="{B242D102-6BE0-4E48-8FF0-5A96EA35A3B9}"/>
              </a:ext>
            </a:extLst>
          </p:cNvPr>
          <p:cNvSpPr>
            <a:spLocks noGrp="1"/>
          </p:cNvSpPr>
          <p:nvPr/>
        </p:nvSpPr>
        <p:spPr>
          <a:xfrm>
            <a:off x="609600" y="438150"/>
            <a:ext cx="10763250" cy="666750"/>
          </a:xfrm>
          <a:prstGeom prst="rect">
            <a:avLst/>
          </a:prstGeom>
          <a:noFill/>
          <a:ln w="0">
            <a:noFill/>
          </a:ln>
        </p:spPr>
        <p:txBody>
          <a:bodyPr lIns="0" tIns="0" rIns="0" bIns="0" anchor="t">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Training improved, then fluctuated</a:t>
            </a:r>
          </a:p>
        </p:txBody>
      </p:sp>
      <p:sp>
        <p:nvSpPr>
          <p:cNvPr id="3" name="11">
            <a:extLst>
              <a:ext uri="{FF2B5EF4-FFF2-40B4-BE49-F238E27FC236}">
                <a16:creationId xmlns:a16="http://schemas.microsoft.com/office/drawing/2014/main" id="{F2A57775-2004-44C3-961C-B9E90FABA2DF}"/>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12</a:t>
            </a:r>
          </a:p>
        </p:txBody>
      </p:sp>
      <p:graphicFrame>
        <p:nvGraphicFramePr>
          <p:cNvPr id="4" name="Chart">
            <a:extLst>
              <a:ext uri="{FF2B5EF4-FFF2-40B4-BE49-F238E27FC236}">
                <a16:creationId xmlns:a16="http://schemas.microsoft.com/office/drawing/2014/main" id="{6466B1CD-49E8-46B1-9068-6B288EF4E540}"/>
              </a:ext>
            </a:extLst>
          </p:cNvPr>
          <p:cNvGraphicFramePr/>
          <p:nvPr/>
        </p:nvGraphicFramePr>
        <p:xfrm>
          <a:off x="552450" y="1552575"/>
          <a:ext cx="8191500" cy="4048125"/>
        </p:xfrm>
        <a:graphic>
          <a:graphicData uri="http://schemas.openxmlformats.org/drawingml/2006/chart">
            <c:chart xmlns:c="http://schemas.openxmlformats.org/drawingml/2006/chart" xmlns:r="http://schemas.openxmlformats.org/officeDocument/2006/relationships" r:id="rId3"/>
          </a:graphicData>
        </a:graphic>
      </p:graphicFrame>
      <p:sp>
        <p:nvSpPr>
          <p:cNvPr id="5" name="8.3">
            <a:extLst>
              <a:ext uri="{FF2B5EF4-FFF2-40B4-BE49-F238E27FC236}">
                <a16:creationId xmlns:a16="http://schemas.microsoft.com/office/drawing/2014/main" id="{EEE97D34-7FFF-4275-99E8-329CB8A5DEE5}"/>
              </a:ext>
            </a:extLst>
          </p:cNvPr>
          <p:cNvSpPr>
            <a:spLocks noGrp="1"/>
          </p:cNvSpPr>
          <p:nvPr/>
        </p:nvSpPr>
        <p:spPr>
          <a:xfrm>
            <a:off x="9220200" y="1905000"/>
            <a:ext cx="2381250" cy="838200"/>
          </a:xfrm>
          <a:prstGeom prst="rect">
            <a:avLst/>
          </a:prstGeom>
          <a:noFill/>
          <a:ln w="0">
            <a:noFill/>
          </a:ln>
        </p:spPr>
        <p:txBody>
          <a:bodyPr lIns="0" tIns="0" rIns="0" bIns="0" anchor="t">
            <a:noAutofit/>
          </a:bodyPr>
          <a:lstStyle>
            <a:defPPr>
              <a:defRPr sz="4800" b="1">
                <a:solidFill>
                  <a:srgbClr val="087F8C"/>
                </a:solidFill>
                <a:latin typeface="Aptos"/>
                <a:ea typeface="Aptos"/>
                <a:cs typeface="Aptos"/>
              </a:defRPr>
            </a:defPPr>
            <a:lvl1pPr>
              <a:defRPr sz="4800" b="1">
                <a:solidFill>
                  <a:srgbClr val="087F8C"/>
                </a:solidFill>
                <a:latin typeface="Aptos"/>
                <a:ea typeface="Aptos"/>
                <a:cs typeface="Aptos"/>
              </a:defRPr>
            </a:lvl1pPr>
            <a:lvl2pPr>
              <a:defRPr sz="4800" b="1">
                <a:solidFill>
                  <a:srgbClr val="087F8C"/>
                </a:solidFill>
                <a:latin typeface="Aptos"/>
                <a:ea typeface="Aptos"/>
                <a:cs typeface="Aptos"/>
              </a:defRPr>
            </a:lvl2pPr>
            <a:lvl3pPr>
              <a:defRPr sz="4800" b="1">
                <a:solidFill>
                  <a:srgbClr val="087F8C"/>
                </a:solidFill>
                <a:latin typeface="Aptos"/>
                <a:ea typeface="Aptos"/>
                <a:cs typeface="Aptos"/>
              </a:defRPr>
            </a:lvl3pPr>
            <a:lvl4pPr>
              <a:defRPr sz="4800" b="1">
                <a:solidFill>
                  <a:srgbClr val="087F8C"/>
                </a:solidFill>
                <a:latin typeface="Aptos"/>
                <a:ea typeface="Aptos"/>
                <a:cs typeface="Aptos"/>
              </a:defRPr>
            </a:lvl4pPr>
            <a:lvl5pPr>
              <a:defRPr sz="4800" b="1">
                <a:solidFill>
                  <a:srgbClr val="087F8C"/>
                </a:solidFill>
                <a:latin typeface="Aptos"/>
                <a:ea typeface="Aptos"/>
                <a:cs typeface="Aptos"/>
              </a:defRPr>
            </a:lvl5pPr>
            <a:lvl6pPr>
              <a:defRPr sz="4800" b="1">
                <a:solidFill>
                  <a:srgbClr val="087F8C"/>
                </a:solidFill>
                <a:latin typeface="Aptos"/>
                <a:ea typeface="Aptos"/>
                <a:cs typeface="Aptos"/>
              </a:defRPr>
            </a:lvl6pPr>
            <a:lvl7pPr>
              <a:defRPr sz="4800" b="1">
                <a:solidFill>
                  <a:srgbClr val="087F8C"/>
                </a:solidFill>
                <a:latin typeface="Aptos"/>
                <a:ea typeface="Aptos"/>
                <a:cs typeface="Aptos"/>
              </a:defRPr>
            </a:lvl7pPr>
            <a:lvl8pPr>
              <a:defRPr sz="4800" b="1">
                <a:solidFill>
                  <a:srgbClr val="087F8C"/>
                </a:solidFill>
                <a:latin typeface="Aptos"/>
                <a:ea typeface="Aptos"/>
                <a:cs typeface="Aptos"/>
              </a:defRPr>
            </a:lvl8pPr>
            <a:lvl9pPr>
              <a:defRPr sz="4800" b="1">
                <a:solidFill>
                  <a:srgbClr val="087F8C"/>
                </a:solidFill>
                <a:latin typeface="Aptos"/>
                <a:ea typeface="Aptos"/>
                <a:cs typeface="Aptos"/>
              </a:defRPr>
            </a:lvl9pPr>
          </a:lstStyle>
          <a:p>
            <a:pPr>
              <a:defRPr sz="4800" b="1">
                <a:solidFill>
                  <a:srgbClr val="087F8C"/>
                </a:solidFill>
                <a:latin typeface="Aptos"/>
                <a:ea typeface="Aptos"/>
                <a:cs typeface="Aptos"/>
              </a:defRPr>
            </a:pPr>
            <a:r>
              <a:rPr sz="4800" b="1">
                <a:solidFill>
                  <a:srgbClr val="087F8C"/>
                </a:solidFill>
                <a:latin typeface="Aptos"/>
                <a:ea typeface="Aptos"/>
                <a:cs typeface="Aptos"/>
              </a:rPr>
              <a:t>8.3</a:t>
            </a:r>
          </a:p>
        </p:txBody>
      </p:sp>
      <p:sp>
        <p:nvSpPr>
          <p:cNvPr id="6" name="highest logged mean&#10;at 160k decisions">
            <a:extLst>
              <a:ext uri="{FF2B5EF4-FFF2-40B4-BE49-F238E27FC236}">
                <a16:creationId xmlns:a16="http://schemas.microsoft.com/office/drawing/2014/main" id="{B4046885-1B79-4FBA-A594-4480FB3709F2}"/>
              </a:ext>
            </a:extLst>
          </p:cNvPr>
          <p:cNvSpPr>
            <a:spLocks noGrp="1"/>
          </p:cNvSpPr>
          <p:nvPr/>
        </p:nvSpPr>
        <p:spPr>
          <a:xfrm>
            <a:off x="9229725" y="2781300"/>
            <a:ext cx="2333625" cy="809625"/>
          </a:xfrm>
          <a:prstGeom prst="rect">
            <a:avLst/>
          </a:prstGeom>
          <a:noFill/>
          <a:ln w="0">
            <a:noFill/>
          </a:ln>
        </p:spPr>
        <p:txBody>
          <a:bodyPr lIns="0" tIns="0" rIns="0" bIns="0" anchor="t">
            <a:noAutofit/>
          </a:bodyPr>
          <a:lstStyle>
            <a:defPPr>
              <a:defRPr sz="1875" b="0">
                <a:solidFill>
                  <a:srgbClr val="37475B"/>
                </a:solidFill>
                <a:latin typeface="Aptos"/>
                <a:ea typeface="Aptos"/>
                <a:cs typeface="Aptos"/>
              </a:defRPr>
            </a:defPPr>
            <a:lvl1pPr>
              <a:defRPr sz="1875" b="0">
                <a:solidFill>
                  <a:srgbClr val="37475B"/>
                </a:solidFill>
                <a:latin typeface="Aptos"/>
                <a:ea typeface="Aptos"/>
                <a:cs typeface="Aptos"/>
              </a:defRPr>
            </a:lvl1pPr>
            <a:lvl2pPr>
              <a:defRPr sz="1875" b="0">
                <a:solidFill>
                  <a:srgbClr val="37475B"/>
                </a:solidFill>
                <a:latin typeface="Aptos"/>
                <a:ea typeface="Aptos"/>
                <a:cs typeface="Aptos"/>
              </a:defRPr>
            </a:lvl2pPr>
            <a:lvl3pPr>
              <a:defRPr sz="1875" b="0">
                <a:solidFill>
                  <a:srgbClr val="37475B"/>
                </a:solidFill>
                <a:latin typeface="Aptos"/>
                <a:ea typeface="Aptos"/>
                <a:cs typeface="Aptos"/>
              </a:defRPr>
            </a:lvl3pPr>
            <a:lvl4pPr>
              <a:defRPr sz="1875" b="0">
                <a:solidFill>
                  <a:srgbClr val="37475B"/>
                </a:solidFill>
                <a:latin typeface="Aptos"/>
                <a:ea typeface="Aptos"/>
                <a:cs typeface="Aptos"/>
              </a:defRPr>
            </a:lvl4pPr>
            <a:lvl5pPr>
              <a:defRPr sz="1875" b="0">
                <a:solidFill>
                  <a:srgbClr val="37475B"/>
                </a:solidFill>
                <a:latin typeface="Aptos"/>
                <a:ea typeface="Aptos"/>
                <a:cs typeface="Aptos"/>
              </a:defRPr>
            </a:lvl5pPr>
            <a:lvl6pPr>
              <a:defRPr sz="1875" b="0">
                <a:solidFill>
                  <a:srgbClr val="37475B"/>
                </a:solidFill>
                <a:latin typeface="Aptos"/>
                <a:ea typeface="Aptos"/>
                <a:cs typeface="Aptos"/>
              </a:defRPr>
            </a:lvl6pPr>
            <a:lvl7pPr>
              <a:defRPr sz="1875" b="0">
                <a:solidFill>
                  <a:srgbClr val="37475B"/>
                </a:solidFill>
                <a:latin typeface="Aptos"/>
                <a:ea typeface="Aptos"/>
                <a:cs typeface="Aptos"/>
              </a:defRPr>
            </a:lvl7pPr>
            <a:lvl8pPr>
              <a:defRPr sz="1875" b="0">
                <a:solidFill>
                  <a:srgbClr val="37475B"/>
                </a:solidFill>
                <a:latin typeface="Aptos"/>
                <a:ea typeface="Aptos"/>
                <a:cs typeface="Aptos"/>
              </a:defRPr>
            </a:lvl8pPr>
            <a:lvl9pPr>
              <a:defRPr sz="1875" b="0">
                <a:solidFill>
                  <a:srgbClr val="37475B"/>
                </a:solidFill>
                <a:latin typeface="Aptos"/>
                <a:ea typeface="Aptos"/>
                <a:cs typeface="Aptos"/>
              </a:defRPr>
            </a:lvl9pPr>
          </a:lstStyle>
          <a:p>
            <a:pPr>
              <a:defRPr sz="1875" b="0">
                <a:solidFill>
                  <a:srgbClr val="37475B"/>
                </a:solidFill>
                <a:latin typeface="Aptos"/>
                <a:ea typeface="Aptos"/>
                <a:cs typeface="Aptos"/>
              </a:defRPr>
            </a:pPr>
            <a:r>
              <a:rPr sz="1875" b="0">
                <a:solidFill>
                  <a:srgbClr val="37475B"/>
                </a:solidFill>
                <a:latin typeface="Aptos"/>
                <a:ea typeface="Aptos"/>
                <a:cs typeface="Aptos"/>
              </a:rPr>
              <a:t>highest logged mean</a:t>
            </a:r>
          </a:p>
          <a:p>
            <a:pPr>
              <a:defRPr sz="1875" b="0">
                <a:solidFill>
                  <a:srgbClr val="37475B"/>
                </a:solidFill>
                <a:latin typeface="Aptos"/>
                <a:ea typeface="Aptos"/>
                <a:cs typeface="Aptos"/>
              </a:defRPr>
            </a:pPr>
            <a:r>
              <a:rPr sz="1875" b="0">
                <a:solidFill>
                  <a:srgbClr val="37475B"/>
                </a:solidFill>
                <a:latin typeface="Aptos"/>
                <a:ea typeface="Aptos"/>
                <a:cs typeface="Aptos"/>
              </a:rPr>
              <a:t>at 160k decisions</a:t>
            </a:r>
          </a:p>
        </p:txBody>
      </p:sp>
      <p:sp>
        <p:nvSpPr>
          <p:cNvPr id="7" name="4.4">
            <a:extLst>
              <a:ext uri="{FF2B5EF4-FFF2-40B4-BE49-F238E27FC236}">
                <a16:creationId xmlns:a16="http://schemas.microsoft.com/office/drawing/2014/main" id="{A5DBEC1C-0161-4E82-9321-C6F726AC2AFD}"/>
              </a:ext>
            </a:extLst>
          </p:cNvPr>
          <p:cNvSpPr>
            <a:spLocks noGrp="1"/>
          </p:cNvSpPr>
          <p:nvPr/>
        </p:nvSpPr>
        <p:spPr>
          <a:xfrm>
            <a:off x="9220200" y="4010025"/>
            <a:ext cx="2381250" cy="790575"/>
          </a:xfrm>
          <a:prstGeom prst="rect">
            <a:avLst/>
          </a:prstGeom>
          <a:noFill/>
          <a:ln w="0">
            <a:noFill/>
          </a:ln>
        </p:spPr>
        <p:txBody>
          <a:bodyPr lIns="0" tIns="0" rIns="0" bIns="0" anchor="t">
            <a:noAutofit/>
          </a:bodyPr>
          <a:lstStyle>
            <a:defPPr>
              <a:defRPr sz="4800" b="1">
                <a:solidFill>
                  <a:srgbClr val="18324F"/>
                </a:solidFill>
                <a:latin typeface="Aptos"/>
                <a:ea typeface="Aptos"/>
                <a:cs typeface="Aptos"/>
              </a:defRPr>
            </a:defPPr>
            <a:lvl1pPr>
              <a:defRPr sz="4800" b="1">
                <a:solidFill>
                  <a:srgbClr val="18324F"/>
                </a:solidFill>
                <a:latin typeface="Aptos"/>
                <a:ea typeface="Aptos"/>
                <a:cs typeface="Aptos"/>
              </a:defRPr>
            </a:lvl1pPr>
            <a:lvl2pPr>
              <a:defRPr sz="4800" b="1">
                <a:solidFill>
                  <a:srgbClr val="18324F"/>
                </a:solidFill>
                <a:latin typeface="Aptos"/>
                <a:ea typeface="Aptos"/>
                <a:cs typeface="Aptos"/>
              </a:defRPr>
            </a:lvl2pPr>
            <a:lvl3pPr>
              <a:defRPr sz="4800" b="1">
                <a:solidFill>
                  <a:srgbClr val="18324F"/>
                </a:solidFill>
                <a:latin typeface="Aptos"/>
                <a:ea typeface="Aptos"/>
                <a:cs typeface="Aptos"/>
              </a:defRPr>
            </a:lvl3pPr>
            <a:lvl4pPr>
              <a:defRPr sz="4800" b="1">
                <a:solidFill>
                  <a:srgbClr val="18324F"/>
                </a:solidFill>
                <a:latin typeface="Aptos"/>
                <a:ea typeface="Aptos"/>
                <a:cs typeface="Aptos"/>
              </a:defRPr>
            </a:lvl4pPr>
            <a:lvl5pPr>
              <a:defRPr sz="4800" b="1">
                <a:solidFill>
                  <a:srgbClr val="18324F"/>
                </a:solidFill>
                <a:latin typeface="Aptos"/>
                <a:ea typeface="Aptos"/>
                <a:cs typeface="Aptos"/>
              </a:defRPr>
            </a:lvl5pPr>
            <a:lvl6pPr>
              <a:defRPr sz="4800" b="1">
                <a:solidFill>
                  <a:srgbClr val="18324F"/>
                </a:solidFill>
                <a:latin typeface="Aptos"/>
                <a:ea typeface="Aptos"/>
                <a:cs typeface="Aptos"/>
              </a:defRPr>
            </a:lvl6pPr>
            <a:lvl7pPr>
              <a:defRPr sz="4800" b="1">
                <a:solidFill>
                  <a:srgbClr val="18324F"/>
                </a:solidFill>
                <a:latin typeface="Aptos"/>
                <a:ea typeface="Aptos"/>
                <a:cs typeface="Aptos"/>
              </a:defRPr>
            </a:lvl7pPr>
            <a:lvl8pPr>
              <a:defRPr sz="4800" b="1">
                <a:solidFill>
                  <a:srgbClr val="18324F"/>
                </a:solidFill>
                <a:latin typeface="Aptos"/>
                <a:ea typeface="Aptos"/>
                <a:cs typeface="Aptos"/>
              </a:defRPr>
            </a:lvl8pPr>
            <a:lvl9pPr>
              <a:defRPr sz="4800" b="1">
                <a:solidFill>
                  <a:srgbClr val="18324F"/>
                </a:solidFill>
                <a:latin typeface="Aptos"/>
                <a:ea typeface="Aptos"/>
                <a:cs typeface="Aptos"/>
              </a:defRPr>
            </a:lvl9pPr>
          </a:lstStyle>
          <a:p>
            <a:pPr>
              <a:defRPr sz="4800" b="1">
                <a:solidFill>
                  <a:srgbClr val="18324F"/>
                </a:solidFill>
                <a:latin typeface="Aptos"/>
                <a:ea typeface="Aptos"/>
                <a:cs typeface="Aptos"/>
              </a:defRPr>
            </a:pPr>
            <a:r>
              <a:rPr sz="4800" b="1">
                <a:solidFill>
                  <a:srgbClr val="18324F"/>
                </a:solidFill>
                <a:latin typeface="Aptos"/>
                <a:ea typeface="Aptos"/>
                <a:cs typeface="Aptos"/>
              </a:rPr>
              <a:t>4.4</a:t>
            </a:r>
          </a:p>
        </p:txBody>
      </p:sp>
      <p:sp>
        <p:nvSpPr>
          <p:cNvPr id="8" name="final logged mean">
            <a:extLst>
              <a:ext uri="{FF2B5EF4-FFF2-40B4-BE49-F238E27FC236}">
                <a16:creationId xmlns:a16="http://schemas.microsoft.com/office/drawing/2014/main" id="{D2311CF2-4980-402E-A54D-A1E4208DE4F1}"/>
              </a:ext>
            </a:extLst>
          </p:cNvPr>
          <p:cNvSpPr>
            <a:spLocks noGrp="1"/>
          </p:cNvSpPr>
          <p:nvPr/>
        </p:nvSpPr>
        <p:spPr>
          <a:xfrm>
            <a:off x="9229725" y="4886325"/>
            <a:ext cx="2362200" cy="619125"/>
          </a:xfrm>
          <a:prstGeom prst="rect">
            <a:avLst/>
          </a:prstGeom>
          <a:noFill/>
          <a:ln w="0">
            <a:noFill/>
          </a:ln>
        </p:spPr>
        <p:txBody>
          <a:bodyPr lIns="0" tIns="0" rIns="0" bIns="0" anchor="t">
            <a:noAutofit/>
          </a:bodyPr>
          <a:lstStyle>
            <a:defPPr>
              <a:defRPr sz="1875" b="0">
                <a:solidFill>
                  <a:srgbClr val="37475B"/>
                </a:solidFill>
                <a:latin typeface="Aptos"/>
                <a:ea typeface="Aptos"/>
                <a:cs typeface="Aptos"/>
              </a:defRPr>
            </a:defPPr>
            <a:lvl1pPr>
              <a:defRPr sz="1875" b="0">
                <a:solidFill>
                  <a:srgbClr val="37475B"/>
                </a:solidFill>
                <a:latin typeface="Aptos"/>
                <a:ea typeface="Aptos"/>
                <a:cs typeface="Aptos"/>
              </a:defRPr>
            </a:lvl1pPr>
            <a:lvl2pPr>
              <a:defRPr sz="1875" b="0">
                <a:solidFill>
                  <a:srgbClr val="37475B"/>
                </a:solidFill>
                <a:latin typeface="Aptos"/>
                <a:ea typeface="Aptos"/>
                <a:cs typeface="Aptos"/>
              </a:defRPr>
            </a:lvl2pPr>
            <a:lvl3pPr>
              <a:defRPr sz="1875" b="0">
                <a:solidFill>
                  <a:srgbClr val="37475B"/>
                </a:solidFill>
                <a:latin typeface="Aptos"/>
                <a:ea typeface="Aptos"/>
                <a:cs typeface="Aptos"/>
              </a:defRPr>
            </a:lvl3pPr>
            <a:lvl4pPr>
              <a:defRPr sz="1875" b="0">
                <a:solidFill>
                  <a:srgbClr val="37475B"/>
                </a:solidFill>
                <a:latin typeface="Aptos"/>
                <a:ea typeface="Aptos"/>
                <a:cs typeface="Aptos"/>
              </a:defRPr>
            </a:lvl4pPr>
            <a:lvl5pPr>
              <a:defRPr sz="1875" b="0">
                <a:solidFill>
                  <a:srgbClr val="37475B"/>
                </a:solidFill>
                <a:latin typeface="Aptos"/>
                <a:ea typeface="Aptos"/>
                <a:cs typeface="Aptos"/>
              </a:defRPr>
            </a:lvl5pPr>
            <a:lvl6pPr>
              <a:defRPr sz="1875" b="0">
                <a:solidFill>
                  <a:srgbClr val="37475B"/>
                </a:solidFill>
                <a:latin typeface="Aptos"/>
                <a:ea typeface="Aptos"/>
                <a:cs typeface="Aptos"/>
              </a:defRPr>
            </a:lvl6pPr>
            <a:lvl7pPr>
              <a:defRPr sz="1875" b="0">
                <a:solidFill>
                  <a:srgbClr val="37475B"/>
                </a:solidFill>
                <a:latin typeface="Aptos"/>
                <a:ea typeface="Aptos"/>
                <a:cs typeface="Aptos"/>
              </a:defRPr>
            </a:lvl7pPr>
            <a:lvl8pPr>
              <a:defRPr sz="1875" b="0">
                <a:solidFill>
                  <a:srgbClr val="37475B"/>
                </a:solidFill>
                <a:latin typeface="Aptos"/>
                <a:ea typeface="Aptos"/>
                <a:cs typeface="Aptos"/>
              </a:defRPr>
            </a:lvl8pPr>
            <a:lvl9pPr>
              <a:defRPr sz="1875" b="0">
                <a:solidFill>
                  <a:srgbClr val="37475B"/>
                </a:solidFill>
                <a:latin typeface="Aptos"/>
                <a:ea typeface="Aptos"/>
                <a:cs typeface="Aptos"/>
              </a:defRPr>
            </a:lvl9pPr>
          </a:lstStyle>
          <a:p>
            <a:pPr>
              <a:defRPr sz="1875" b="0">
                <a:solidFill>
                  <a:srgbClr val="37475B"/>
                </a:solidFill>
                <a:latin typeface="Aptos"/>
                <a:ea typeface="Aptos"/>
                <a:cs typeface="Aptos"/>
              </a:defRPr>
            </a:pPr>
            <a:r>
              <a:rPr sz="1875" b="0">
                <a:solidFill>
                  <a:srgbClr val="37475B"/>
                </a:solidFill>
                <a:latin typeface="Aptos"/>
                <a:ea typeface="Aptos"/>
                <a:cs typeface="Aptos"/>
              </a:rPr>
              <a:t>final logged mean</a:t>
            </a:r>
          </a:p>
        </p:txBody>
      </p:sp>
      <p:sp>
        <p:nvSpPr>
          <p:cNvPr id="9" name="Raw game rewards during ε = 0.1 training. Log samples e">
            <a:extLst>
              <a:ext uri="{FF2B5EF4-FFF2-40B4-BE49-F238E27FC236}">
                <a16:creationId xmlns:a16="http://schemas.microsoft.com/office/drawing/2014/main" id="{AFF3913C-613A-4599-9484-27DFB6A2A8AB}"/>
              </a:ext>
            </a:extLst>
          </p:cNvPr>
          <p:cNvSpPr>
            <a:spLocks noGrp="1"/>
          </p:cNvSpPr>
          <p:nvPr/>
        </p:nvSpPr>
        <p:spPr>
          <a:xfrm>
            <a:off x="619125" y="5943600"/>
            <a:ext cx="10763250" cy="342900"/>
          </a:xfrm>
          <a:prstGeom prst="rect">
            <a:avLst/>
          </a:prstGeom>
          <a:noFill/>
          <a:ln w="0">
            <a:noFill/>
          </a:ln>
        </p:spPr>
        <p:txBody>
          <a:bodyPr lIns="0" tIns="0" rIns="0" bIns="0" anchor="t">
            <a:noAutofit/>
          </a:bodyPr>
          <a:lstStyle>
            <a:defPPr>
              <a:defRPr sz="1725" b="0">
                <a:solidFill>
                  <a:srgbClr val="37475B"/>
                </a:solidFill>
                <a:latin typeface="Aptos"/>
                <a:ea typeface="Aptos"/>
                <a:cs typeface="Aptos"/>
              </a:defRPr>
            </a:defPPr>
            <a:lvl1pPr>
              <a:defRPr sz="1725" b="0">
                <a:solidFill>
                  <a:srgbClr val="37475B"/>
                </a:solidFill>
                <a:latin typeface="Aptos"/>
                <a:ea typeface="Aptos"/>
                <a:cs typeface="Aptos"/>
              </a:defRPr>
            </a:lvl1pPr>
            <a:lvl2pPr>
              <a:defRPr sz="1725" b="0">
                <a:solidFill>
                  <a:srgbClr val="37475B"/>
                </a:solidFill>
                <a:latin typeface="Aptos"/>
                <a:ea typeface="Aptos"/>
                <a:cs typeface="Aptos"/>
              </a:defRPr>
            </a:lvl2pPr>
            <a:lvl3pPr>
              <a:defRPr sz="1725" b="0">
                <a:solidFill>
                  <a:srgbClr val="37475B"/>
                </a:solidFill>
                <a:latin typeface="Aptos"/>
                <a:ea typeface="Aptos"/>
                <a:cs typeface="Aptos"/>
              </a:defRPr>
            </a:lvl3pPr>
            <a:lvl4pPr>
              <a:defRPr sz="1725" b="0">
                <a:solidFill>
                  <a:srgbClr val="37475B"/>
                </a:solidFill>
                <a:latin typeface="Aptos"/>
                <a:ea typeface="Aptos"/>
                <a:cs typeface="Aptos"/>
              </a:defRPr>
            </a:lvl4pPr>
            <a:lvl5pPr>
              <a:defRPr sz="1725" b="0">
                <a:solidFill>
                  <a:srgbClr val="37475B"/>
                </a:solidFill>
                <a:latin typeface="Aptos"/>
                <a:ea typeface="Aptos"/>
                <a:cs typeface="Aptos"/>
              </a:defRPr>
            </a:lvl5pPr>
            <a:lvl6pPr>
              <a:defRPr sz="1725" b="0">
                <a:solidFill>
                  <a:srgbClr val="37475B"/>
                </a:solidFill>
                <a:latin typeface="Aptos"/>
                <a:ea typeface="Aptos"/>
                <a:cs typeface="Aptos"/>
              </a:defRPr>
            </a:lvl6pPr>
            <a:lvl7pPr>
              <a:defRPr sz="1725" b="0">
                <a:solidFill>
                  <a:srgbClr val="37475B"/>
                </a:solidFill>
                <a:latin typeface="Aptos"/>
                <a:ea typeface="Aptos"/>
                <a:cs typeface="Aptos"/>
              </a:defRPr>
            </a:lvl7pPr>
            <a:lvl8pPr>
              <a:defRPr sz="1725" b="0">
                <a:solidFill>
                  <a:srgbClr val="37475B"/>
                </a:solidFill>
                <a:latin typeface="Aptos"/>
                <a:ea typeface="Aptos"/>
                <a:cs typeface="Aptos"/>
              </a:defRPr>
            </a:lvl8pPr>
            <a:lvl9pPr>
              <a:defRPr sz="1725" b="0">
                <a:solidFill>
                  <a:srgbClr val="37475B"/>
                </a:solidFill>
                <a:latin typeface="Aptos"/>
                <a:ea typeface="Aptos"/>
                <a:cs typeface="Aptos"/>
              </a:defRPr>
            </a:lvl9pPr>
          </a:lstStyle>
          <a:p>
            <a:pPr>
              <a:defRPr sz="1725" b="0">
                <a:solidFill>
                  <a:srgbClr val="37475B"/>
                </a:solidFill>
                <a:latin typeface="Aptos"/>
                <a:ea typeface="Aptos"/>
                <a:cs typeface="Aptos"/>
              </a:defRPr>
            </a:pPr>
            <a:r>
              <a:rPr sz="1725" b="0">
                <a:solidFill>
                  <a:srgbClr val="37475B"/>
                </a:solidFill>
                <a:latin typeface="Aptos"/>
                <a:ea typeface="Aptos"/>
                <a:cs typeface="Aptos"/>
              </a:rPr>
              <a:t>Raw game rewards during ε = 0.1 training. Log samples every 10,000 decisions.</a:t>
            </a:r>
          </a:p>
        </p:txBody>
      </p:sp>
    </p:spTree>
    <p:extLst>
      <p:ext uri="{BB962C8B-B14F-4D97-AF65-F5344CB8AC3E}">
        <p14:creationId xmlns:p14="http://schemas.microsoft.com/office/powerpoint/2010/main" val="1214767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Gameplay midway through training">
            <a:extLst>
              <a:ext uri="{FF2B5EF4-FFF2-40B4-BE49-F238E27FC236}">
                <a16:creationId xmlns:a16="http://schemas.microsoft.com/office/drawing/2014/main" id="{5FF86638-46BF-4B3B-9609-A852401CF37E}"/>
              </a:ext>
            </a:extLst>
          </p:cNvPr>
          <p:cNvSpPr>
            <a:spLocks noGrp="1"/>
          </p:cNvSpPr>
          <p:nvPr/>
        </p:nvSpPr>
        <p:spPr>
          <a:xfrm>
            <a:off x="609600" y="438150"/>
            <a:ext cx="10953750" cy="666750"/>
          </a:xfrm>
          <a:prstGeom prst="rect">
            <a:avLst/>
          </a:prstGeom>
          <a:noFill/>
          <a:ln w="0">
            <a:noFill/>
          </a:ln>
        </p:spPr>
        <p:txBody>
          <a:bodyPr lIns="0" tIns="0" rIns="0" bIns="0">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Gameplay midway through training</a:t>
            </a:r>
          </a:p>
        </p:txBody>
      </p:sp>
      <p:sp>
        <p:nvSpPr>
          <p:cNvPr id="3" name="Replace with gameplay recording">
            <a:extLst>
              <a:ext uri="{FF2B5EF4-FFF2-40B4-BE49-F238E27FC236}">
                <a16:creationId xmlns:a16="http://schemas.microsoft.com/office/drawing/2014/main" id="{EC6B9B57-81E2-4F4F-AEAB-E12C4EBDC349}"/>
              </a:ext>
            </a:extLst>
          </p:cNvPr>
          <p:cNvSpPr>
            <a:spLocks noGrp="1"/>
          </p:cNvSpPr>
          <p:nvPr/>
        </p:nvSpPr>
        <p:spPr>
          <a:xfrm>
            <a:off x="609600" y="1524000"/>
            <a:ext cx="7467600" cy="4200525"/>
          </a:xfrm>
          <a:prstGeom prst="rect">
            <a:avLst/>
          </a:prstGeom>
          <a:solidFill>
            <a:srgbClr val="EDF2F7"/>
          </a:solidFill>
          <a:ln w="14288">
            <a:solidFill>
              <a:srgbClr val="B9C9D9"/>
            </a:solidFill>
            <a:prstDash val="dash"/>
          </a:ln>
        </p:spPr>
      </p:sp>
      <p:sp>
        <p:nvSpPr>
          <p:cNvPr id="4" name="Mid-training recording">
            <a:extLst>
              <a:ext uri="{FF2B5EF4-FFF2-40B4-BE49-F238E27FC236}">
                <a16:creationId xmlns:a16="http://schemas.microsoft.com/office/drawing/2014/main" id="{EE15A151-C306-47DA-A573-0B18BD1A2901}"/>
              </a:ext>
            </a:extLst>
          </p:cNvPr>
          <p:cNvSpPr>
            <a:spLocks noGrp="1"/>
          </p:cNvSpPr>
          <p:nvPr/>
        </p:nvSpPr>
        <p:spPr>
          <a:xfrm>
            <a:off x="1238250" y="1752600"/>
            <a:ext cx="6191250" cy="476250"/>
          </a:xfrm>
          <a:prstGeom prst="rect">
            <a:avLst/>
          </a:prstGeom>
          <a:noFill/>
          <a:ln w="0">
            <a:noFill/>
          </a:ln>
        </p:spPr>
        <p:txBody>
          <a:bodyPr lIns="0" tIns="0" rIns="0" bIns="0">
            <a:noAutofit/>
          </a:bodyPr>
          <a:lstStyle>
            <a:defPPr algn="ctr">
              <a:defRPr sz="2475" b="1">
                <a:solidFill>
                  <a:srgbClr val="18324F"/>
                </a:solidFill>
                <a:latin typeface="Aptos"/>
                <a:ea typeface="Aptos"/>
                <a:cs typeface="Aptos"/>
              </a:defRPr>
            </a:defPPr>
            <a:lvl1pPr algn="ctr">
              <a:defRPr sz="2475" b="1">
                <a:solidFill>
                  <a:srgbClr val="18324F"/>
                </a:solidFill>
                <a:latin typeface="Aptos"/>
                <a:ea typeface="Aptos"/>
                <a:cs typeface="Aptos"/>
              </a:defRPr>
            </a:lvl1pPr>
            <a:lvl2pPr algn="ctr">
              <a:defRPr sz="2475" b="1">
                <a:solidFill>
                  <a:srgbClr val="18324F"/>
                </a:solidFill>
                <a:latin typeface="Aptos"/>
                <a:ea typeface="Aptos"/>
                <a:cs typeface="Aptos"/>
              </a:defRPr>
            </a:lvl2pPr>
            <a:lvl3pPr algn="ctr">
              <a:defRPr sz="2475" b="1">
                <a:solidFill>
                  <a:srgbClr val="18324F"/>
                </a:solidFill>
                <a:latin typeface="Aptos"/>
                <a:ea typeface="Aptos"/>
                <a:cs typeface="Aptos"/>
              </a:defRPr>
            </a:lvl3pPr>
            <a:lvl4pPr algn="ctr">
              <a:defRPr sz="2475" b="1">
                <a:solidFill>
                  <a:srgbClr val="18324F"/>
                </a:solidFill>
                <a:latin typeface="Aptos"/>
                <a:ea typeface="Aptos"/>
                <a:cs typeface="Aptos"/>
              </a:defRPr>
            </a:lvl4pPr>
            <a:lvl5pPr algn="ctr">
              <a:defRPr sz="2475" b="1">
                <a:solidFill>
                  <a:srgbClr val="18324F"/>
                </a:solidFill>
                <a:latin typeface="Aptos"/>
                <a:ea typeface="Aptos"/>
                <a:cs typeface="Aptos"/>
              </a:defRPr>
            </a:lvl5pPr>
            <a:lvl6pPr algn="ctr">
              <a:defRPr sz="2475" b="1">
                <a:solidFill>
                  <a:srgbClr val="18324F"/>
                </a:solidFill>
                <a:latin typeface="Aptos"/>
                <a:ea typeface="Aptos"/>
                <a:cs typeface="Aptos"/>
              </a:defRPr>
            </a:lvl6pPr>
            <a:lvl7pPr algn="ctr">
              <a:defRPr sz="2475" b="1">
                <a:solidFill>
                  <a:srgbClr val="18324F"/>
                </a:solidFill>
                <a:latin typeface="Aptos"/>
                <a:ea typeface="Aptos"/>
                <a:cs typeface="Aptos"/>
              </a:defRPr>
            </a:lvl7pPr>
            <a:lvl8pPr algn="ctr">
              <a:defRPr sz="2475" b="1">
                <a:solidFill>
                  <a:srgbClr val="18324F"/>
                </a:solidFill>
                <a:latin typeface="Aptos"/>
                <a:ea typeface="Aptos"/>
                <a:cs typeface="Aptos"/>
              </a:defRPr>
            </a:lvl8pPr>
            <a:lvl9pPr algn="ctr">
              <a:defRPr sz="2475" b="1">
                <a:solidFill>
                  <a:srgbClr val="18324F"/>
                </a:solidFill>
                <a:latin typeface="Aptos"/>
                <a:ea typeface="Aptos"/>
                <a:cs typeface="Aptos"/>
              </a:defRPr>
            </a:lvl9pPr>
          </a:lstStyle>
          <a:p>
            <a:pPr algn="ctr">
              <a:defRPr sz="2475" b="1">
                <a:solidFill>
                  <a:srgbClr val="18324F"/>
                </a:solidFill>
                <a:latin typeface="Aptos"/>
                <a:ea typeface="Aptos"/>
                <a:cs typeface="Aptos"/>
              </a:defRPr>
            </a:pPr>
            <a:r>
              <a:rPr sz="2475" b="1" dirty="0">
                <a:solidFill>
                  <a:srgbClr val="18324F"/>
                </a:solidFill>
                <a:latin typeface="Aptos"/>
                <a:ea typeface="Aptos"/>
                <a:cs typeface="Aptos"/>
              </a:rPr>
              <a:t>Mid-training recording</a:t>
            </a:r>
          </a:p>
        </p:txBody>
      </p:sp>
      <p:sp>
        <p:nvSpPr>
          <p:cNvPr id="6" name="What to compare">
            <a:extLst>
              <a:ext uri="{FF2B5EF4-FFF2-40B4-BE49-F238E27FC236}">
                <a16:creationId xmlns:a16="http://schemas.microsoft.com/office/drawing/2014/main" id="{5C6E0518-63EA-4D42-B90C-13F6C17EA4F8}"/>
              </a:ext>
            </a:extLst>
          </p:cNvPr>
          <p:cNvSpPr>
            <a:spLocks noGrp="1"/>
          </p:cNvSpPr>
          <p:nvPr/>
        </p:nvSpPr>
        <p:spPr>
          <a:xfrm>
            <a:off x="8572500" y="1762125"/>
            <a:ext cx="3048000" cy="476250"/>
          </a:xfrm>
          <a:prstGeom prst="rect">
            <a:avLst/>
          </a:prstGeom>
          <a:noFill/>
          <a:ln w="0">
            <a:noFill/>
          </a:ln>
        </p:spPr>
        <p:txBody>
          <a:bodyPr lIns="0" tIns="0" rIns="0" bIns="0">
            <a:noAutofit/>
          </a:bodyPr>
          <a:lstStyle>
            <a:defPPr>
              <a:defRPr sz="2025" b="1">
                <a:solidFill>
                  <a:srgbClr val="087F8C"/>
                </a:solidFill>
                <a:latin typeface="Aptos"/>
                <a:ea typeface="Aptos"/>
                <a:cs typeface="Aptos"/>
              </a:defRPr>
            </a:defPPr>
            <a:lvl1pPr>
              <a:defRPr sz="2025" b="1">
                <a:solidFill>
                  <a:srgbClr val="087F8C"/>
                </a:solidFill>
                <a:latin typeface="Aptos"/>
                <a:ea typeface="Aptos"/>
                <a:cs typeface="Aptos"/>
              </a:defRPr>
            </a:lvl1pPr>
            <a:lvl2pPr>
              <a:defRPr sz="2025" b="1">
                <a:solidFill>
                  <a:srgbClr val="087F8C"/>
                </a:solidFill>
                <a:latin typeface="Aptos"/>
                <a:ea typeface="Aptos"/>
                <a:cs typeface="Aptos"/>
              </a:defRPr>
            </a:lvl2pPr>
            <a:lvl3pPr>
              <a:defRPr sz="2025" b="1">
                <a:solidFill>
                  <a:srgbClr val="087F8C"/>
                </a:solidFill>
                <a:latin typeface="Aptos"/>
                <a:ea typeface="Aptos"/>
                <a:cs typeface="Aptos"/>
              </a:defRPr>
            </a:lvl3pPr>
            <a:lvl4pPr>
              <a:defRPr sz="2025" b="1">
                <a:solidFill>
                  <a:srgbClr val="087F8C"/>
                </a:solidFill>
                <a:latin typeface="Aptos"/>
                <a:ea typeface="Aptos"/>
                <a:cs typeface="Aptos"/>
              </a:defRPr>
            </a:lvl4pPr>
            <a:lvl5pPr>
              <a:defRPr sz="2025" b="1">
                <a:solidFill>
                  <a:srgbClr val="087F8C"/>
                </a:solidFill>
                <a:latin typeface="Aptos"/>
                <a:ea typeface="Aptos"/>
                <a:cs typeface="Aptos"/>
              </a:defRPr>
            </a:lvl5pPr>
            <a:lvl6pPr>
              <a:defRPr sz="2025" b="1">
                <a:solidFill>
                  <a:srgbClr val="087F8C"/>
                </a:solidFill>
                <a:latin typeface="Aptos"/>
                <a:ea typeface="Aptos"/>
                <a:cs typeface="Aptos"/>
              </a:defRPr>
            </a:lvl6pPr>
            <a:lvl7pPr>
              <a:defRPr sz="2025" b="1">
                <a:solidFill>
                  <a:srgbClr val="087F8C"/>
                </a:solidFill>
                <a:latin typeface="Aptos"/>
                <a:ea typeface="Aptos"/>
                <a:cs typeface="Aptos"/>
              </a:defRPr>
            </a:lvl7pPr>
            <a:lvl8pPr>
              <a:defRPr sz="2025" b="1">
                <a:solidFill>
                  <a:srgbClr val="087F8C"/>
                </a:solidFill>
                <a:latin typeface="Aptos"/>
                <a:ea typeface="Aptos"/>
                <a:cs typeface="Aptos"/>
              </a:defRPr>
            </a:lvl8pPr>
            <a:lvl9pPr>
              <a:defRPr sz="2025" b="1">
                <a:solidFill>
                  <a:srgbClr val="087F8C"/>
                </a:solidFill>
                <a:latin typeface="Aptos"/>
                <a:ea typeface="Aptos"/>
                <a:cs typeface="Aptos"/>
              </a:defRPr>
            </a:lvl9pPr>
          </a:lstStyle>
          <a:p>
            <a:pPr>
              <a:defRPr sz="2025" b="1">
                <a:solidFill>
                  <a:srgbClr val="087F8C"/>
                </a:solidFill>
                <a:latin typeface="Aptos"/>
                <a:ea typeface="Aptos"/>
                <a:cs typeface="Aptos"/>
              </a:defRPr>
            </a:pPr>
            <a:r>
              <a:rPr sz="2025" b="1">
                <a:solidFill>
                  <a:srgbClr val="087F8C"/>
                </a:solidFill>
                <a:latin typeface="Aptos"/>
                <a:ea typeface="Aptos"/>
                <a:cs typeface="Aptos"/>
              </a:rPr>
              <a:t>What to compare</a:t>
            </a:r>
          </a:p>
        </p:txBody>
      </p:sp>
      <p:sp>
        <p:nvSpPr>
          <p:cNvPr id="7" name="Ball returns&#10;Paddle positioning&#10;Consistency across">
            <a:extLst>
              <a:ext uri="{FF2B5EF4-FFF2-40B4-BE49-F238E27FC236}">
                <a16:creationId xmlns:a16="http://schemas.microsoft.com/office/drawing/2014/main" id="{85D9E50E-3DDA-4A48-985E-C1DDB200E6C9}"/>
              </a:ext>
            </a:extLst>
          </p:cNvPr>
          <p:cNvSpPr>
            <a:spLocks noGrp="1"/>
          </p:cNvSpPr>
          <p:nvPr/>
        </p:nvSpPr>
        <p:spPr>
          <a:xfrm>
            <a:off x="8572500" y="2543175"/>
            <a:ext cx="2952750" cy="1666875"/>
          </a:xfrm>
          <a:prstGeom prst="rect">
            <a:avLst/>
          </a:prstGeom>
          <a:noFill/>
          <a:ln w="0">
            <a:noFill/>
          </a:ln>
        </p:spPr>
        <p:txBody>
          <a:bodyPr lIns="0" tIns="0" rIns="0" bIns="0">
            <a:noAutofit/>
          </a:bodyPr>
          <a:lstStyle>
            <a:defPPr>
              <a:defRPr sz="1950" b="0">
                <a:solidFill>
                  <a:srgbClr val="37475B"/>
                </a:solidFill>
                <a:latin typeface="Aptos"/>
                <a:ea typeface="Aptos"/>
                <a:cs typeface="Aptos"/>
              </a:defRPr>
            </a:defPPr>
            <a:lvl1pPr>
              <a:defRPr sz="1950" b="0">
                <a:solidFill>
                  <a:srgbClr val="37475B"/>
                </a:solidFill>
                <a:latin typeface="Aptos"/>
                <a:ea typeface="Aptos"/>
                <a:cs typeface="Aptos"/>
              </a:defRPr>
            </a:lvl1pPr>
            <a:lvl2pPr>
              <a:defRPr sz="1950" b="0">
                <a:solidFill>
                  <a:srgbClr val="37475B"/>
                </a:solidFill>
                <a:latin typeface="Aptos"/>
                <a:ea typeface="Aptos"/>
                <a:cs typeface="Aptos"/>
              </a:defRPr>
            </a:lvl2pPr>
            <a:lvl3pPr>
              <a:defRPr sz="1950" b="0">
                <a:solidFill>
                  <a:srgbClr val="37475B"/>
                </a:solidFill>
                <a:latin typeface="Aptos"/>
                <a:ea typeface="Aptos"/>
                <a:cs typeface="Aptos"/>
              </a:defRPr>
            </a:lvl3pPr>
            <a:lvl4pPr>
              <a:defRPr sz="1950" b="0">
                <a:solidFill>
                  <a:srgbClr val="37475B"/>
                </a:solidFill>
                <a:latin typeface="Aptos"/>
                <a:ea typeface="Aptos"/>
                <a:cs typeface="Aptos"/>
              </a:defRPr>
            </a:lvl4pPr>
            <a:lvl5pPr>
              <a:defRPr sz="1950" b="0">
                <a:solidFill>
                  <a:srgbClr val="37475B"/>
                </a:solidFill>
                <a:latin typeface="Aptos"/>
                <a:ea typeface="Aptos"/>
                <a:cs typeface="Aptos"/>
              </a:defRPr>
            </a:lvl5pPr>
            <a:lvl6pPr>
              <a:defRPr sz="1950" b="0">
                <a:solidFill>
                  <a:srgbClr val="37475B"/>
                </a:solidFill>
                <a:latin typeface="Aptos"/>
                <a:ea typeface="Aptos"/>
                <a:cs typeface="Aptos"/>
              </a:defRPr>
            </a:lvl6pPr>
            <a:lvl7pPr>
              <a:defRPr sz="1950" b="0">
                <a:solidFill>
                  <a:srgbClr val="37475B"/>
                </a:solidFill>
                <a:latin typeface="Aptos"/>
                <a:ea typeface="Aptos"/>
                <a:cs typeface="Aptos"/>
              </a:defRPr>
            </a:lvl7pPr>
            <a:lvl8pPr>
              <a:defRPr sz="1950" b="0">
                <a:solidFill>
                  <a:srgbClr val="37475B"/>
                </a:solidFill>
                <a:latin typeface="Aptos"/>
                <a:ea typeface="Aptos"/>
                <a:cs typeface="Aptos"/>
              </a:defRPr>
            </a:lvl8pPr>
            <a:lvl9pPr>
              <a:defRPr sz="1950" b="0">
                <a:solidFill>
                  <a:srgbClr val="37475B"/>
                </a:solidFill>
                <a:latin typeface="Aptos"/>
                <a:ea typeface="Aptos"/>
                <a:cs typeface="Aptos"/>
              </a:defRPr>
            </a:lvl9pPr>
          </a:lstStyle>
          <a:p>
            <a:pPr>
              <a:defRPr sz="1950" b="0">
                <a:solidFill>
                  <a:srgbClr val="37475B"/>
                </a:solidFill>
                <a:latin typeface="Aptos"/>
                <a:ea typeface="Aptos"/>
                <a:cs typeface="Aptos"/>
              </a:defRPr>
            </a:pPr>
            <a:r>
              <a:rPr sz="1950" b="0">
                <a:solidFill>
                  <a:srgbClr val="37475B"/>
                </a:solidFill>
                <a:latin typeface="Aptos"/>
                <a:ea typeface="Aptos"/>
                <a:cs typeface="Aptos"/>
              </a:rPr>
              <a:t>Ball returns</a:t>
            </a:r>
          </a:p>
          <a:p>
            <a:pPr>
              <a:defRPr sz="1950" b="0">
                <a:solidFill>
                  <a:srgbClr val="37475B"/>
                </a:solidFill>
                <a:latin typeface="Aptos"/>
                <a:ea typeface="Aptos"/>
                <a:cs typeface="Aptos"/>
              </a:defRPr>
            </a:pPr>
            <a:r>
              <a:rPr sz="1950" b="0">
                <a:solidFill>
                  <a:srgbClr val="37475B"/>
                </a:solidFill>
                <a:latin typeface="Aptos"/>
                <a:ea typeface="Aptos"/>
                <a:cs typeface="Aptos"/>
              </a:rPr>
              <a:t>Paddle positioning</a:t>
            </a:r>
          </a:p>
          <a:p>
            <a:pPr>
              <a:defRPr sz="1950" b="0">
                <a:solidFill>
                  <a:srgbClr val="37475B"/>
                </a:solidFill>
                <a:latin typeface="Aptos"/>
                <a:ea typeface="Aptos"/>
                <a:cs typeface="Aptos"/>
              </a:defRPr>
            </a:pPr>
            <a:r>
              <a:rPr sz="1950" b="0">
                <a:solidFill>
                  <a:srgbClr val="37475B"/>
                </a:solidFill>
                <a:latin typeface="Aptos"/>
                <a:ea typeface="Aptos"/>
                <a:cs typeface="Aptos"/>
              </a:rPr>
              <a:t>Consistency across lives</a:t>
            </a:r>
          </a:p>
        </p:txBody>
      </p:sp>
      <p:sp>
        <p:nvSpPr>
          <p:cNvPr id="8" name="Checkpoint: ______&#10;Exploration ε: ______">
            <a:extLst>
              <a:ext uri="{FF2B5EF4-FFF2-40B4-BE49-F238E27FC236}">
                <a16:creationId xmlns:a16="http://schemas.microsoft.com/office/drawing/2014/main" id="{A4BE8FCC-685C-4178-951F-91882D530F94}"/>
              </a:ext>
            </a:extLst>
          </p:cNvPr>
          <p:cNvSpPr>
            <a:spLocks noGrp="1"/>
          </p:cNvSpPr>
          <p:nvPr/>
        </p:nvSpPr>
        <p:spPr>
          <a:xfrm>
            <a:off x="8572500" y="4610100"/>
            <a:ext cx="2952750" cy="857250"/>
          </a:xfrm>
          <a:prstGeom prst="rect">
            <a:avLst/>
          </a:prstGeom>
          <a:noFill/>
          <a:ln w="0">
            <a:noFill/>
          </a:ln>
        </p:spPr>
        <p:txBody>
          <a:bodyPr lIns="0" tIns="0" rIns="0" bIns="0">
            <a:noAutofit/>
          </a:bodyPr>
          <a:lstStyle>
            <a:defPPr>
              <a:defRPr sz="1725" b="0">
                <a:solidFill>
                  <a:srgbClr val="37475B"/>
                </a:solidFill>
                <a:latin typeface="Aptos"/>
                <a:ea typeface="Aptos"/>
                <a:cs typeface="Aptos"/>
              </a:defRPr>
            </a:defPPr>
            <a:lvl1pPr>
              <a:defRPr sz="1725" b="0">
                <a:solidFill>
                  <a:srgbClr val="37475B"/>
                </a:solidFill>
                <a:latin typeface="Aptos"/>
                <a:ea typeface="Aptos"/>
                <a:cs typeface="Aptos"/>
              </a:defRPr>
            </a:lvl1pPr>
            <a:lvl2pPr>
              <a:defRPr sz="1725" b="0">
                <a:solidFill>
                  <a:srgbClr val="37475B"/>
                </a:solidFill>
                <a:latin typeface="Aptos"/>
                <a:ea typeface="Aptos"/>
                <a:cs typeface="Aptos"/>
              </a:defRPr>
            </a:lvl2pPr>
            <a:lvl3pPr>
              <a:defRPr sz="1725" b="0">
                <a:solidFill>
                  <a:srgbClr val="37475B"/>
                </a:solidFill>
                <a:latin typeface="Aptos"/>
                <a:ea typeface="Aptos"/>
                <a:cs typeface="Aptos"/>
              </a:defRPr>
            </a:lvl3pPr>
            <a:lvl4pPr>
              <a:defRPr sz="1725" b="0">
                <a:solidFill>
                  <a:srgbClr val="37475B"/>
                </a:solidFill>
                <a:latin typeface="Aptos"/>
                <a:ea typeface="Aptos"/>
                <a:cs typeface="Aptos"/>
              </a:defRPr>
            </a:lvl4pPr>
            <a:lvl5pPr>
              <a:defRPr sz="1725" b="0">
                <a:solidFill>
                  <a:srgbClr val="37475B"/>
                </a:solidFill>
                <a:latin typeface="Aptos"/>
                <a:ea typeface="Aptos"/>
                <a:cs typeface="Aptos"/>
              </a:defRPr>
            </a:lvl5pPr>
            <a:lvl6pPr>
              <a:defRPr sz="1725" b="0">
                <a:solidFill>
                  <a:srgbClr val="37475B"/>
                </a:solidFill>
                <a:latin typeface="Aptos"/>
                <a:ea typeface="Aptos"/>
                <a:cs typeface="Aptos"/>
              </a:defRPr>
            </a:lvl6pPr>
            <a:lvl7pPr>
              <a:defRPr sz="1725" b="0">
                <a:solidFill>
                  <a:srgbClr val="37475B"/>
                </a:solidFill>
                <a:latin typeface="Aptos"/>
                <a:ea typeface="Aptos"/>
                <a:cs typeface="Aptos"/>
              </a:defRPr>
            </a:lvl7pPr>
            <a:lvl8pPr>
              <a:defRPr sz="1725" b="0">
                <a:solidFill>
                  <a:srgbClr val="37475B"/>
                </a:solidFill>
                <a:latin typeface="Aptos"/>
                <a:ea typeface="Aptos"/>
                <a:cs typeface="Aptos"/>
              </a:defRPr>
            </a:lvl8pPr>
            <a:lvl9pPr>
              <a:defRPr sz="1725" b="0">
                <a:solidFill>
                  <a:srgbClr val="37475B"/>
                </a:solidFill>
                <a:latin typeface="Aptos"/>
                <a:ea typeface="Aptos"/>
                <a:cs typeface="Aptos"/>
              </a:defRPr>
            </a:lvl9pPr>
          </a:lstStyle>
          <a:p>
            <a:pPr>
              <a:defRPr sz="1725" b="0">
                <a:solidFill>
                  <a:srgbClr val="37475B"/>
                </a:solidFill>
                <a:latin typeface="Aptos"/>
                <a:ea typeface="Aptos"/>
                <a:cs typeface="Aptos"/>
              </a:defRPr>
            </a:pPr>
            <a:r>
              <a:rPr sz="1725" b="0" dirty="0">
                <a:solidFill>
                  <a:srgbClr val="37475B"/>
                </a:solidFill>
                <a:latin typeface="Aptos"/>
                <a:ea typeface="Aptos"/>
                <a:cs typeface="Aptos"/>
              </a:rPr>
              <a:t>Checkpoint: </a:t>
            </a:r>
            <a:r>
              <a:rPr lang="en-IN" sz="1725" b="0" dirty="0">
                <a:solidFill>
                  <a:srgbClr val="37475B"/>
                </a:solidFill>
                <a:latin typeface="Aptos"/>
                <a:ea typeface="Aptos"/>
                <a:cs typeface="Aptos"/>
              </a:rPr>
              <a:t>10000	Iterations</a:t>
            </a:r>
            <a:endParaRPr sz="1725" b="0" dirty="0">
              <a:solidFill>
                <a:srgbClr val="37475B"/>
              </a:solidFill>
              <a:latin typeface="Aptos"/>
              <a:ea typeface="Aptos"/>
              <a:cs typeface="Aptos"/>
            </a:endParaRPr>
          </a:p>
          <a:p>
            <a:pPr>
              <a:defRPr sz="1725" b="0">
                <a:solidFill>
                  <a:srgbClr val="37475B"/>
                </a:solidFill>
                <a:latin typeface="Aptos"/>
                <a:ea typeface="Aptos"/>
                <a:cs typeface="Aptos"/>
              </a:defRPr>
            </a:pPr>
            <a:r>
              <a:rPr sz="1725" b="0" dirty="0">
                <a:solidFill>
                  <a:srgbClr val="37475B"/>
                </a:solidFill>
                <a:latin typeface="Aptos"/>
                <a:ea typeface="Aptos"/>
                <a:cs typeface="Aptos"/>
              </a:rPr>
              <a:t>Exploration ε: </a:t>
            </a:r>
            <a:r>
              <a:rPr lang="en-IN" sz="1725" b="0" dirty="0">
                <a:solidFill>
                  <a:srgbClr val="37475B"/>
                </a:solidFill>
                <a:latin typeface="Aptos"/>
                <a:ea typeface="Aptos"/>
                <a:cs typeface="Aptos"/>
              </a:rPr>
              <a:t>0.1</a:t>
            </a:r>
            <a:endParaRPr sz="1725" b="0" dirty="0">
              <a:solidFill>
                <a:srgbClr val="37475B"/>
              </a:solidFill>
              <a:latin typeface="Aptos"/>
              <a:ea typeface="Aptos"/>
              <a:cs typeface="Aptos"/>
            </a:endParaRPr>
          </a:p>
        </p:txBody>
      </p:sp>
      <p:sp>
        <p:nvSpPr>
          <p:cNvPr id="99" name="02">
            <a:extLst>
              <a:ext uri="{FF2B5EF4-FFF2-40B4-BE49-F238E27FC236}">
                <a16:creationId xmlns:a16="http://schemas.microsoft.com/office/drawing/2014/main" id="{B2631390-1741-401C-A5F0-08397810B31E}"/>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13</a:t>
            </a:r>
          </a:p>
        </p:txBody>
      </p:sp>
      <p:pic>
        <p:nvPicPr>
          <p:cNvPr id="11" name="Picture 10">
            <a:extLst>
              <a:ext uri="{FF2B5EF4-FFF2-40B4-BE49-F238E27FC236}">
                <a16:creationId xmlns:a16="http://schemas.microsoft.com/office/drawing/2014/main" id="{0CEAC240-EE7A-9188-A40D-01755E3CFE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2197" y="2366693"/>
            <a:ext cx="2362405" cy="3100657"/>
          </a:xfrm>
          <a:prstGeom prst="rect">
            <a:avLst/>
          </a:prstGeom>
        </p:spPr>
      </p:pic>
    </p:spTree>
    <p:extLst>
      <p:ext uri="{BB962C8B-B14F-4D97-AF65-F5344CB8AC3E}">
        <p14:creationId xmlns:p14="http://schemas.microsoft.com/office/powerpoint/2010/main" val="251065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Final evaluation remains limited">
            <a:extLst>
              <a:ext uri="{FF2B5EF4-FFF2-40B4-BE49-F238E27FC236}">
                <a16:creationId xmlns:a16="http://schemas.microsoft.com/office/drawing/2014/main" id="{8EB240C1-013C-480A-9946-BCF2D08695E6}"/>
              </a:ext>
            </a:extLst>
          </p:cNvPr>
          <p:cNvSpPr>
            <a:spLocks noGrp="1"/>
          </p:cNvSpPr>
          <p:nvPr/>
        </p:nvSpPr>
        <p:spPr>
          <a:xfrm>
            <a:off x="609600" y="438150"/>
            <a:ext cx="10763250" cy="666750"/>
          </a:xfrm>
          <a:prstGeom prst="rect">
            <a:avLst/>
          </a:prstGeom>
          <a:noFill/>
          <a:ln w="0">
            <a:noFill/>
          </a:ln>
        </p:spPr>
        <p:txBody>
          <a:bodyPr lIns="0" tIns="0" rIns="0" bIns="0" anchor="t">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Final evaluation remains limited</a:t>
            </a:r>
          </a:p>
        </p:txBody>
      </p:sp>
      <p:sp>
        <p:nvSpPr>
          <p:cNvPr id="3" name="12">
            <a:extLst>
              <a:ext uri="{FF2B5EF4-FFF2-40B4-BE49-F238E27FC236}">
                <a16:creationId xmlns:a16="http://schemas.microsoft.com/office/drawing/2014/main" id="{4DA238FF-EF62-438B-9519-43A3D5EDEC13}"/>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14</a:t>
            </a:r>
          </a:p>
        </p:txBody>
      </p:sp>
      <p:sp>
        <p:nvSpPr>
          <p:cNvPr id="4" name="1.21 ± 1.20">
            <a:extLst>
              <a:ext uri="{FF2B5EF4-FFF2-40B4-BE49-F238E27FC236}">
                <a16:creationId xmlns:a16="http://schemas.microsoft.com/office/drawing/2014/main" id="{C417281C-4989-461A-8540-AD2AC7CBFB54}"/>
              </a:ext>
            </a:extLst>
          </p:cNvPr>
          <p:cNvSpPr>
            <a:spLocks noGrp="1"/>
          </p:cNvSpPr>
          <p:nvPr/>
        </p:nvSpPr>
        <p:spPr>
          <a:xfrm>
            <a:off x="619125" y="1476375"/>
            <a:ext cx="5715000" cy="857250"/>
          </a:xfrm>
          <a:prstGeom prst="rect">
            <a:avLst/>
          </a:prstGeom>
          <a:noFill/>
          <a:ln w="0">
            <a:noFill/>
          </a:ln>
        </p:spPr>
        <p:txBody>
          <a:bodyPr lIns="0" tIns="0" rIns="0" bIns="0" anchor="t">
            <a:noAutofit/>
          </a:bodyPr>
          <a:lstStyle>
            <a:defPPr>
              <a:defRPr sz="4950" b="1">
                <a:solidFill>
                  <a:srgbClr val="087F8C"/>
                </a:solidFill>
                <a:latin typeface="Aptos"/>
                <a:ea typeface="Aptos"/>
                <a:cs typeface="Aptos"/>
              </a:defRPr>
            </a:defPPr>
            <a:lvl1pPr>
              <a:defRPr sz="4950" b="1">
                <a:solidFill>
                  <a:srgbClr val="087F8C"/>
                </a:solidFill>
                <a:latin typeface="Aptos"/>
                <a:ea typeface="Aptos"/>
                <a:cs typeface="Aptos"/>
              </a:defRPr>
            </a:lvl1pPr>
            <a:lvl2pPr>
              <a:defRPr sz="4950" b="1">
                <a:solidFill>
                  <a:srgbClr val="087F8C"/>
                </a:solidFill>
                <a:latin typeface="Aptos"/>
                <a:ea typeface="Aptos"/>
                <a:cs typeface="Aptos"/>
              </a:defRPr>
            </a:lvl2pPr>
            <a:lvl3pPr>
              <a:defRPr sz="4950" b="1">
                <a:solidFill>
                  <a:srgbClr val="087F8C"/>
                </a:solidFill>
                <a:latin typeface="Aptos"/>
                <a:ea typeface="Aptos"/>
                <a:cs typeface="Aptos"/>
              </a:defRPr>
            </a:lvl3pPr>
            <a:lvl4pPr>
              <a:defRPr sz="4950" b="1">
                <a:solidFill>
                  <a:srgbClr val="087F8C"/>
                </a:solidFill>
                <a:latin typeface="Aptos"/>
                <a:ea typeface="Aptos"/>
                <a:cs typeface="Aptos"/>
              </a:defRPr>
            </a:lvl4pPr>
            <a:lvl5pPr>
              <a:defRPr sz="4950" b="1">
                <a:solidFill>
                  <a:srgbClr val="087F8C"/>
                </a:solidFill>
                <a:latin typeface="Aptos"/>
                <a:ea typeface="Aptos"/>
                <a:cs typeface="Aptos"/>
              </a:defRPr>
            </a:lvl5pPr>
            <a:lvl6pPr>
              <a:defRPr sz="4950" b="1">
                <a:solidFill>
                  <a:srgbClr val="087F8C"/>
                </a:solidFill>
                <a:latin typeface="Aptos"/>
                <a:ea typeface="Aptos"/>
                <a:cs typeface="Aptos"/>
              </a:defRPr>
            </a:lvl6pPr>
            <a:lvl7pPr>
              <a:defRPr sz="4950" b="1">
                <a:solidFill>
                  <a:srgbClr val="087F8C"/>
                </a:solidFill>
                <a:latin typeface="Aptos"/>
                <a:ea typeface="Aptos"/>
                <a:cs typeface="Aptos"/>
              </a:defRPr>
            </a:lvl7pPr>
            <a:lvl8pPr>
              <a:defRPr sz="4950" b="1">
                <a:solidFill>
                  <a:srgbClr val="087F8C"/>
                </a:solidFill>
                <a:latin typeface="Aptos"/>
                <a:ea typeface="Aptos"/>
                <a:cs typeface="Aptos"/>
              </a:defRPr>
            </a:lvl8pPr>
            <a:lvl9pPr>
              <a:defRPr sz="4950" b="1">
                <a:solidFill>
                  <a:srgbClr val="087F8C"/>
                </a:solidFill>
                <a:latin typeface="Aptos"/>
                <a:ea typeface="Aptos"/>
                <a:cs typeface="Aptos"/>
              </a:defRPr>
            </a:lvl9pPr>
          </a:lstStyle>
          <a:p>
            <a:pPr>
              <a:defRPr sz="4950" b="1">
                <a:solidFill>
                  <a:srgbClr val="087F8C"/>
                </a:solidFill>
                <a:latin typeface="Aptos"/>
                <a:ea typeface="Aptos"/>
                <a:cs typeface="Aptos"/>
              </a:defRPr>
            </a:pPr>
            <a:r>
              <a:rPr sz="4950" b="1">
                <a:solidFill>
                  <a:srgbClr val="087F8C"/>
                </a:solidFill>
                <a:latin typeface="Aptos"/>
                <a:ea typeface="Aptos"/>
                <a:cs typeface="Aptos"/>
              </a:rPr>
              <a:t>1.21 ± 1.20</a:t>
            </a:r>
          </a:p>
        </p:txBody>
      </p:sp>
      <p:sp>
        <p:nvSpPr>
          <p:cNvPr id="5" name="points per completed game">
            <a:extLst>
              <a:ext uri="{FF2B5EF4-FFF2-40B4-BE49-F238E27FC236}">
                <a16:creationId xmlns:a16="http://schemas.microsoft.com/office/drawing/2014/main" id="{EC81771C-33BD-468A-B532-00BDD20C2CF1}"/>
              </a:ext>
            </a:extLst>
          </p:cNvPr>
          <p:cNvSpPr>
            <a:spLocks noGrp="1"/>
          </p:cNvSpPr>
          <p:nvPr/>
        </p:nvSpPr>
        <p:spPr>
          <a:xfrm>
            <a:off x="638175" y="2457450"/>
            <a:ext cx="6000750" cy="428625"/>
          </a:xfrm>
          <a:prstGeom prst="rect">
            <a:avLst/>
          </a:prstGeom>
          <a:noFill/>
          <a:ln w="0">
            <a:noFill/>
          </a:ln>
        </p:spPr>
        <p:txBody>
          <a:bodyPr lIns="0" tIns="0" rIns="0" bIns="0" anchor="t">
            <a:noAutofit/>
          </a:bodyPr>
          <a:lstStyle>
            <a:defPPr>
              <a:defRPr sz="2175" b="0">
                <a:solidFill>
                  <a:srgbClr val="37475B"/>
                </a:solidFill>
                <a:latin typeface="Aptos"/>
                <a:ea typeface="Aptos"/>
                <a:cs typeface="Aptos"/>
              </a:defRPr>
            </a:defPPr>
            <a:lvl1pPr>
              <a:defRPr sz="2175" b="0">
                <a:solidFill>
                  <a:srgbClr val="37475B"/>
                </a:solidFill>
                <a:latin typeface="Aptos"/>
                <a:ea typeface="Aptos"/>
                <a:cs typeface="Aptos"/>
              </a:defRPr>
            </a:lvl1pPr>
            <a:lvl2pPr>
              <a:defRPr sz="2175" b="0">
                <a:solidFill>
                  <a:srgbClr val="37475B"/>
                </a:solidFill>
                <a:latin typeface="Aptos"/>
                <a:ea typeface="Aptos"/>
                <a:cs typeface="Aptos"/>
              </a:defRPr>
            </a:lvl2pPr>
            <a:lvl3pPr>
              <a:defRPr sz="2175" b="0">
                <a:solidFill>
                  <a:srgbClr val="37475B"/>
                </a:solidFill>
                <a:latin typeface="Aptos"/>
                <a:ea typeface="Aptos"/>
                <a:cs typeface="Aptos"/>
              </a:defRPr>
            </a:lvl3pPr>
            <a:lvl4pPr>
              <a:defRPr sz="2175" b="0">
                <a:solidFill>
                  <a:srgbClr val="37475B"/>
                </a:solidFill>
                <a:latin typeface="Aptos"/>
                <a:ea typeface="Aptos"/>
                <a:cs typeface="Aptos"/>
              </a:defRPr>
            </a:lvl4pPr>
            <a:lvl5pPr>
              <a:defRPr sz="2175" b="0">
                <a:solidFill>
                  <a:srgbClr val="37475B"/>
                </a:solidFill>
                <a:latin typeface="Aptos"/>
                <a:ea typeface="Aptos"/>
                <a:cs typeface="Aptos"/>
              </a:defRPr>
            </a:lvl5pPr>
            <a:lvl6pPr>
              <a:defRPr sz="2175" b="0">
                <a:solidFill>
                  <a:srgbClr val="37475B"/>
                </a:solidFill>
                <a:latin typeface="Aptos"/>
                <a:ea typeface="Aptos"/>
                <a:cs typeface="Aptos"/>
              </a:defRPr>
            </a:lvl6pPr>
            <a:lvl7pPr>
              <a:defRPr sz="2175" b="0">
                <a:solidFill>
                  <a:srgbClr val="37475B"/>
                </a:solidFill>
                <a:latin typeface="Aptos"/>
                <a:ea typeface="Aptos"/>
                <a:cs typeface="Aptos"/>
              </a:defRPr>
            </a:lvl7pPr>
            <a:lvl8pPr>
              <a:defRPr sz="2175" b="0">
                <a:solidFill>
                  <a:srgbClr val="37475B"/>
                </a:solidFill>
                <a:latin typeface="Aptos"/>
                <a:ea typeface="Aptos"/>
                <a:cs typeface="Aptos"/>
              </a:defRPr>
            </a:lvl8pPr>
            <a:lvl9pPr>
              <a:defRPr sz="2175" b="0">
                <a:solidFill>
                  <a:srgbClr val="37475B"/>
                </a:solidFill>
                <a:latin typeface="Aptos"/>
                <a:ea typeface="Aptos"/>
                <a:cs typeface="Aptos"/>
              </a:defRPr>
            </a:lvl9pPr>
          </a:lstStyle>
          <a:p>
            <a:pPr>
              <a:defRPr sz="2175" b="0">
                <a:solidFill>
                  <a:srgbClr val="37475B"/>
                </a:solidFill>
                <a:latin typeface="Aptos"/>
                <a:ea typeface="Aptos"/>
                <a:cs typeface="Aptos"/>
              </a:defRPr>
            </a:pPr>
            <a:r>
              <a:rPr sz="2175" b="0">
                <a:solidFill>
                  <a:srgbClr val="37475B"/>
                </a:solidFill>
                <a:latin typeface="Aptos"/>
                <a:ea typeface="Aptos"/>
                <a:cs typeface="Aptos"/>
              </a:rPr>
              <a:t>points per completed game</a:t>
            </a:r>
          </a:p>
        </p:txBody>
      </p:sp>
      <p:sp>
        <p:nvSpPr>
          <p:cNvPr id="6" name="63 games">
            <a:extLst>
              <a:ext uri="{FF2B5EF4-FFF2-40B4-BE49-F238E27FC236}">
                <a16:creationId xmlns:a16="http://schemas.microsoft.com/office/drawing/2014/main" id="{CA749A4C-123A-4961-844A-35051AFF0A75}"/>
              </a:ext>
            </a:extLst>
          </p:cNvPr>
          <p:cNvSpPr>
            <a:spLocks noGrp="1"/>
          </p:cNvSpPr>
          <p:nvPr/>
        </p:nvSpPr>
        <p:spPr>
          <a:xfrm>
            <a:off x="619125" y="3429000"/>
            <a:ext cx="5619750" cy="666750"/>
          </a:xfrm>
          <a:prstGeom prst="rect">
            <a:avLst/>
          </a:prstGeom>
          <a:noFill/>
          <a:ln w="0">
            <a:noFill/>
          </a:ln>
        </p:spPr>
        <p:txBody>
          <a:bodyPr lIns="0" tIns="0" rIns="0" bIns="0" anchor="t">
            <a:noAutofit/>
          </a:bodyPr>
          <a:lstStyle>
            <a:defPPr>
              <a:defRPr sz="3525" b="1">
                <a:solidFill>
                  <a:srgbClr val="18324F"/>
                </a:solidFill>
                <a:latin typeface="Aptos"/>
                <a:ea typeface="Aptos"/>
                <a:cs typeface="Aptos"/>
              </a:defRPr>
            </a:defPPr>
            <a:lvl1pPr>
              <a:defRPr sz="3525" b="1">
                <a:solidFill>
                  <a:srgbClr val="18324F"/>
                </a:solidFill>
                <a:latin typeface="Aptos"/>
                <a:ea typeface="Aptos"/>
                <a:cs typeface="Aptos"/>
              </a:defRPr>
            </a:lvl1pPr>
            <a:lvl2pPr>
              <a:defRPr sz="3525" b="1">
                <a:solidFill>
                  <a:srgbClr val="18324F"/>
                </a:solidFill>
                <a:latin typeface="Aptos"/>
                <a:ea typeface="Aptos"/>
                <a:cs typeface="Aptos"/>
              </a:defRPr>
            </a:lvl2pPr>
            <a:lvl3pPr>
              <a:defRPr sz="3525" b="1">
                <a:solidFill>
                  <a:srgbClr val="18324F"/>
                </a:solidFill>
                <a:latin typeface="Aptos"/>
                <a:ea typeface="Aptos"/>
                <a:cs typeface="Aptos"/>
              </a:defRPr>
            </a:lvl3pPr>
            <a:lvl4pPr>
              <a:defRPr sz="3525" b="1">
                <a:solidFill>
                  <a:srgbClr val="18324F"/>
                </a:solidFill>
                <a:latin typeface="Aptos"/>
                <a:ea typeface="Aptos"/>
                <a:cs typeface="Aptos"/>
              </a:defRPr>
            </a:lvl4pPr>
            <a:lvl5pPr>
              <a:defRPr sz="3525" b="1">
                <a:solidFill>
                  <a:srgbClr val="18324F"/>
                </a:solidFill>
                <a:latin typeface="Aptos"/>
                <a:ea typeface="Aptos"/>
                <a:cs typeface="Aptos"/>
              </a:defRPr>
            </a:lvl5pPr>
            <a:lvl6pPr>
              <a:defRPr sz="3525" b="1">
                <a:solidFill>
                  <a:srgbClr val="18324F"/>
                </a:solidFill>
                <a:latin typeface="Aptos"/>
                <a:ea typeface="Aptos"/>
                <a:cs typeface="Aptos"/>
              </a:defRPr>
            </a:lvl6pPr>
            <a:lvl7pPr>
              <a:defRPr sz="3525" b="1">
                <a:solidFill>
                  <a:srgbClr val="18324F"/>
                </a:solidFill>
                <a:latin typeface="Aptos"/>
                <a:ea typeface="Aptos"/>
                <a:cs typeface="Aptos"/>
              </a:defRPr>
            </a:lvl7pPr>
            <a:lvl8pPr>
              <a:defRPr sz="3525" b="1">
                <a:solidFill>
                  <a:srgbClr val="18324F"/>
                </a:solidFill>
                <a:latin typeface="Aptos"/>
                <a:ea typeface="Aptos"/>
                <a:cs typeface="Aptos"/>
              </a:defRPr>
            </a:lvl8pPr>
            <a:lvl9pPr>
              <a:defRPr sz="3525" b="1">
                <a:solidFill>
                  <a:srgbClr val="18324F"/>
                </a:solidFill>
                <a:latin typeface="Aptos"/>
                <a:ea typeface="Aptos"/>
                <a:cs typeface="Aptos"/>
              </a:defRPr>
            </a:lvl9pPr>
          </a:lstStyle>
          <a:p>
            <a:pPr>
              <a:defRPr sz="3525" b="1">
                <a:solidFill>
                  <a:srgbClr val="18324F"/>
                </a:solidFill>
                <a:latin typeface="Aptos"/>
                <a:ea typeface="Aptos"/>
                <a:cs typeface="Aptos"/>
              </a:defRPr>
            </a:pPr>
            <a:r>
              <a:rPr sz="3525" b="1">
                <a:solidFill>
                  <a:srgbClr val="18324F"/>
                </a:solidFill>
                <a:latin typeface="Aptos"/>
                <a:ea typeface="Aptos"/>
                <a:cs typeface="Aptos"/>
              </a:rPr>
              <a:t>63 games</a:t>
            </a:r>
          </a:p>
        </p:txBody>
      </p:sp>
      <p:sp>
        <p:nvSpPr>
          <p:cNvPr id="7" name="10,000 decisions, ε = 0.05&#10;Best completed-game score: 5">
            <a:extLst>
              <a:ext uri="{FF2B5EF4-FFF2-40B4-BE49-F238E27FC236}">
                <a16:creationId xmlns:a16="http://schemas.microsoft.com/office/drawing/2014/main" id="{91BBF621-AF7F-423C-ADBE-5C4A24D794E3}"/>
              </a:ext>
            </a:extLst>
          </p:cNvPr>
          <p:cNvSpPr>
            <a:spLocks noGrp="1"/>
          </p:cNvSpPr>
          <p:nvPr/>
        </p:nvSpPr>
        <p:spPr>
          <a:xfrm>
            <a:off x="638175" y="4276725"/>
            <a:ext cx="5524500" cy="952500"/>
          </a:xfrm>
          <a:prstGeom prst="rect">
            <a:avLst/>
          </a:prstGeom>
          <a:noFill/>
          <a:ln w="0">
            <a:noFill/>
          </a:ln>
        </p:spPr>
        <p:txBody>
          <a:bodyPr lIns="0" tIns="0" rIns="0" bIns="0" anchor="t">
            <a:noAutofit/>
          </a:bodyPr>
          <a:lstStyle>
            <a:defPPr>
              <a:defRPr sz="2100" b="0">
                <a:solidFill>
                  <a:srgbClr val="37475B"/>
                </a:solidFill>
                <a:latin typeface="Aptos"/>
                <a:ea typeface="Aptos"/>
                <a:cs typeface="Aptos"/>
              </a:defRPr>
            </a:defPPr>
            <a:lvl1pPr>
              <a:defRPr sz="2100" b="0">
                <a:solidFill>
                  <a:srgbClr val="37475B"/>
                </a:solidFill>
                <a:latin typeface="Aptos"/>
                <a:ea typeface="Aptos"/>
                <a:cs typeface="Aptos"/>
              </a:defRPr>
            </a:lvl1pPr>
            <a:lvl2pPr>
              <a:defRPr sz="2100" b="0">
                <a:solidFill>
                  <a:srgbClr val="37475B"/>
                </a:solidFill>
                <a:latin typeface="Aptos"/>
                <a:ea typeface="Aptos"/>
                <a:cs typeface="Aptos"/>
              </a:defRPr>
            </a:lvl2pPr>
            <a:lvl3pPr>
              <a:defRPr sz="2100" b="0">
                <a:solidFill>
                  <a:srgbClr val="37475B"/>
                </a:solidFill>
                <a:latin typeface="Aptos"/>
                <a:ea typeface="Aptos"/>
                <a:cs typeface="Aptos"/>
              </a:defRPr>
            </a:lvl3pPr>
            <a:lvl4pPr>
              <a:defRPr sz="2100" b="0">
                <a:solidFill>
                  <a:srgbClr val="37475B"/>
                </a:solidFill>
                <a:latin typeface="Aptos"/>
                <a:ea typeface="Aptos"/>
                <a:cs typeface="Aptos"/>
              </a:defRPr>
            </a:lvl4pPr>
            <a:lvl5pPr>
              <a:defRPr sz="2100" b="0">
                <a:solidFill>
                  <a:srgbClr val="37475B"/>
                </a:solidFill>
                <a:latin typeface="Aptos"/>
                <a:ea typeface="Aptos"/>
                <a:cs typeface="Aptos"/>
              </a:defRPr>
            </a:lvl5pPr>
            <a:lvl6pPr>
              <a:defRPr sz="2100" b="0">
                <a:solidFill>
                  <a:srgbClr val="37475B"/>
                </a:solidFill>
                <a:latin typeface="Aptos"/>
                <a:ea typeface="Aptos"/>
                <a:cs typeface="Aptos"/>
              </a:defRPr>
            </a:lvl6pPr>
            <a:lvl7pPr>
              <a:defRPr sz="2100" b="0">
                <a:solidFill>
                  <a:srgbClr val="37475B"/>
                </a:solidFill>
                <a:latin typeface="Aptos"/>
                <a:ea typeface="Aptos"/>
                <a:cs typeface="Aptos"/>
              </a:defRPr>
            </a:lvl7pPr>
            <a:lvl8pPr>
              <a:defRPr sz="2100" b="0">
                <a:solidFill>
                  <a:srgbClr val="37475B"/>
                </a:solidFill>
                <a:latin typeface="Aptos"/>
                <a:ea typeface="Aptos"/>
                <a:cs typeface="Aptos"/>
              </a:defRPr>
            </a:lvl8pPr>
            <a:lvl9pPr>
              <a:defRPr sz="2100" b="0">
                <a:solidFill>
                  <a:srgbClr val="37475B"/>
                </a:solidFill>
                <a:latin typeface="Aptos"/>
                <a:ea typeface="Aptos"/>
                <a:cs typeface="Aptos"/>
              </a:defRPr>
            </a:lvl9pPr>
          </a:lstStyle>
          <a:p>
            <a:pPr>
              <a:defRPr sz="2100" b="0">
                <a:solidFill>
                  <a:srgbClr val="37475B"/>
                </a:solidFill>
                <a:latin typeface="Aptos"/>
                <a:ea typeface="Aptos"/>
                <a:cs typeface="Aptos"/>
              </a:defRPr>
            </a:pPr>
            <a:r>
              <a:rPr sz="2100" b="0">
                <a:solidFill>
                  <a:srgbClr val="37475B"/>
                </a:solidFill>
                <a:latin typeface="Aptos"/>
                <a:ea typeface="Aptos"/>
                <a:cs typeface="Aptos"/>
              </a:rPr>
              <a:t>10,000 decisions, ε = 0.05</a:t>
            </a:r>
          </a:p>
          <a:p>
            <a:pPr>
              <a:defRPr sz="2100" b="0">
                <a:solidFill>
                  <a:srgbClr val="37475B"/>
                </a:solidFill>
                <a:latin typeface="Aptos"/>
                <a:ea typeface="Aptos"/>
                <a:cs typeface="Aptos"/>
              </a:defRPr>
            </a:pPr>
            <a:r>
              <a:rPr sz="2100" b="0">
                <a:solidFill>
                  <a:srgbClr val="37475B"/>
                </a:solidFill>
                <a:latin typeface="Aptos"/>
                <a:ea typeface="Aptos"/>
                <a:cs typeface="Aptos"/>
              </a:rPr>
              <a:t>Best completed-game score: 5</a:t>
            </a:r>
          </a:p>
        </p:txBody>
      </p:sp>
      <p:graphicFrame>
        <p:nvGraphicFramePr>
          <p:cNvPr id="8" name="Chart">
            <a:extLst>
              <a:ext uri="{FF2B5EF4-FFF2-40B4-BE49-F238E27FC236}">
                <a16:creationId xmlns:a16="http://schemas.microsoft.com/office/drawing/2014/main" id="{9889DEA2-2C9A-4384-8CBB-AD7EB5EECD01}"/>
              </a:ext>
            </a:extLst>
          </p:cNvPr>
          <p:cNvGraphicFramePr/>
          <p:nvPr/>
        </p:nvGraphicFramePr>
        <p:xfrm>
          <a:off x="6477000" y="1666875"/>
          <a:ext cx="5095875" cy="3857625"/>
        </p:xfrm>
        <a:graphic>
          <a:graphicData uri="http://schemas.openxmlformats.org/drawingml/2006/chart">
            <c:chart xmlns:c="http://schemas.openxmlformats.org/drawingml/2006/chart" xmlns:r="http://schemas.openxmlformats.org/officeDocument/2006/relationships" r:id="rId3"/>
          </a:graphicData>
        </a:graphic>
      </p:graphicFrame>
      <p:sp>
        <p:nvSpPr>
          <p:cNvPr id="9" name="Single saved run. No matched random-policy baseline or ">
            <a:extLst>
              <a:ext uri="{FF2B5EF4-FFF2-40B4-BE49-F238E27FC236}">
                <a16:creationId xmlns:a16="http://schemas.microsoft.com/office/drawing/2014/main" id="{6CB2F71A-A928-4BB0-9A72-0B42965F7323}"/>
              </a:ext>
            </a:extLst>
          </p:cNvPr>
          <p:cNvSpPr>
            <a:spLocks noGrp="1"/>
          </p:cNvSpPr>
          <p:nvPr/>
        </p:nvSpPr>
        <p:spPr>
          <a:xfrm>
            <a:off x="619125" y="5934075"/>
            <a:ext cx="10763250" cy="361950"/>
          </a:xfrm>
          <a:prstGeom prst="rect">
            <a:avLst/>
          </a:prstGeom>
          <a:noFill/>
          <a:ln w="0">
            <a:noFill/>
          </a:ln>
        </p:spPr>
        <p:txBody>
          <a:bodyPr lIns="0" tIns="0" rIns="0" bIns="0" anchor="t">
            <a:noAutofit/>
          </a:bodyPr>
          <a:lstStyle>
            <a:defPPr>
              <a:defRPr sz="1725" b="0">
                <a:solidFill>
                  <a:srgbClr val="9A5B13"/>
                </a:solidFill>
                <a:latin typeface="Aptos"/>
                <a:ea typeface="Aptos"/>
                <a:cs typeface="Aptos"/>
              </a:defRPr>
            </a:defPPr>
            <a:lvl1pPr>
              <a:defRPr sz="1725" b="0">
                <a:solidFill>
                  <a:srgbClr val="9A5B13"/>
                </a:solidFill>
                <a:latin typeface="Aptos"/>
                <a:ea typeface="Aptos"/>
                <a:cs typeface="Aptos"/>
              </a:defRPr>
            </a:lvl1pPr>
            <a:lvl2pPr>
              <a:defRPr sz="1725" b="0">
                <a:solidFill>
                  <a:srgbClr val="9A5B13"/>
                </a:solidFill>
                <a:latin typeface="Aptos"/>
                <a:ea typeface="Aptos"/>
                <a:cs typeface="Aptos"/>
              </a:defRPr>
            </a:lvl2pPr>
            <a:lvl3pPr>
              <a:defRPr sz="1725" b="0">
                <a:solidFill>
                  <a:srgbClr val="9A5B13"/>
                </a:solidFill>
                <a:latin typeface="Aptos"/>
                <a:ea typeface="Aptos"/>
                <a:cs typeface="Aptos"/>
              </a:defRPr>
            </a:lvl3pPr>
            <a:lvl4pPr>
              <a:defRPr sz="1725" b="0">
                <a:solidFill>
                  <a:srgbClr val="9A5B13"/>
                </a:solidFill>
                <a:latin typeface="Aptos"/>
                <a:ea typeface="Aptos"/>
                <a:cs typeface="Aptos"/>
              </a:defRPr>
            </a:lvl4pPr>
            <a:lvl5pPr>
              <a:defRPr sz="1725" b="0">
                <a:solidFill>
                  <a:srgbClr val="9A5B13"/>
                </a:solidFill>
                <a:latin typeface="Aptos"/>
                <a:ea typeface="Aptos"/>
                <a:cs typeface="Aptos"/>
              </a:defRPr>
            </a:lvl5pPr>
            <a:lvl6pPr>
              <a:defRPr sz="1725" b="0">
                <a:solidFill>
                  <a:srgbClr val="9A5B13"/>
                </a:solidFill>
                <a:latin typeface="Aptos"/>
                <a:ea typeface="Aptos"/>
                <a:cs typeface="Aptos"/>
              </a:defRPr>
            </a:lvl6pPr>
            <a:lvl7pPr>
              <a:defRPr sz="1725" b="0">
                <a:solidFill>
                  <a:srgbClr val="9A5B13"/>
                </a:solidFill>
                <a:latin typeface="Aptos"/>
                <a:ea typeface="Aptos"/>
                <a:cs typeface="Aptos"/>
              </a:defRPr>
            </a:lvl7pPr>
            <a:lvl8pPr>
              <a:defRPr sz="1725" b="0">
                <a:solidFill>
                  <a:srgbClr val="9A5B13"/>
                </a:solidFill>
                <a:latin typeface="Aptos"/>
                <a:ea typeface="Aptos"/>
                <a:cs typeface="Aptos"/>
              </a:defRPr>
            </a:lvl8pPr>
            <a:lvl9pPr>
              <a:defRPr sz="1725" b="0">
                <a:solidFill>
                  <a:srgbClr val="9A5B13"/>
                </a:solidFill>
                <a:latin typeface="Aptos"/>
                <a:ea typeface="Aptos"/>
                <a:cs typeface="Aptos"/>
              </a:defRPr>
            </a:lvl9pPr>
          </a:lstStyle>
          <a:p>
            <a:pPr>
              <a:defRPr sz="1725" b="0">
                <a:solidFill>
                  <a:srgbClr val="9A5B13"/>
                </a:solidFill>
                <a:latin typeface="Aptos"/>
                <a:ea typeface="Aptos"/>
                <a:cs typeface="Aptos"/>
              </a:defRPr>
            </a:pPr>
            <a:r>
              <a:rPr sz="1725" b="0">
                <a:solidFill>
                  <a:srgbClr val="9A5B13"/>
                </a:solidFill>
                <a:latin typeface="Aptos"/>
                <a:ea typeface="Aptos"/>
                <a:cs typeface="Aptos"/>
              </a:rPr>
              <a:t>Single saved run. No matched random-policy baseline or repeated-seed study.</a:t>
            </a:r>
          </a:p>
        </p:txBody>
      </p:sp>
    </p:spTree>
    <p:extLst>
      <p:ext uri="{BB962C8B-B14F-4D97-AF65-F5344CB8AC3E}">
        <p14:creationId xmlns:p14="http://schemas.microsoft.com/office/powerpoint/2010/main" val="505529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orded gameplay">
            <a:extLst>
              <a:ext uri="{FF2B5EF4-FFF2-40B4-BE49-F238E27FC236}">
                <a16:creationId xmlns:a16="http://schemas.microsoft.com/office/drawing/2014/main" id="{C68AF09A-46C6-43C6-8949-E6EFE77F616D}"/>
              </a:ext>
            </a:extLst>
          </p:cNvPr>
          <p:cNvSpPr>
            <a:spLocks noGrp="1"/>
          </p:cNvSpPr>
          <p:nvPr/>
        </p:nvSpPr>
        <p:spPr>
          <a:xfrm>
            <a:off x="609600" y="438150"/>
            <a:ext cx="10763250" cy="666750"/>
          </a:xfrm>
          <a:prstGeom prst="rect">
            <a:avLst/>
          </a:prstGeom>
          <a:noFill/>
          <a:ln w="0">
            <a:noFill/>
          </a:ln>
        </p:spPr>
        <p:txBody>
          <a:bodyPr lIns="0" tIns="0" rIns="0" bIns="0" anchor="t">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Gameplay at the end of training</a:t>
            </a:r>
          </a:p>
        </p:txBody>
      </p:sp>
      <p:sp>
        <p:nvSpPr>
          <p:cNvPr id="3" name="13">
            <a:extLst>
              <a:ext uri="{FF2B5EF4-FFF2-40B4-BE49-F238E27FC236}">
                <a16:creationId xmlns:a16="http://schemas.microsoft.com/office/drawing/2014/main" id="{1697A43D-B7DD-480D-820C-37DB8BE290CB}"/>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15</a:t>
            </a:r>
          </a:p>
        </p:txBody>
      </p:sp>
      <p:sp>
        <p:nvSpPr>
          <p:cNvPr id="5" name="68-second demonstration">
            <a:extLst>
              <a:ext uri="{FF2B5EF4-FFF2-40B4-BE49-F238E27FC236}">
                <a16:creationId xmlns:a16="http://schemas.microsoft.com/office/drawing/2014/main" id="{54CF3B94-4BBD-4508-8BBC-C7FF80DDAE1F}"/>
              </a:ext>
            </a:extLst>
          </p:cNvPr>
          <p:cNvSpPr>
            <a:spLocks noGrp="1"/>
          </p:cNvSpPr>
          <p:nvPr/>
        </p:nvSpPr>
        <p:spPr>
          <a:xfrm>
            <a:off x="5238750" y="1762125"/>
            <a:ext cx="6191250" cy="523875"/>
          </a:xfrm>
          <a:prstGeom prst="rect">
            <a:avLst/>
          </a:prstGeom>
          <a:noFill/>
          <a:ln w="0">
            <a:noFill/>
          </a:ln>
        </p:spPr>
        <p:txBody>
          <a:bodyPr lIns="0" tIns="0" rIns="0" bIns="0" anchor="t">
            <a:noAutofit/>
          </a:bodyPr>
          <a:lstStyle>
            <a:defPPr>
              <a:defRPr sz="2925" b="1">
                <a:solidFill>
                  <a:srgbClr val="087F8C"/>
                </a:solidFill>
                <a:latin typeface="Aptos"/>
                <a:ea typeface="Aptos"/>
                <a:cs typeface="Aptos"/>
              </a:defRPr>
            </a:defPPr>
            <a:lvl1pPr>
              <a:defRPr sz="2925" b="1">
                <a:solidFill>
                  <a:srgbClr val="087F8C"/>
                </a:solidFill>
                <a:latin typeface="Aptos"/>
                <a:ea typeface="Aptos"/>
                <a:cs typeface="Aptos"/>
              </a:defRPr>
            </a:lvl1pPr>
            <a:lvl2pPr>
              <a:defRPr sz="2925" b="1">
                <a:solidFill>
                  <a:srgbClr val="087F8C"/>
                </a:solidFill>
                <a:latin typeface="Aptos"/>
                <a:ea typeface="Aptos"/>
                <a:cs typeface="Aptos"/>
              </a:defRPr>
            </a:lvl2pPr>
            <a:lvl3pPr>
              <a:defRPr sz="2925" b="1">
                <a:solidFill>
                  <a:srgbClr val="087F8C"/>
                </a:solidFill>
                <a:latin typeface="Aptos"/>
                <a:ea typeface="Aptos"/>
                <a:cs typeface="Aptos"/>
              </a:defRPr>
            </a:lvl3pPr>
            <a:lvl4pPr>
              <a:defRPr sz="2925" b="1">
                <a:solidFill>
                  <a:srgbClr val="087F8C"/>
                </a:solidFill>
                <a:latin typeface="Aptos"/>
                <a:ea typeface="Aptos"/>
                <a:cs typeface="Aptos"/>
              </a:defRPr>
            </a:lvl4pPr>
            <a:lvl5pPr>
              <a:defRPr sz="2925" b="1">
                <a:solidFill>
                  <a:srgbClr val="087F8C"/>
                </a:solidFill>
                <a:latin typeface="Aptos"/>
                <a:ea typeface="Aptos"/>
                <a:cs typeface="Aptos"/>
              </a:defRPr>
            </a:lvl5pPr>
            <a:lvl6pPr>
              <a:defRPr sz="2925" b="1">
                <a:solidFill>
                  <a:srgbClr val="087F8C"/>
                </a:solidFill>
                <a:latin typeface="Aptos"/>
                <a:ea typeface="Aptos"/>
                <a:cs typeface="Aptos"/>
              </a:defRPr>
            </a:lvl6pPr>
            <a:lvl7pPr>
              <a:defRPr sz="2925" b="1">
                <a:solidFill>
                  <a:srgbClr val="087F8C"/>
                </a:solidFill>
                <a:latin typeface="Aptos"/>
                <a:ea typeface="Aptos"/>
                <a:cs typeface="Aptos"/>
              </a:defRPr>
            </a:lvl7pPr>
            <a:lvl8pPr>
              <a:defRPr sz="2925" b="1">
                <a:solidFill>
                  <a:srgbClr val="087F8C"/>
                </a:solidFill>
                <a:latin typeface="Aptos"/>
                <a:ea typeface="Aptos"/>
                <a:cs typeface="Aptos"/>
              </a:defRPr>
            </a:lvl8pPr>
            <a:lvl9pPr>
              <a:defRPr sz="2925" b="1">
                <a:solidFill>
                  <a:srgbClr val="087F8C"/>
                </a:solidFill>
                <a:latin typeface="Aptos"/>
                <a:ea typeface="Aptos"/>
                <a:cs typeface="Aptos"/>
              </a:defRPr>
            </a:lvl9pPr>
          </a:lstStyle>
          <a:p>
            <a:pPr>
              <a:defRPr sz="2925" b="1">
                <a:solidFill>
                  <a:srgbClr val="087F8C"/>
                </a:solidFill>
                <a:latin typeface="Aptos"/>
                <a:ea typeface="Aptos"/>
                <a:cs typeface="Aptos"/>
              </a:defRPr>
            </a:pPr>
            <a:r>
              <a:rPr sz="2925" b="1">
                <a:solidFill>
                  <a:srgbClr val="087F8C"/>
                </a:solidFill>
                <a:latin typeface="Aptos"/>
                <a:ea typeface="Aptos"/>
                <a:cs typeface="Aptos"/>
              </a:rPr>
              <a:t>Final trained model</a:t>
            </a:r>
          </a:p>
        </p:txBody>
      </p:sp>
      <p:sp>
        <p:nvSpPr>
          <p:cNvPr id="6" name="Six consecutive recorded episodes&#10;from the final model">
            <a:extLst>
              <a:ext uri="{FF2B5EF4-FFF2-40B4-BE49-F238E27FC236}">
                <a16:creationId xmlns:a16="http://schemas.microsoft.com/office/drawing/2014/main" id="{8AEBBCB3-A010-4E0D-950C-94FA522DF09B}"/>
              </a:ext>
            </a:extLst>
          </p:cNvPr>
          <p:cNvSpPr>
            <a:spLocks noGrp="1"/>
          </p:cNvSpPr>
          <p:nvPr/>
        </p:nvSpPr>
        <p:spPr>
          <a:xfrm>
            <a:off x="5257800" y="2686050"/>
            <a:ext cx="5810250" cy="952500"/>
          </a:xfrm>
          <a:prstGeom prst="rect">
            <a:avLst/>
          </a:prstGeom>
          <a:noFill/>
          <a:ln w="0">
            <a:noFill/>
          </a:ln>
        </p:spPr>
        <p:txBody>
          <a:bodyPr lIns="0" tIns="0" rIns="0" bIns="0" anchor="t">
            <a:noAutofit/>
          </a:bodyPr>
          <a:lstStyle>
            <a:defPPr>
              <a:defRPr sz="2400" b="0">
                <a:solidFill>
                  <a:srgbClr val="18324F"/>
                </a:solidFill>
                <a:latin typeface="Aptos"/>
                <a:ea typeface="Aptos"/>
                <a:cs typeface="Aptos"/>
              </a:defRPr>
            </a:defPPr>
            <a:lvl1pPr>
              <a:defRPr sz="2400" b="0">
                <a:solidFill>
                  <a:srgbClr val="18324F"/>
                </a:solidFill>
                <a:latin typeface="Aptos"/>
                <a:ea typeface="Aptos"/>
                <a:cs typeface="Aptos"/>
              </a:defRPr>
            </a:lvl1pPr>
            <a:lvl2pPr>
              <a:defRPr sz="2400" b="0">
                <a:solidFill>
                  <a:srgbClr val="18324F"/>
                </a:solidFill>
                <a:latin typeface="Aptos"/>
                <a:ea typeface="Aptos"/>
                <a:cs typeface="Aptos"/>
              </a:defRPr>
            </a:lvl2pPr>
            <a:lvl3pPr>
              <a:defRPr sz="2400" b="0">
                <a:solidFill>
                  <a:srgbClr val="18324F"/>
                </a:solidFill>
                <a:latin typeface="Aptos"/>
                <a:ea typeface="Aptos"/>
                <a:cs typeface="Aptos"/>
              </a:defRPr>
            </a:lvl3pPr>
            <a:lvl4pPr>
              <a:defRPr sz="2400" b="0">
                <a:solidFill>
                  <a:srgbClr val="18324F"/>
                </a:solidFill>
                <a:latin typeface="Aptos"/>
                <a:ea typeface="Aptos"/>
                <a:cs typeface="Aptos"/>
              </a:defRPr>
            </a:lvl4pPr>
            <a:lvl5pPr>
              <a:defRPr sz="2400" b="0">
                <a:solidFill>
                  <a:srgbClr val="18324F"/>
                </a:solidFill>
                <a:latin typeface="Aptos"/>
                <a:ea typeface="Aptos"/>
                <a:cs typeface="Aptos"/>
              </a:defRPr>
            </a:lvl5pPr>
            <a:lvl6pPr>
              <a:defRPr sz="2400" b="0">
                <a:solidFill>
                  <a:srgbClr val="18324F"/>
                </a:solidFill>
                <a:latin typeface="Aptos"/>
                <a:ea typeface="Aptos"/>
                <a:cs typeface="Aptos"/>
              </a:defRPr>
            </a:lvl6pPr>
            <a:lvl7pPr>
              <a:defRPr sz="2400" b="0">
                <a:solidFill>
                  <a:srgbClr val="18324F"/>
                </a:solidFill>
                <a:latin typeface="Aptos"/>
                <a:ea typeface="Aptos"/>
                <a:cs typeface="Aptos"/>
              </a:defRPr>
            </a:lvl7pPr>
            <a:lvl8pPr>
              <a:defRPr sz="2400" b="0">
                <a:solidFill>
                  <a:srgbClr val="18324F"/>
                </a:solidFill>
                <a:latin typeface="Aptos"/>
                <a:ea typeface="Aptos"/>
                <a:cs typeface="Aptos"/>
              </a:defRPr>
            </a:lvl8pPr>
            <a:lvl9pPr>
              <a:defRPr sz="2400" b="0">
                <a:solidFill>
                  <a:srgbClr val="18324F"/>
                </a:solidFill>
                <a:latin typeface="Aptos"/>
                <a:ea typeface="Aptos"/>
                <a:cs typeface="Aptos"/>
              </a:defRPr>
            </a:lvl9pPr>
          </a:lstStyle>
          <a:p>
            <a:pPr>
              <a:defRPr sz="2400" b="0">
                <a:solidFill>
                  <a:srgbClr val="18324F"/>
                </a:solidFill>
                <a:latin typeface="Aptos"/>
                <a:ea typeface="Aptos"/>
                <a:cs typeface="Aptos"/>
              </a:defRPr>
            </a:pPr>
            <a:r>
              <a:rPr sz="2400" b="0" dirty="0">
                <a:solidFill>
                  <a:srgbClr val="18324F"/>
                </a:solidFill>
                <a:latin typeface="Aptos"/>
                <a:ea typeface="Aptos"/>
                <a:cs typeface="Aptos"/>
              </a:rPr>
              <a:t>Six consecutive recorded episodes</a:t>
            </a:r>
          </a:p>
          <a:p>
            <a:pPr>
              <a:defRPr sz="2400" b="0">
                <a:solidFill>
                  <a:srgbClr val="18324F"/>
                </a:solidFill>
                <a:latin typeface="Aptos"/>
                <a:ea typeface="Aptos"/>
                <a:cs typeface="Aptos"/>
              </a:defRPr>
            </a:pPr>
            <a:r>
              <a:rPr sz="2400" b="0" dirty="0">
                <a:solidFill>
                  <a:srgbClr val="18324F"/>
                </a:solidFill>
                <a:latin typeface="Aptos"/>
                <a:ea typeface="Aptos"/>
                <a:cs typeface="Aptos"/>
              </a:rPr>
              <a:t>after </a:t>
            </a:r>
            <a:r>
              <a:rPr lang="en-IN" sz="2400" b="0" dirty="0">
                <a:solidFill>
                  <a:srgbClr val="18324F"/>
                </a:solidFill>
                <a:latin typeface="Aptos"/>
                <a:ea typeface="Aptos"/>
                <a:cs typeface="Aptos"/>
              </a:rPr>
              <a:t>10M </a:t>
            </a:r>
            <a:r>
              <a:rPr sz="2400" b="0" dirty="0">
                <a:solidFill>
                  <a:srgbClr val="18324F"/>
                </a:solidFill>
                <a:latin typeface="Aptos"/>
                <a:ea typeface="Aptos"/>
                <a:cs typeface="Aptos"/>
              </a:rPr>
              <a:t>training decisions</a:t>
            </a:r>
          </a:p>
        </p:txBody>
      </p:sp>
      <p:sp>
        <p:nvSpPr>
          <p:cNvPr id="7" name="Watch the serve, paddle movement,&#10;brick hits and missed">
            <a:extLst>
              <a:ext uri="{FF2B5EF4-FFF2-40B4-BE49-F238E27FC236}">
                <a16:creationId xmlns:a16="http://schemas.microsoft.com/office/drawing/2014/main" id="{00EA0D30-F519-4916-B1D8-02C9B47CBDCF}"/>
              </a:ext>
            </a:extLst>
          </p:cNvPr>
          <p:cNvSpPr>
            <a:spLocks noGrp="1"/>
          </p:cNvSpPr>
          <p:nvPr/>
        </p:nvSpPr>
        <p:spPr>
          <a:xfrm>
            <a:off x="5257800" y="4000500"/>
            <a:ext cx="5810250" cy="952500"/>
          </a:xfrm>
          <a:prstGeom prst="rect">
            <a:avLst/>
          </a:prstGeom>
          <a:noFill/>
          <a:ln w="0">
            <a:noFill/>
          </a:ln>
        </p:spPr>
        <p:txBody>
          <a:bodyPr lIns="0" tIns="0" rIns="0" bIns="0" anchor="t">
            <a:noAutofit/>
          </a:bodyPr>
          <a:lstStyle>
            <a:defPPr>
              <a:defRPr sz="2175" b="0">
                <a:solidFill>
                  <a:srgbClr val="37475B"/>
                </a:solidFill>
                <a:latin typeface="Aptos"/>
                <a:ea typeface="Aptos"/>
                <a:cs typeface="Aptos"/>
              </a:defRPr>
            </a:defPPr>
            <a:lvl1pPr>
              <a:defRPr sz="2175" b="0">
                <a:solidFill>
                  <a:srgbClr val="37475B"/>
                </a:solidFill>
                <a:latin typeface="Aptos"/>
                <a:ea typeface="Aptos"/>
                <a:cs typeface="Aptos"/>
              </a:defRPr>
            </a:lvl1pPr>
            <a:lvl2pPr>
              <a:defRPr sz="2175" b="0">
                <a:solidFill>
                  <a:srgbClr val="37475B"/>
                </a:solidFill>
                <a:latin typeface="Aptos"/>
                <a:ea typeface="Aptos"/>
                <a:cs typeface="Aptos"/>
              </a:defRPr>
            </a:lvl2pPr>
            <a:lvl3pPr>
              <a:defRPr sz="2175" b="0">
                <a:solidFill>
                  <a:srgbClr val="37475B"/>
                </a:solidFill>
                <a:latin typeface="Aptos"/>
                <a:ea typeface="Aptos"/>
                <a:cs typeface="Aptos"/>
              </a:defRPr>
            </a:lvl3pPr>
            <a:lvl4pPr>
              <a:defRPr sz="2175" b="0">
                <a:solidFill>
                  <a:srgbClr val="37475B"/>
                </a:solidFill>
                <a:latin typeface="Aptos"/>
                <a:ea typeface="Aptos"/>
                <a:cs typeface="Aptos"/>
              </a:defRPr>
            </a:lvl4pPr>
            <a:lvl5pPr>
              <a:defRPr sz="2175" b="0">
                <a:solidFill>
                  <a:srgbClr val="37475B"/>
                </a:solidFill>
                <a:latin typeface="Aptos"/>
                <a:ea typeface="Aptos"/>
                <a:cs typeface="Aptos"/>
              </a:defRPr>
            </a:lvl5pPr>
            <a:lvl6pPr>
              <a:defRPr sz="2175" b="0">
                <a:solidFill>
                  <a:srgbClr val="37475B"/>
                </a:solidFill>
                <a:latin typeface="Aptos"/>
                <a:ea typeface="Aptos"/>
                <a:cs typeface="Aptos"/>
              </a:defRPr>
            </a:lvl6pPr>
            <a:lvl7pPr>
              <a:defRPr sz="2175" b="0">
                <a:solidFill>
                  <a:srgbClr val="37475B"/>
                </a:solidFill>
                <a:latin typeface="Aptos"/>
                <a:ea typeface="Aptos"/>
                <a:cs typeface="Aptos"/>
              </a:defRPr>
            </a:lvl7pPr>
            <a:lvl8pPr>
              <a:defRPr sz="2175" b="0">
                <a:solidFill>
                  <a:srgbClr val="37475B"/>
                </a:solidFill>
                <a:latin typeface="Aptos"/>
                <a:ea typeface="Aptos"/>
                <a:cs typeface="Aptos"/>
              </a:defRPr>
            </a:lvl8pPr>
            <a:lvl9pPr>
              <a:defRPr sz="2175" b="0">
                <a:solidFill>
                  <a:srgbClr val="37475B"/>
                </a:solidFill>
                <a:latin typeface="Aptos"/>
                <a:ea typeface="Aptos"/>
                <a:cs typeface="Aptos"/>
              </a:defRPr>
            </a:lvl9pPr>
          </a:lstStyle>
          <a:p>
            <a:pPr>
              <a:defRPr sz="2175" b="0">
                <a:solidFill>
                  <a:srgbClr val="37475B"/>
                </a:solidFill>
                <a:latin typeface="Aptos"/>
                <a:ea typeface="Aptos"/>
                <a:cs typeface="Aptos"/>
              </a:defRPr>
            </a:pPr>
            <a:r>
              <a:rPr sz="2175" b="0" dirty="0">
                <a:solidFill>
                  <a:srgbClr val="37475B"/>
                </a:solidFill>
                <a:latin typeface="Aptos"/>
                <a:ea typeface="Aptos"/>
                <a:cs typeface="Aptos"/>
              </a:rPr>
              <a:t>Watch the serve, paddle movement,</a:t>
            </a:r>
          </a:p>
          <a:p>
            <a:pPr>
              <a:defRPr sz="2175" b="0">
                <a:solidFill>
                  <a:srgbClr val="37475B"/>
                </a:solidFill>
                <a:latin typeface="Aptos"/>
                <a:ea typeface="Aptos"/>
                <a:cs typeface="Aptos"/>
              </a:defRPr>
            </a:pPr>
            <a:r>
              <a:rPr sz="2175" b="0" dirty="0">
                <a:solidFill>
                  <a:srgbClr val="37475B"/>
                </a:solidFill>
                <a:latin typeface="Aptos"/>
                <a:ea typeface="Aptos"/>
                <a:cs typeface="Aptos"/>
              </a:rPr>
              <a:t>brick hits and missed returns.</a:t>
            </a:r>
          </a:p>
        </p:txBody>
      </p:sp>
      <p:pic>
        <p:nvPicPr>
          <p:cNvPr id="10" name="Picture 9">
            <a:extLst>
              <a:ext uri="{FF2B5EF4-FFF2-40B4-BE49-F238E27FC236}">
                <a16:creationId xmlns:a16="http://schemas.microsoft.com/office/drawing/2014/main" id="{3E2FD557-5675-D215-5A9A-B4FE34CB30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314450"/>
            <a:ext cx="3810000" cy="5000625"/>
          </a:xfrm>
          <a:prstGeom prst="rect">
            <a:avLst/>
          </a:prstGeom>
        </p:spPr>
      </p:pic>
    </p:spTree>
    <p:extLst>
      <p:ext uri="{BB962C8B-B14F-4D97-AF65-F5344CB8AC3E}">
        <p14:creationId xmlns:p14="http://schemas.microsoft.com/office/powerpoint/2010/main" val="735822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Limitations and next experiments">
            <a:extLst>
              <a:ext uri="{FF2B5EF4-FFF2-40B4-BE49-F238E27FC236}">
                <a16:creationId xmlns:a16="http://schemas.microsoft.com/office/drawing/2014/main" id="{E4629FCA-BD2F-4573-A4A8-2C7482BE0B37}"/>
              </a:ext>
            </a:extLst>
          </p:cNvPr>
          <p:cNvSpPr>
            <a:spLocks noGrp="1"/>
          </p:cNvSpPr>
          <p:nvPr/>
        </p:nvSpPr>
        <p:spPr>
          <a:xfrm>
            <a:off x="609600" y="438150"/>
            <a:ext cx="10763250" cy="666750"/>
          </a:xfrm>
          <a:prstGeom prst="rect">
            <a:avLst/>
          </a:prstGeom>
          <a:noFill/>
          <a:ln w="0">
            <a:noFill/>
          </a:ln>
        </p:spPr>
        <p:txBody>
          <a:bodyPr lIns="0" tIns="0" rIns="0" bIns="0" anchor="t">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Limitations and next experiments</a:t>
            </a:r>
          </a:p>
        </p:txBody>
      </p:sp>
      <p:sp>
        <p:nvSpPr>
          <p:cNvPr id="3" name="14">
            <a:extLst>
              <a:ext uri="{FF2B5EF4-FFF2-40B4-BE49-F238E27FC236}">
                <a16:creationId xmlns:a16="http://schemas.microsoft.com/office/drawing/2014/main" id="{096E3C9E-7416-48DD-8F59-7B227D6F44AC}"/>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16</a:t>
            </a:r>
          </a:p>
        </p:txBody>
      </p:sp>
      <p:sp>
        <p:nvSpPr>
          <p:cNvPr id="4" name="Limited experience and rapid exploration decay">
            <a:extLst>
              <a:ext uri="{FF2B5EF4-FFF2-40B4-BE49-F238E27FC236}">
                <a16:creationId xmlns:a16="http://schemas.microsoft.com/office/drawing/2014/main" id="{B9ADE39E-6EC7-4A3A-86F0-68B7C4C7903E}"/>
              </a:ext>
            </a:extLst>
          </p:cNvPr>
          <p:cNvSpPr>
            <a:spLocks noGrp="1"/>
          </p:cNvSpPr>
          <p:nvPr/>
        </p:nvSpPr>
        <p:spPr>
          <a:xfrm>
            <a:off x="609600" y="1504950"/>
            <a:ext cx="10287000" cy="381000"/>
          </a:xfrm>
          <a:prstGeom prst="rect">
            <a:avLst/>
          </a:prstGeom>
          <a:noFill/>
          <a:ln w="0">
            <a:noFill/>
          </a:ln>
        </p:spPr>
        <p:txBody>
          <a:bodyPr lIns="0" tIns="0" rIns="0" bIns="0" anchor="t">
            <a:noAutofit/>
          </a:bodyPr>
          <a:lstStyle>
            <a:defPPr>
              <a:defRPr sz="2100" b="1">
                <a:solidFill>
                  <a:srgbClr val="087F8C"/>
                </a:solidFill>
                <a:latin typeface="Aptos"/>
                <a:ea typeface="Aptos"/>
                <a:cs typeface="Aptos"/>
              </a:defRPr>
            </a:defPPr>
            <a:lvl1pPr>
              <a:defRPr sz="2100" b="1">
                <a:solidFill>
                  <a:srgbClr val="087F8C"/>
                </a:solidFill>
                <a:latin typeface="Aptos"/>
                <a:ea typeface="Aptos"/>
                <a:cs typeface="Aptos"/>
              </a:defRPr>
            </a:lvl1pPr>
            <a:lvl2pPr>
              <a:defRPr sz="2100" b="1">
                <a:solidFill>
                  <a:srgbClr val="087F8C"/>
                </a:solidFill>
                <a:latin typeface="Aptos"/>
                <a:ea typeface="Aptos"/>
                <a:cs typeface="Aptos"/>
              </a:defRPr>
            </a:lvl2pPr>
            <a:lvl3pPr>
              <a:defRPr sz="2100" b="1">
                <a:solidFill>
                  <a:srgbClr val="087F8C"/>
                </a:solidFill>
                <a:latin typeface="Aptos"/>
                <a:ea typeface="Aptos"/>
                <a:cs typeface="Aptos"/>
              </a:defRPr>
            </a:lvl3pPr>
            <a:lvl4pPr>
              <a:defRPr sz="2100" b="1">
                <a:solidFill>
                  <a:srgbClr val="087F8C"/>
                </a:solidFill>
                <a:latin typeface="Aptos"/>
                <a:ea typeface="Aptos"/>
                <a:cs typeface="Aptos"/>
              </a:defRPr>
            </a:lvl4pPr>
            <a:lvl5pPr>
              <a:defRPr sz="2100" b="1">
                <a:solidFill>
                  <a:srgbClr val="087F8C"/>
                </a:solidFill>
                <a:latin typeface="Aptos"/>
                <a:ea typeface="Aptos"/>
                <a:cs typeface="Aptos"/>
              </a:defRPr>
            </a:lvl5pPr>
            <a:lvl6pPr>
              <a:defRPr sz="2100" b="1">
                <a:solidFill>
                  <a:srgbClr val="087F8C"/>
                </a:solidFill>
                <a:latin typeface="Aptos"/>
                <a:ea typeface="Aptos"/>
                <a:cs typeface="Aptos"/>
              </a:defRPr>
            </a:lvl6pPr>
            <a:lvl7pPr>
              <a:defRPr sz="2100" b="1">
                <a:solidFill>
                  <a:srgbClr val="087F8C"/>
                </a:solidFill>
                <a:latin typeface="Aptos"/>
                <a:ea typeface="Aptos"/>
                <a:cs typeface="Aptos"/>
              </a:defRPr>
            </a:lvl7pPr>
            <a:lvl8pPr>
              <a:defRPr sz="2100" b="1">
                <a:solidFill>
                  <a:srgbClr val="087F8C"/>
                </a:solidFill>
                <a:latin typeface="Aptos"/>
                <a:ea typeface="Aptos"/>
                <a:cs typeface="Aptos"/>
              </a:defRPr>
            </a:lvl8pPr>
            <a:lvl9pPr>
              <a:defRPr sz="2100" b="1">
                <a:solidFill>
                  <a:srgbClr val="087F8C"/>
                </a:solidFill>
                <a:latin typeface="Aptos"/>
                <a:ea typeface="Aptos"/>
                <a:cs typeface="Aptos"/>
              </a:defRPr>
            </a:lvl9pPr>
          </a:lstStyle>
          <a:p>
            <a:pPr>
              <a:defRPr sz="2100" b="1">
                <a:solidFill>
                  <a:srgbClr val="087F8C"/>
                </a:solidFill>
                <a:latin typeface="Aptos"/>
                <a:ea typeface="Aptos"/>
                <a:cs typeface="Aptos"/>
              </a:defRPr>
            </a:pPr>
            <a:r>
              <a:rPr sz="2100" b="1">
                <a:solidFill>
                  <a:srgbClr val="087F8C"/>
                </a:solidFill>
                <a:latin typeface="Aptos"/>
                <a:ea typeface="Aptos"/>
                <a:cs typeface="Aptos"/>
              </a:rPr>
              <a:t>Limited experience and rapid exploration decay</a:t>
            </a:r>
          </a:p>
        </p:txBody>
      </p:sp>
      <p:sp>
        <p:nvSpPr>
          <p:cNvPr id="5" name="Test a larger replay buffer and a slower ε schedule.">
            <a:extLst>
              <a:ext uri="{FF2B5EF4-FFF2-40B4-BE49-F238E27FC236}">
                <a16:creationId xmlns:a16="http://schemas.microsoft.com/office/drawing/2014/main" id="{AEBB82B3-48EB-4D19-AE02-6BA0EC0483C1}"/>
              </a:ext>
            </a:extLst>
          </p:cNvPr>
          <p:cNvSpPr>
            <a:spLocks noGrp="1"/>
          </p:cNvSpPr>
          <p:nvPr/>
        </p:nvSpPr>
        <p:spPr>
          <a:xfrm>
            <a:off x="609600" y="1943100"/>
            <a:ext cx="10287000" cy="723900"/>
          </a:xfrm>
          <a:prstGeom prst="rect">
            <a:avLst/>
          </a:prstGeom>
          <a:noFill/>
          <a:ln w="0">
            <a:noFill/>
          </a:ln>
        </p:spPr>
        <p:txBody>
          <a:bodyPr lIns="0" tIns="0" rIns="0" bIns="0" anchor="t">
            <a:noAutofit/>
          </a:bodyPr>
          <a:lstStyle>
            <a:defPPr>
              <a:defRPr sz="1950" b="0">
                <a:solidFill>
                  <a:srgbClr val="37475B"/>
                </a:solidFill>
                <a:latin typeface="Aptos"/>
                <a:ea typeface="Aptos"/>
                <a:cs typeface="Aptos"/>
              </a:defRPr>
            </a:defPPr>
            <a:lvl1pPr>
              <a:defRPr sz="1950" b="0">
                <a:solidFill>
                  <a:srgbClr val="37475B"/>
                </a:solidFill>
                <a:latin typeface="Aptos"/>
                <a:ea typeface="Aptos"/>
                <a:cs typeface="Aptos"/>
              </a:defRPr>
            </a:lvl1pPr>
            <a:lvl2pPr>
              <a:defRPr sz="1950" b="0">
                <a:solidFill>
                  <a:srgbClr val="37475B"/>
                </a:solidFill>
                <a:latin typeface="Aptos"/>
                <a:ea typeface="Aptos"/>
                <a:cs typeface="Aptos"/>
              </a:defRPr>
            </a:lvl2pPr>
            <a:lvl3pPr>
              <a:defRPr sz="1950" b="0">
                <a:solidFill>
                  <a:srgbClr val="37475B"/>
                </a:solidFill>
                <a:latin typeface="Aptos"/>
                <a:ea typeface="Aptos"/>
                <a:cs typeface="Aptos"/>
              </a:defRPr>
            </a:lvl3pPr>
            <a:lvl4pPr>
              <a:defRPr sz="1950" b="0">
                <a:solidFill>
                  <a:srgbClr val="37475B"/>
                </a:solidFill>
                <a:latin typeface="Aptos"/>
                <a:ea typeface="Aptos"/>
                <a:cs typeface="Aptos"/>
              </a:defRPr>
            </a:lvl4pPr>
            <a:lvl5pPr>
              <a:defRPr sz="1950" b="0">
                <a:solidFill>
                  <a:srgbClr val="37475B"/>
                </a:solidFill>
                <a:latin typeface="Aptos"/>
                <a:ea typeface="Aptos"/>
                <a:cs typeface="Aptos"/>
              </a:defRPr>
            </a:lvl5pPr>
            <a:lvl6pPr>
              <a:defRPr sz="1950" b="0">
                <a:solidFill>
                  <a:srgbClr val="37475B"/>
                </a:solidFill>
                <a:latin typeface="Aptos"/>
                <a:ea typeface="Aptos"/>
                <a:cs typeface="Aptos"/>
              </a:defRPr>
            </a:lvl6pPr>
            <a:lvl7pPr>
              <a:defRPr sz="1950" b="0">
                <a:solidFill>
                  <a:srgbClr val="37475B"/>
                </a:solidFill>
                <a:latin typeface="Aptos"/>
                <a:ea typeface="Aptos"/>
                <a:cs typeface="Aptos"/>
              </a:defRPr>
            </a:lvl7pPr>
            <a:lvl8pPr>
              <a:defRPr sz="1950" b="0">
                <a:solidFill>
                  <a:srgbClr val="37475B"/>
                </a:solidFill>
                <a:latin typeface="Aptos"/>
                <a:ea typeface="Aptos"/>
                <a:cs typeface="Aptos"/>
              </a:defRPr>
            </a:lvl8pPr>
            <a:lvl9pPr>
              <a:defRPr sz="1950" b="0">
                <a:solidFill>
                  <a:srgbClr val="37475B"/>
                </a:solidFill>
                <a:latin typeface="Aptos"/>
                <a:ea typeface="Aptos"/>
                <a:cs typeface="Aptos"/>
              </a:defRPr>
            </a:lvl9pPr>
          </a:lstStyle>
          <a:p>
            <a:pPr>
              <a:defRPr sz="1950" b="0">
                <a:solidFill>
                  <a:srgbClr val="37475B"/>
                </a:solidFill>
                <a:latin typeface="Aptos"/>
                <a:ea typeface="Aptos"/>
                <a:cs typeface="Aptos"/>
              </a:defRPr>
            </a:pPr>
            <a:r>
              <a:rPr sz="1950" b="0">
                <a:solidFill>
                  <a:srgbClr val="37475B"/>
                </a:solidFill>
                <a:latin typeface="Aptos"/>
                <a:ea typeface="Aptos"/>
                <a:cs typeface="Aptos"/>
              </a:rPr>
              <a:t>Test a larger replay buffer and a slower ε schedule.</a:t>
            </a:r>
          </a:p>
        </p:txBody>
      </p:sp>
      <p:sp>
        <p:nvSpPr>
          <p:cNvPr id="6" name="Unstable training and weak final evaluation">
            <a:extLst>
              <a:ext uri="{FF2B5EF4-FFF2-40B4-BE49-F238E27FC236}">
                <a16:creationId xmlns:a16="http://schemas.microsoft.com/office/drawing/2014/main" id="{E2B19C5F-0D0B-4F72-A65F-F3438907A825}"/>
              </a:ext>
            </a:extLst>
          </p:cNvPr>
          <p:cNvSpPr>
            <a:spLocks noGrp="1"/>
          </p:cNvSpPr>
          <p:nvPr/>
        </p:nvSpPr>
        <p:spPr>
          <a:xfrm>
            <a:off x="609600" y="2905125"/>
            <a:ext cx="10287000" cy="381000"/>
          </a:xfrm>
          <a:prstGeom prst="rect">
            <a:avLst/>
          </a:prstGeom>
          <a:noFill/>
          <a:ln w="0">
            <a:noFill/>
          </a:ln>
        </p:spPr>
        <p:txBody>
          <a:bodyPr lIns="0" tIns="0" rIns="0" bIns="0" anchor="t">
            <a:noAutofit/>
          </a:bodyPr>
          <a:lstStyle>
            <a:defPPr>
              <a:defRPr sz="2100" b="1">
                <a:solidFill>
                  <a:srgbClr val="087F8C"/>
                </a:solidFill>
                <a:latin typeface="Aptos"/>
                <a:ea typeface="Aptos"/>
                <a:cs typeface="Aptos"/>
              </a:defRPr>
            </a:defPPr>
            <a:lvl1pPr>
              <a:defRPr sz="2100" b="1">
                <a:solidFill>
                  <a:srgbClr val="087F8C"/>
                </a:solidFill>
                <a:latin typeface="Aptos"/>
                <a:ea typeface="Aptos"/>
                <a:cs typeface="Aptos"/>
              </a:defRPr>
            </a:lvl1pPr>
            <a:lvl2pPr>
              <a:defRPr sz="2100" b="1">
                <a:solidFill>
                  <a:srgbClr val="087F8C"/>
                </a:solidFill>
                <a:latin typeface="Aptos"/>
                <a:ea typeface="Aptos"/>
                <a:cs typeface="Aptos"/>
              </a:defRPr>
            </a:lvl2pPr>
            <a:lvl3pPr>
              <a:defRPr sz="2100" b="1">
                <a:solidFill>
                  <a:srgbClr val="087F8C"/>
                </a:solidFill>
                <a:latin typeface="Aptos"/>
                <a:ea typeface="Aptos"/>
                <a:cs typeface="Aptos"/>
              </a:defRPr>
            </a:lvl3pPr>
            <a:lvl4pPr>
              <a:defRPr sz="2100" b="1">
                <a:solidFill>
                  <a:srgbClr val="087F8C"/>
                </a:solidFill>
                <a:latin typeface="Aptos"/>
                <a:ea typeface="Aptos"/>
                <a:cs typeface="Aptos"/>
              </a:defRPr>
            </a:lvl4pPr>
            <a:lvl5pPr>
              <a:defRPr sz="2100" b="1">
                <a:solidFill>
                  <a:srgbClr val="087F8C"/>
                </a:solidFill>
                <a:latin typeface="Aptos"/>
                <a:ea typeface="Aptos"/>
                <a:cs typeface="Aptos"/>
              </a:defRPr>
            </a:lvl5pPr>
            <a:lvl6pPr>
              <a:defRPr sz="2100" b="1">
                <a:solidFill>
                  <a:srgbClr val="087F8C"/>
                </a:solidFill>
                <a:latin typeface="Aptos"/>
                <a:ea typeface="Aptos"/>
                <a:cs typeface="Aptos"/>
              </a:defRPr>
            </a:lvl6pPr>
            <a:lvl7pPr>
              <a:defRPr sz="2100" b="1">
                <a:solidFill>
                  <a:srgbClr val="087F8C"/>
                </a:solidFill>
                <a:latin typeface="Aptos"/>
                <a:ea typeface="Aptos"/>
                <a:cs typeface="Aptos"/>
              </a:defRPr>
            </a:lvl7pPr>
            <a:lvl8pPr>
              <a:defRPr sz="2100" b="1">
                <a:solidFill>
                  <a:srgbClr val="087F8C"/>
                </a:solidFill>
                <a:latin typeface="Aptos"/>
                <a:ea typeface="Aptos"/>
                <a:cs typeface="Aptos"/>
              </a:defRPr>
            </a:lvl8pPr>
            <a:lvl9pPr>
              <a:defRPr sz="2100" b="1">
                <a:solidFill>
                  <a:srgbClr val="087F8C"/>
                </a:solidFill>
                <a:latin typeface="Aptos"/>
                <a:ea typeface="Aptos"/>
                <a:cs typeface="Aptos"/>
              </a:defRPr>
            </a:lvl9pPr>
          </a:lstStyle>
          <a:p>
            <a:pPr>
              <a:defRPr sz="2100" b="1">
                <a:solidFill>
                  <a:srgbClr val="087F8C"/>
                </a:solidFill>
                <a:latin typeface="Aptos"/>
                <a:ea typeface="Aptos"/>
                <a:cs typeface="Aptos"/>
              </a:defRPr>
            </a:pPr>
            <a:r>
              <a:rPr sz="2100" b="1">
                <a:solidFill>
                  <a:srgbClr val="087F8C"/>
                </a:solidFill>
                <a:latin typeface="Aptos"/>
                <a:ea typeface="Aptos"/>
                <a:cs typeface="Aptos"/>
              </a:rPr>
              <a:t>Unstable training and weak final evaluation</a:t>
            </a:r>
          </a:p>
        </p:txBody>
      </p:sp>
      <p:sp>
        <p:nvSpPr>
          <p:cNvPr id="7" name="Evaluate saved checkpoints and retain the best validate">
            <a:extLst>
              <a:ext uri="{FF2B5EF4-FFF2-40B4-BE49-F238E27FC236}">
                <a16:creationId xmlns:a16="http://schemas.microsoft.com/office/drawing/2014/main" id="{24EE7634-40EA-4764-9DC2-5C0DF1C07FAC}"/>
              </a:ext>
            </a:extLst>
          </p:cNvPr>
          <p:cNvSpPr>
            <a:spLocks noGrp="1"/>
          </p:cNvSpPr>
          <p:nvPr/>
        </p:nvSpPr>
        <p:spPr>
          <a:xfrm>
            <a:off x="609600" y="3343275"/>
            <a:ext cx="10287000" cy="723900"/>
          </a:xfrm>
          <a:prstGeom prst="rect">
            <a:avLst/>
          </a:prstGeom>
          <a:noFill/>
          <a:ln w="0">
            <a:noFill/>
          </a:ln>
        </p:spPr>
        <p:txBody>
          <a:bodyPr lIns="0" tIns="0" rIns="0" bIns="0" anchor="t">
            <a:noAutofit/>
          </a:bodyPr>
          <a:lstStyle>
            <a:defPPr>
              <a:defRPr sz="1950" b="0">
                <a:solidFill>
                  <a:srgbClr val="37475B"/>
                </a:solidFill>
                <a:latin typeface="Aptos"/>
                <a:ea typeface="Aptos"/>
                <a:cs typeface="Aptos"/>
              </a:defRPr>
            </a:defPPr>
            <a:lvl1pPr>
              <a:defRPr sz="1950" b="0">
                <a:solidFill>
                  <a:srgbClr val="37475B"/>
                </a:solidFill>
                <a:latin typeface="Aptos"/>
                <a:ea typeface="Aptos"/>
                <a:cs typeface="Aptos"/>
              </a:defRPr>
            </a:lvl1pPr>
            <a:lvl2pPr>
              <a:defRPr sz="1950" b="0">
                <a:solidFill>
                  <a:srgbClr val="37475B"/>
                </a:solidFill>
                <a:latin typeface="Aptos"/>
                <a:ea typeface="Aptos"/>
                <a:cs typeface="Aptos"/>
              </a:defRPr>
            </a:lvl2pPr>
            <a:lvl3pPr>
              <a:defRPr sz="1950" b="0">
                <a:solidFill>
                  <a:srgbClr val="37475B"/>
                </a:solidFill>
                <a:latin typeface="Aptos"/>
                <a:ea typeface="Aptos"/>
                <a:cs typeface="Aptos"/>
              </a:defRPr>
            </a:lvl3pPr>
            <a:lvl4pPr>
              <a:defRPr sz="1950" b="0">
                <a:solidFill>
                  <a:srgbClr val="37475B"/>
                </a:solidFill>
                <a:latin typeface="Aptos"/>
                <a:ea typeface="Aptos"/>
                <a:cs typeface="Aptos"/>
              </a:defRPr>
            </a:lvl4pPr>
            <a:lvl5pPr>
              <a:defRPr sz="1950" b="0">
                <a:solidFill>
                  <a:srgbClr val="37475B"/>
                </a:solidFill>
                <a:latin typeface="Aptos"/>
                <a:ea typeface="Aptos"/>
                <a:cs typeface="Aptos"/>
              </a:defRPr>
            </a:lvl5pPr>
            <a:lvl6pPr>
              <a:defRPr sz="1950" b="0">
                <a:solidFill>
                  <a:srgbClr val="37475B"/>
                </a:solidFill>
                <a:latin typeface="Aptos"/>
                <a:ea typeface="Aptos"/>
                <a:cs typeface="Aptos"/>
              </a:defRPr>
            </a:lvl6pPr>
            <a:lvl7pPr>
              <a:defRPr sz="1950" b="0">
                <a:solidFill>
                  <a:srgbClr val="37475B"/>
                </a:solidFill>
                <a:latin typeface="Aptos"/>
                <a:ea typeface="Aptos"/>
                <a:cs typeface="Aptos"/>
              </a:defRPr>
            </a:lvl7pPr>
            <a:lvl8pPr>
              <a:defRPr sz="1950" b="0">
                <a:solidFill>
                  <a:srgbClr val="37475B"/>
                </a:solidFill>
                <a:latin typeface="Aptos"/>
                <a:ea typeface="Aptos"/>
                <a:cs typeface="Aptos"/>
              </a:defRPr>
            </a:lvl8pPr>
            <a:lvl9pPr>
              <a:defRPr sz="1950" b="0">
                <a:solidFill>
                  <a:srgbClr val="37475B"/>
                </a:solidFill>
                <a:latin typeface="Aptos"/>
                <a:ea typeface="Aptos"/>
                <a:cs typeface="Aptos"/>
              </a:defRPr>
            </a:lvl9pPr>
          </a:lstStyle>
          <a:p>
            <a:pPr>
              <a:defRPr sz="1950" b="0">
                <a:solidFill>
                  <a:srgbClr val="37475B"/>
                </a:solidFill>
                <a:latin typeface="Aptos"/>
                <a:ea typeface="Aptos"/>
                <a:cs typeface="Aptos"/>
              </a:defRPr>
            </a:pPr>
            <a:r>
              <a:rPr sz="1950" b="0">
                <a:solidFill>
                  <a:srgbClr val="37475B"/>
                </a:solidFill>
                <a:latin typeface="Aptos"/>
                <a:ea typeface="Aptos"/>
                <a:cs typeface="Aptos"/>
              </a:rPr>
              <a:t>Evaluate saved checkpoints and retain the best validated policy.</a:t>
            </a:r>
          </a:p>
        </p:txBody>
      </p:sp>
      <p:sp>
        <p:nvSpPr>
          <p:cNvPr id="8" name="One run cannot establish reliable performance">
            <a:extLst>
              <a:ext uri="{FF2B5EF4-FFF2-40B4-BE49-F238E27FC236}">
                <a16:creationId xmlns:a16="http://schemas.microsoft.com/office/drawing/2014/main" id="{07E66814-B5F3-44F7-9BF9-BEC06D97D728}"/>
              </a:ext>
            </a:extLst>
          </p:cNvPr>
          <p:cNvSpPr>
            <a:spLocks noGrp="1"/>
          </p:cNvSpPr>
          <p:nvPr/>
        </p:nvSpPr>
        <p:spPr>
          <a:xfrm>
            <a:off x="609600" y="4305300"/>
            <a:ext cx="10287000" cy="381000"/>
          </a:xfrm>
          <a:prstGeom prst="rect">
            <a:avLst/>
          </a:prstGeom>
          <a:noFill/>
          <a:ln w="0">
            <a:noFill/>
          </a:ln>
        </p:spPr>
        <p:txBody>
          <a:bodyPr lIns="0" tIns="0" rIns="0" bIns="0" anchor="t">
            <a:noAutofit/>
          </a:bodyPr>
          <a:lstStyle>
            <a:defPPr>
              <a:defRPr sz="2100" b="1">
                <a:solidFill>
                  <a:srgbClr val="087F8C"/>
                </a:solidFill>
                <a:latin typeface="Aptos"/>
                <a:ea typeface="Aptos"/>
                <a:cs typeface="Aptos"/>
              </a:defRPr>
            </a:defPPr>
            <a:lvl1pPr>
              <a:defRPr sz="2100" b="1">
                <a:solidFill>
                  <a:srgbClr val="087F8C"/>
                </a:solidFill>
                <a:latin typeface="Aptos"/>
                <a:ea typeface="Aptos"/>
                <a:cs typeface="Aptos"/>
              </a:defRPr>
            </a:lvl1pPr>
            <a:lvl2pPr>
              <a:defRPr sz="2100" b="1">
                <a:solidFill>
                  <a:srgbClr val="087F8C"/>
                </a:solidFill>
                <a:latin typeface="Aptos"/>
                <a:ea typeface="Aptos"/>
                <a:cs typeface="Aptos"/>
              </a:defRPr>
            </a:lvl2pPr>
            <a:lvl3pPr>
              <a:defRPr sz="2100" b="1">
                <a:solidFill>
                  <a:srgbClr val="087F8C"/>
                </a:solidFill>
                <a:latin typeface="Aptos"/>
                <a:ea typeface="Aptos"/>
                <a:cs typeface="Aptos"/>
              </a:defRPr>
            </a:lvl3pPr>
            <a:lvl4pPr>
              <a:defRPr sz="2100" b="1">
                <a:solidFill>
                  <a:srgbClr val="087F8C"/>
                </a:solidFill>
                <a:latin typeface="Aptos"/>
                <a:ea typeface="Aptos"/>
                <a:cs typeface="Aptos"/>
              </a:defRPr>
            </a:lvl4pPr>
            <a:lvl5pPr>
              <a:defRPr sz="2100" b="1">
                <a:solidFill>
                  <a:srgbClr val="087F8C"/>
                </a:solidFill>
                <a:latin typeface="Aptos"/>
                <a:ea typeface="Aptos"/>
                <a:cs typeface="Aptos"/>
              </a:defRPr>
            </a:lvl5pPr>
            <a:lvl6pPr>
              <a:defRPr sz="2100" b="1">
                <a:solidFill>
                  <a:srgbClr val="087F8C"/>
                </a:solidFill>
                <a:latin typeface="Aptos"/>
                <a:ea typeface="Aptos"/>
                <a:cs typeface="Aptos"/>
              </a:defRPr>
            </a:lvl6pPr>
            <a:lvl7pPr>
              <a:defRPr sz="2100" b="1">
                <a:solidFill>
                  <a:srgbClr val="087F8C"/>
                </a:solidFill>
                <a:latin typeface="Aptos"/>
                <a:ea typeface="Aptos"/>
                <a:cs typeface="Aptos"/>
              </a:defRPr>
            </a:lvl7pPr>
            <a:lvl8pPr>
              <a:defRPr sz="2100" b="1">
                <a:solidFill>
                  <a:srgbClr val="087F8C"/>
                </a:solidFill>
                <a:latin typeface="Aptos"/>
                <a:ea typeface="Aptos"/>
                <a:cs typeface="Aptos"/>
              </a:defRPr>
            </a:lvl8pPr>
            <a:lvl9pPr>
              <a:defRPr sz="2100" b="1">
                <a:solidFill>
                  <a:srgbClr val="087F8C"/>
                </a:solidFill>
                <a:latin typeface="Aptos"/>
                <a:ea typeface="Aptos"/>
                <a:cs typeface="Aptos"/>
              </a:defRPr>
            </a:lvl9pPr>
          </a:lstStyle>
          <a:p>
            <a:pPr>
              <a:defRPr sz="2100" b="1">
                <a:solidFill>
                  <a:srgbClr val="087F8C"/>
                </a:solidFill>
                <a:latin typeface="Aptos"/>
                <a:ea typeface="Aptos"/>
                <a:cs typeface="Aptos"/>
              </a:defRPr>
            </a:pPr>
            <a:r>
              <a:rPr sz="2100" b="1">
                <a:solidFill>
                  <a:srgbClr val="087F8C"/>
                </a:solidFill>
                <a:latin typeface="Aptos"/>
                <a:ea typeface="Aptos"/>
                <a:cs typeface="Aptos"/>
              </a:rPr>
              <a:t>One run cannot establish reliable performance</a:t>
            </a:r>
          </a:p>
        </p:txBody>
      </p:sp>
      <p:sp>
        <p:nvSpPr>
          <p:cNvPr id="9" name="Add a matched random baseline and repeat across several">
            <a:extLst>
              <a:ext uri="{FF2B5EF4-FFF2-40B4-BE49-F238E27FC236}">
                <a16:creationId xmlns:a16="http://schemas.microsoft.com/office/drawing/2014/main" id="{4B0AD088-E4C2-4853-9B09-603913CB96BA}"/>
              </a:ext>
            </a:extLst>
          </p:cNvPr>
          <p:cNvSpPr>
            <a:spLocks noGrp="1"/>
          </p:cNvSpPr>
          <p:nvPr/>
        </p:nvSpPr>
        <p:spPr>
          <a:xfrm>
            <a:off x="609600" y="4743450"/>
            <a:ext cx="10287000" cy="723900"/>
          </a:xfrm>
          <a:prstGeom prst="rect">
            <a:avLst/>
          </a:prstGeom>
          <a:noFill/>
          <a:ln w="0">
            <a:noFill/>
          </a:ln>
        </p:spPr>
        <p:txBody>
          <a:bodyPr lIns="0" tIns="0" rIns="0" bIns="0" anchor="t">
            <a:noAutofit/>
          </a:bodyPr>
          <a:lstStyle>
            <a:defPPr>
              <a:defRPr sz="1950" b="0">
                <a:solidFill>
                  <a:srgbClr val="37475B"/>
                </a:solidFill>
                <a:latin typeface="Aptos"/>
                <a:ea typeface="Aptos"/>
                <a:cs typeface="Aptos"/>
              </a:defRPr>
            </a:defPPr>
            <a:lvl1pPr>
              <a:defRPr sz="1950" b="0">
                <a:solidFill>
                  <a:srgbClr val="37475B"/>
                </a:solidFill>
                <a:latin typeface="Aptos"/>
                <a:ea typeface="Aptos"/>
                <a:cs typeface="Aptos"/>
              </a:defRPr>
            </a:lvl1pPr>
            <a:lvl2pPr>
              <a:defRPr sz="1950" b="0">
                <a:solidFill>
                  <a:srgbClr val="37475B"/>
                </a:solidFill>
                <a:latin typeface="Aptos"/>
                <a:ea typeface="Aptos"/>
                <a:cs typeface="Aptos"/>
              </a:defRPr>
            </a:lvl2pPr>
            <a:lvl3pPr>
              <a:defRPr sz="1950" b="0">
                <a:solidFill>
                  <a:srgbClr val="37475B"/>
                </a:solidFill>
                <a:latin typeface="Aptos"/>
                <a:ea typeface="Aptos"/>
                <a:cs typeface="Aptos"/>
              </a:defRPr>
            </a:lvl3pPr>
            <a:lvl4pPr>
              <a:defRPr sz="1950" b="0">
                <a:solidFill>
                  <a:srgbClr val="37475B"/>
                </a:solidFill>
                <a:latin typeface="Aptos"/>
                <a:ea typeface="Aptos"/>
                <a:cs typeface="Aptos"/>
              </a:defRPr>
            </a:lvl4pPr>
            <a:lvl5pPr>
              <a:defRPr sz="1950" b="0">
                <a:solidFill>
                  <a:srgbClr val="37475B"/>
                </a:solidFill>
                <a:latin typeface="Aptos"/>
                <a:ea typeface="Aptos"/>
                <a:cs typeface="Aptos"/>
              </a:defRPr>
            </a:lvl5pPr>
            <a:lvl6pPr>
              <a:defRPr sz="1950" b="0">
                <a:solidFill>
                  <a:srgbClr val="37475B"/>
                </a:solidFill>
                <a:latin typeface="Aptos"/>
                <a:ea typeface="Aptos"/>
                <a:cs typeface="Aptos"/>
              </a:defRPr>
            </a:lvl6pPr>
            <a:lvl7pPr>
              <a:defRPr sz="1950" b="0">
                <a:solidFill>
                  <a:srgbClr val="37475B"/>
                </a:solidFill>
                <a:latin typeface="Aptos"/>
                <a:ea typeface="Aptos"/>
                <a:cs typeface="Aptos"/>
              </a:defRPr>
            </a:lvl7pPr>
            <a:lvl8pPr>
              <a:defRPr sz="1950" b="0">
                <a:solidFill>
                  <a:srgbClr val="37475B"/>
                </a:solidFill>
                <a:latin typeface="Aptos"/>
                <a:ea typeface="Aptos"/>
                <a:cs typeface="Aptos"/>
              </a:defRPr>
            </a:lvl8pPr>
            <a:lvl9pPr>
              <a:defRPr sz="1950" b="0">
                <a:solidFill>
                  <a:srgbClr val="37475B"/>
                </a:solidFill>
                <a:latin typeface="Aptos"/>
                <a:ea typeface="Aptos"/>
                <a:cs typeface="Aptos"/>
              </a:defRPr>
            </a:lvl9pPr>
          </a:lstStyle>
          <a:p>
            <a:pPr>
              <a:defRPr sz="1950" b="0">
                <a:solidFill>
                  <a:srgbClr val="37475B"/>
                </a:solidFill>
                <a:latin typeface="Aptos"/>
                <a:ea typeface="Aptos"/>
                <a:cs typeface="Aptos"/>
              </a:defRPr>
            </a:pPr>
            <a:r>
              <a:rPr sz="1950" b="0">
                <a:solidFill>
                  <a:srgbClr val="37475B"/>
                </a:solidFill>
                <a:latin typeface="Aptos"/>
                <a:ea typeface="Aptos"/>
                <a:cs typeface="Aptos"/>
              </a:rPr>
              <a:t>Add a matched random baseline and repeat across several seeds.</a:t>
            </a:r>
          </a:p>
        </p:txBody>
      </p:sp>
    </p:spTree>
    <p:extLst>
      <p:ext uri="{BB962C8B-B14F-4D97-AF65-F5344CB8AC3E}">
        <p14:creationId xmlns:p14="http://schemas.microsoft.com/office/powerpoint/2010/main" val="1986445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What this project demonstrates">
            <a:extLst>
              <a:ext uri="{FF2B5EF4-FFF2-40B4-BE49-F238E27FC236}">
                <a16:creationId xmlns:a16="http://schemas.microsoft.com/office/drawing/2014/main" id="{DE926C7F-08FB-4036-AC67-7C80C3F33C6C}"/>
              </a:ext>
            </a:extLst>
          </p:cNvPr>
          <p:cNvSpPr>
            <a:spLocks noGrp="1"/>
          </p:cNvSpPr>
          <p:nvPr/>
        </p:nvSpPr>
        <p:spPr>
          <a:xfrm>
            <a:off x="609600" y="438150"/>
            <a:ext cx="10763250" cy="666750"/>
          </a:xfrm>
          <a:prstGeom prst="rect">
            <a:avLst/>
          </a:prstGeom>
          <a:noFill/>
          <a:ln w="0">
            <a:noFill/>
          </a:ln>
        </p:spPr>
        <p:txBody>
          <a:bodyPr lIns="0" tIns="0" rIns="0" bIns="0" anchor="t">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What this project demonstrates</a:t>
            </a:r>
          </a:p>
        </p:txBody>
      </p:sp>
      <p:sp>
        <p:nvSpPr>
          <p:cNvPr id="3" name="15">
            <a:extLst>
              <a:ext uri="{FF2B5EF4-FFF2-40B4-BE49-F238E27FC236}">
                <a16:creationId xmlns:a16="http://schemas.microsoft.com/office/drawing/2014/main" id="{DE7068E3-DAF0-4FE2-A876-9A7D4CE303B7}"/>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17</a:t>
            </a:r>
          </a:p>
        </p:txBody>
      </p:sp>
      <p:sp>
        <p:nvSpPr>
          <p:cNvPr id="4" name="Pixels can drive action-value learning">
            <a:extLst>
              <a:ext uri="{FF2B5EF4-FFF2-40B4-BE49-F238E27FC236}">
                <a16:creationId xmlns:a16="http://schemas.microsoft.com/office/drawing/2014/main" id="{B412EED3-AFFC-44CA-93DA-5A15E4608E09}"/>
              </a:ext>
            </a:extLst>
          </p:cNvPr>
          <p:cNvSpPr>
            <a:spLocks noGrp="1"/>
          </p:cNvSpPr>
          <p:nvPr/>
        </p:nvSpPr>
        <p:spPr>
          <a:xfrm>
            <a:off x="619125" y="1619250"/>
            <a:ext cx="10668000" cy="571500"/>
          </a:xfrm>
          <a:prstGeom prst="rect">
            <a:avLst/>
          </a:prstGeom>
          <a:noFill/>
          <a:ln w="0">
            <a:noFill/>
          </a:ln>
        </p:spPr>
        <p:txBody>
          <a:bodyPr lIns="0" tIns="0" rIns="0" bIns="0" anchor="t">
            <a:noAutofit/>
          </a:bodyPr>
          <a:lstStyle>
            <a:defPPr>
              <a:defRPr sz="3225" b="1">
                <a:solidFill>
                  <a:srgbClr val="087F8C"/>
                </a:solidFill>
                <a:latin typeface="Aptos"/>
                <a:ea typeface="Aptos"/>
                <a:cs typeface="Aptos"/>
              </a:defRPr>
            </a:defPPr>
            <a:lvl1pPr>
              <a:defRPr sz="3225" b="1">
                <a:solidFill>
                  <a:srgbClr val="087F8C"/>
                </a:solidFill>
                <a:latin typeface="Aptos"/>
                <a:ea typeface="Aptos"/>
                <a:cs typeface="Aptos"/>
              </a:defRPr>
            </a:lvl1pPr>
            <a:lvl2pPr>
              <a:defRPr sz="3225" b="1">
                <a:solidFill>
                  <a:srgbClr val="087F8C"/>
                </a:solidFill>
                <a:latin typeface="Aptos"/>
                <a:ea typeface="Aptos"/>
                <a:cs typeface="Aptos"/>
              </a:defRPr>
            </a:lvl2pPr>
            <a:lvl3pPr>
              <a:defRPr sz="3225" b="1">
                <a:solidFill>
                  <a:srgbClr val="087F8C"/>
                </a:solidFill>
                <a:latin typeface="Aptos"/>
                <a:ea typeface="Aptos"/>
                <a:cs typeface="Aptos"/>
              </a:defRPr>
            </a:lvl3pPr>
            <a:lvl4pPr>
              <a:defRPr sz="3225" b="1">
                <a:solidFill>
                  <a:srgbClr val="087F8C"/>
                </a:solidFill>
                <a:latin typeface="Aptos"/>
                <a:ea typeface="Aptos"/>
                <a:cs typeface="Aptos"/>
              </a:defRPr>
            </a:lvl4pPr>
            <a:lvl5pPr>
              <a:defRPr sz="3225" b="1">
                <a:solidFill>
                  <a:srgbClr val="087F8C"/>
                </a:solidFill>
                <a:latin typeface="Aptos"/>
                <a:ea typeface="Aptos"/>
                <a:cs typeface="Aptos"/>
              </a:defRPr>
            </a:lvl5pPr>
            <a:lvl6pPr>
              <a:defRPr sz="3225" b="1">
                <a:solidFill>
                  <a:srgbClr val="087F8C"/>
                </a:solidFill>
                <a:latin typeface="Aptos"/>
                <a:ea typeface="Aptos"/>
                <a:cs typeface="Aptos"/>
              </a:defRPr>
            </a:lvl6pPr>
            <a:lvl7pPr>
              <a:defRPr sz="3225" b="1">
                <a:solidFill>
                  <a:srgbClr val="087F8C"/>
                </a:solidFill>
                <a:latin typeface="Aptos"/>
                <a:ea typeface="Aptos"/>
                <a:cs typeface="Aptos"/>
              </a:defRPr>
            </a:lvl7pPr>
            <a:lvl8pPr>
              <a:defRPr sz="3225" b="1">
                <a:solidFill>
                  <a:srgbClr val="087F8C"/>
                </a:solidFill>
                <a:latin typeface="Aptos"/>
                <a:ea typeface="Aptos"/>
                <a:cs typeface="Aptos"/>
              </a:defRPr>
            </a:lvl8pPr>
            <a:lvl9pPr>
              <a:defRPr sz="3225" b="1">
                <a:solidFill>
                  <a:srgbClr val="087F8C"/>
                </a:solidFill>
                <a:latin typeface="Aptos"/>
                <a:ea typeface="Aptos"/>
                <a:cs typeface="Aptos"/>
              </a:defRPr>
            </a:lvl9pPr>
          </a:lstStyle>
          <a:p>
            <a:pPr>
              <a:defRPr sz="3225" b="1">
                <a:solidFill>
                  <a:srgbClr val="087F8C"/>
                </a:solidFill>
                <a:latin typeface="Aptos"/>
                <a:ea typeface="Aptos"/>
                <a:cs typeface="Aptos"/>
              </a:defRPr>
            </a:pPr>
            <a:r>
              <a:rPr sz="3225" b="1">
                <a:solidFill>
                  <a:srgbClr val="087F8C"/>
                </a:solidFill>
                <a:latin typeface="Aptos"/>
                <a:ea typeface="Aptos"/>
                <a:cs typeface="Aptos"/>
              </a:rPr>
              <a:t>Pixels can drive action-value learning</a:t>
            </a:r>
          </a:p>
        </p:txBody>
      </p:sp>
      <p:sp>
        <p:nvSpPr>
          <p:cNvPr id="5" name="A working loop connects Atari observations, a convoluti">
            <a:extLst>
              <a:ext uri="{FF2B5EF4-FFF2-40B4-BE49-F238E27FC236}">
                <a16:creationId xmlns:a16="http://schemas.microsoft.com/office/drawing/2014/main" id="{69664562-19E4-4936-B49B-2108917A4A2E}"/>
              </a:ext>
            </a:extLst>
          </p:cNvPr>
          <p:cNvSpPr>
            <a:spLocks noGrp="1"/>
          </p:cNvSpPr>
          <p:nvPr/>
        </p:nvSpPr>
        <p:spPr>
          <a:xfrm>
            <a:off x="619125" y="2619375"/>
            <a:ext cx="10620375" cy="1238250"/>
          </a:xfrm>
          <a:prstGeom prst="rect">
            <a:avLst/>
          </a:prstGeom>
          <a:noFill/>
          <a:ln w="0">
            <a:noFill/>
          </a:ln>
        </p:spPr>
        <p:txBody>
          <a:bodyPr lIns="0" tIns="0" rIns="0" bIns="0" anchor="t">
            <a:noAutofit/>
          </a:bodyPr>
          <a:lstStyle>
            <a:defPPr>
              <a:defRPr sz="2475" b="0">
                <a:solidFill>
                  <a:srgbClr val="18324F"/>
                </a:solidFill>
                <a:latin typeface="Aptos"/>
                <a:ea typeface="Aptos"/>
                <a:cs typeface="Aptos"/>
              </a:defRPr>
            </a:defPPr>
            <a:lvl1pPr>
              <a:defRPr sz="2475" b="0">
                <a:solidFill>
                  <a:srgbClr val="18324F"/>
                </a:solidFill>
                <a:latin typeface="Aptos"/>
                <a:ea typeface="Aptos"/>
                <a:cs typeface="Aptos"/>
              </a:defRPr>
            </a:lvl1pPr>
            <a:lvl2pPr>
              <a:defRPr sz="2475" b="0">
                <a:solidFill>
                  <a:srgbClr val="18324F"/>
                </a:solidFill>
                <a:latin typeface="Aptos"/>
                <a:ea typeface="Aptos"/>
                <a:cs typeface="Aptos"/>
              </a:defRPr>
            </a:lvl2pPr>
            <a:lvl3pPr>
              <a:defRPr sz="2475" b="0">
                <a:solidFill>
                  <a:srgbClr val="18324F"/>
                </a:solidFill>
                <a:latin typeface="Aptos"/>
                <a:ea typeface="Aptos"/>
                <a:cs typeface="Aptos"/>
              </a:defRPr>
            </a:lvl3pPr>
            <a:lvl4pPr>
              <a:defRPr sz="2475" b="0">
                <a:solidFill>
                  <a:srgbClr val="18324F"/>
                </a:solidFill>
                <a:latin typeface="Aptos"/>
                <a:ea typeface="Aptos"/>
                <a:cs typeface="Aptos"/>
              </a:defRPr>
            </a:lvl4pPr>
            <a:lvl5pPr>
              <a:defRPr sz="2475" b="0">
                <a:solidFill>
                  <a:srgbClr val="18324F"/>
                </a:solidFill>
                <a:latin typeface="Aptos"/>
                <a:ea typeface="Aptos"/>
                <a:cs typeface="Aptos"/>
              </a:defRPr>
            </a:lvl5pPr>
            <a:lvl6pPr>
              <a:defRPr sz="2475" b="0">
                <a:solidFill>
                  <a:srgbClr val="18324F"/>
                </a:solidFill>
                <a:latin typeface="Aptos"/>
                <a:ea typeface="Aptos"/>
                <a:cs typeface="Aptos"/>
              </a:defRPr>
            </a:lvl6pPr>
            <a:lvl7pPr>
              <a:defRPr sz="2475" b="0">
                <a:solidFill>
                  <a:srgbClr val="18324F"/>
                </a:solidFill>
                <a:latin typeface="Aptos"/>
                <a:ea typeface="Aptos"/>
                <a:cs typeface="Aptos"/>
              </a:defRPr>
            </a:lvl7pPr>
            <a:lvl8pPr>
              <a:defRPr sz="2475" b="0">
                <a:solidFill>
                  <a:srgbClr val="18324F"/>
                </a:solidFill>
                <a:latin typeface="Aptos"/>
                <a:ea typeface="Aptos"/>
                <a:cs typeface="Aptos"/>
              </a:defRPr>
            </a:lvl8pPr>
            <a:lvl9pPr>
              <a:defRPr sz="2475" b="0">
                <a:solidFill>
                  <a:srgbClr val="18324F"/>
                </a:solidFill>
                <a:latin typeface="Aptos"/>
                <a:ea typeface="Aptos"/>
                <a:cs typeface="Aptos"/>
              </a:defRPr>
            </a:lvl9pPr>
          </a:lstStyle>
          <a:p>
            <a:pPr>
              <a:defRPr sz="2475" b="0">
                <a:solidFill>
                  <a:srgbClr val="18324F"/>
                </a:solidFill>
                <a:latin typeface="Aptos"/>
                <a:ea typeface="Aptos"/>
                <a:cs typeface="Aptos"/>
              </a:defRPr>
            </a:pPr>
            <a:r>
              <a:rPr sz="2475" b="0">
                <a:solidFill>
                  <a:srgbClr val="18324F"/>
                </a:solidFill>
                <a:latin typeface="Aptos"/>
                <a:ea typeface="Aptos"/>
                <a:cs typeface="Aptos"/>
              </a:rPr>
              <a:t>A working loop connects Atari observations, a convolutional</a:t>
            </a:r>
          </a:p>
          <a:p>
            <a:pPr>
              <a:defRPr sz="2475" b="0">
                <a:solidFill>
                  <a:srgbClr val="18324F"/>
                </a:solidFill>
                <a:latin typeface="Aptos"/>
                <a:ea typeface="Aptos"/>
                <a:cs typeface="Aptos"/>
              </a:defRPr>
            </a:pPr>
            <a:r>
              <a:rPr sz="2475" b="0">
                <a:solidFill>
                  <a:srgbClr val="18324F"/>
                </a:solidFill>
                <a:latin typeface="Aptos"/>
                <a:ea typeface="Aptos"/>
                <a:cs typeface="Aptos"/>
              </a:rPr>
              <a:t>Q-network, experience replay and temporal-difference updates.</a:t>
            </a:r>
          </a:p>
        </p:txBody>
      </p:sp>
      <p:sp>
        <p:nvSpPr>
          <p:cNvPr id="6" name="Our results show an operational implementation with&#10;lim">
            <a:extLst>
              <a:ext uri="{FF2B5EF4-FFF2-40B4-BE49-F238E27FC236}">
                <a16:creationId xmlns:a16="http://schemas.microsoft.com/office/drawing/2014/main" id="{B195A4F7-1E2A-4BC2-9AD2-563476917360}"/>
              </a:ext>
            </a:extLst>
          </p:cNvPr>
          <p:cNvSpPr>
            <a:spLocks noGrp="1"/>
          </p:cNvSpPr>
          <p:nvPr/>
        </p:nvSpPr>
        <p:spPr>
          <a:xfrm>
            <a:off x="619125" y="4248150"/>
            <a:ext cx="10620375" cy="1095375"/>
          </a:xfrm>
          <a:prstGeom prst="rect">
            <a:avLst/>
          </a:prstGeom>
          <a:noFill/>
          <a:ln w="0">
            <a:noFill/>
          </a:ln>
        </p:spPr>
        <p:txBody>
          <a:bodyPr lIns="0" tIns="0" rIns="0" bIns="0" anchor="t">
            <a:noAutofit/>
          </a:bodyPr>
          <a:lstStyle>
            <a:defPPr>
              <a:defRPr sz="2475" b="0">
                <a:solidFill>
                  <a:srgbClr val="37475B"/>
                </a:solidFill>
                <a:latin typeface="Aptos"/>
                <a:ea typeface="Aptos"/>
                <a:cs typeface="Aptos"/>
              </a:defRPr>
            </a:defPPr>
            <a:lvl1pPr>
              <a:defRPr sz="2475" b="0">
                <a:solidFill>
                  <a:srgbClr val="37475B"/>
                </a:solidFill>
                <a:latin typeface="Aptos"/>
                <a:ea typeface="Aptos"/>
                <a:cs typeface="Aptos"/>
              </a:defRPr>
            </a:lvl1pPr>
            <a:lvl2pPr>
              <a:defRPr sz="2475" b="0">
                <a:solidFill>
                  <a:srgbClr val="37475B"/>
                </a:solidFill>
                <a:latin typeface="Aptos"/>
                <a:ea typeface="Aptos"/>
                <a:cs typeface="Aptos"/>
              </a:defRPr>
            </a:lvl2pPr>
            <a:lvl3pPr>
              <a:defRPr sz="2475" b="0">
                <a:solidFill>
                  <a:srgbClr val="37475B"/>
                </a:solidFill>
                <a:latin typeface="Aptos"/>
                <a:ea typeface="Aptos"/>
                <a:cs typeface="Aptos"/>
              </a:defRPr>
            </a:lvl3pPr>
            <a:lvl4pPr>
              <a:defRPr sz="2475" b="0">
                <a:solidFill>
                  <a:srgbClr val="37475B"/>
                </a:solidFill>
                <a:latin typeface="Aptos"/>
                <a:ea typeface="Aptos"/>
                <a:cs typeface="Aptos"/>
              </a:defRPr>
            </a:lvl4pPr>
            <a:lvl5pPr>
              <a:defRPr sz="2475" b="0">
                <a:solidFill>
                  <a:srgbClr val="37475B"/>
                </a:solidFill>
                <a:latin typeface="Aptos"/>
                <a:ea typeface="Aptos"/>
                <a:cs typeface="Aptos"/>
              </a:defRPr>
            </a:lvl5pPr>
            <a:lvl6pPr>
              <a:defRPr sz="2475" b="0">
                <a:solidFill>
                  <a:srgbClr val="37475B"/>
                </a:solidFill>
                <a:latin typeface="Aptos"/>
                <a:ea typeface="Aptos"/>
                <a:cs typeface="Aptos"/>
              </a:defRPr>
            </a:lvl6pPr>
            <a:lvl7pPr>
              <a:defRPr sz="2475" b="0">
                <a:solidFill>
                  <a:srgbClr val="37475B"/>
                </a:solidFill>
                <a:latin typeface="Aptos"/>
                <a:ea typeface="Aptos"/>
                <a:cs typeface="Aptos"/>
              </a:defRPr>
            </a:lvl7pPr>
            <a:lvl8pPr>
              <a:defRPr sz="2475" b="0">
                <a:solidFill>
                  <a:srgbClr val="37475B"/>
                </a:solidFill>
                <a:latin typeface="Aptos"/>
                <a:ea typeface="Aptos"/>
                <a:cs typeface="Aptos"/>
              </a:defRPr>
            </a:lvl8pPr>
            <a:lvl9pPr>
              <a:defRPr sz="2475" b="0">
                <a:solidFill>
                  <a:srgbClr val="37475B"/>
                </a:solidFill>
                <a:latin typeface="Aptos"/>
                <a:ea typeface="Aptos"/>
                <a:cs typeface="Aptos"/>
              </a:defRPr>
            </a:lvl9pPr>
          </a:lstStyle>
          <a:p>
            <a:pPr>
              <a:defRPr sz="2475" b="0">
                <a:solidFill>
                  <a:srgbClr val="37475B"/>
                </a:solidFill>
                <a:latin typeface="Aptos"/>
                <a:ea typeface="Aptos"/>
                <a:cs typeface="Aptos"/>
              </a:defRPr>
            </a:pPr>
            <a:r>
              <a:rPr sz="2475" b="0">
                <a:solidFill>
                  <a:srgbClr val="37475B"/>
                </a:solidFill>
                <a:latin typeface="Aptos"/>
                <a:ea typeface="Aptos"/>
                <a:cs typeface="Aptos"/>
              </a:rPr>
              <a:t>Our results show an operational implementation with</a:t>
            </a:r>
          </a:p>
          <a:p>
            <a:pPr>
              <a:defRPr sz="2475" b="0">
                <a:solidFill>
                  <a:srgbClr val="37475B"/>
                </a:solidFill>
                <a:latin typeface="Aptos"/>
                <a:ea typeface="Aptos"/>
                <a:cs typeface="Aptos"/>
              </a:defRPr>
            </a:pPr>
            <a:r>
              <a:rPr sz="2475" b="0">
                <a:solidFill>
                  <a:srgbClr val="37475B"/>
                </a:solidFill>
                <a:latin typeface="Aptos"/>
                <a:ea typeface="Aptos"/>
                <a:cs typeface="Aptos"/>
              </a:rPr>
              <a:t>limited final playing strength.</a:t>
            </a:r>
          </a:p>
        </p:txBody>
      </p:sp>
      <p:sp>
        <p:nvSpPr>
          <p:cNvPr id="7" name="Questions">
            <a:extLst>
              <a:ext uri="{FF2B5EF4-FFF2-40B4-BE49-F238E27FC236}">
                <a16:creationId xmlns:a16="http://schemas.microsoft.com/office/drawing/2014/main" id="{76091BD3-0A05-481B-8B0E-9FBDF4CAAD2D}"/>
              </a:ext>
            </a:extLst>
          </p:cNvPr>
          <p:cNvSpPr>
            <a:spLocks noGrp="1"/>
          </p:cNvSpPr>
          <p:nvPr/>
        </p:nvSpPr>
        <p:spPr>
          <a:xfrm>
            <a:off x="619125" y="5724525"/>
            <a:ext cx="10287000" cy="495300"/>
          </a:xfrm>
          <a:prstGeom prst="rect">
            <a:avLst/>
          </a:prstGeom>
          <a:noFill/>
          <a:ln w="0">
            <a:noFill/>
          </a:ln>
        </p:spPr>
        <p:txBody>
          <a:bodyPr lIns="0" tIns="0" rIns="0" bIns="0" anchor="t">
            <a:noAutofit/>
          </a:bodyPr>
          <a:lstStyle>
            <a:defPPr>
              <a:defRPr sz="2850" b="1">
                <a:solidFill>
                  <a:srgbClr val="087F8C"/>
                </a:solidFill>
                <a:latin typeface="Aptos"/>
                <a:ea typeface="Aptos"/>
                <a:cs typeface="Aptos"/>
              </a:defRPr>
            </a:defPPr>
            <a:lvl1pPr>
              <a:defRPr sz="2850" b="1">
                <a:solidFill>
                  <a:srgbClr val="087F8C"/>
                </a:solidFill>
                <a:latin typeface="Aptos"/>
                <a:ea typeface="Aptos"/>
                <a:cs typeface="Aptos"/>
              </a:defRPr>
            </a:lvl1pPr>
            <a:lvl2pPr>
              <a:defRPr sz="2850" b="1">
                <a:solidFill>
                  <a:srgbClr val="087F8C"/>
                </a:solidFill>
                <a:latin typeface="Aptos"/>
                <a:ea typeface="Aptos"/>
                <a:cs typeface="Aptos"/>
              </a:defRPr>
            </a:lvl2pPr>
            <a:lvl3pPr>
              <a:defRPr sz="2850" b="1">
                <a:solidFill>
                  <a:srgbClr val="087F8C"/>
                </a:solidFill>
                <a:latin typeface="Aptos"/>
                <a:ea typeface="Aptos"/>
                <a:cs typeface="Aptos"/>
              </a:defRPr>
            </a:lvl3pPr>
            <a:lvl4pPr>
              <a:defRPr sz="2850" b="1">
                <a:solidFill>
                  <a:srgbClr val="087F8C"/>
                </a:solidFill>
                <a:latin typeface="Aptos"/>
                <a:ea typeface="Aptos"/>
                <a:cs typeface="Aptos"/>
              </a:defRPr>
            </a:lvl4pPr>
            <a:lvl5pPr>
              <a:defRPr sz="2850" b="1">
                <a:solidFill>
                  <a:srgbClr val="087F8C"/>
                </a:solidFill>
                <a:latin typeface="Aptos"/>
                <a:ea typeface="Aptos"/>
                <a:cs typeface="Aptos"/>
              </a:defRPr>
            </a:lvl5pPr>
            <a:lvl6pPr>
              <a:defRPr sz="2850" b="1">
                <a:solidFill>
                  <a:srgbClr val="087F8C"/>
                </a:solidFill>
                <a:latin typeface="Aptos"/>
                <a:ea typeface="Aptos"/>
                <a:cs typeface="Aptos"/>
              </a:defRPr>
            </a:lvl6pPr>
            <a:lvl7pPr>
              <a:defRPr sz="2850" b="1">
                <a:solidFill>
                  <a:srgbClr val="087F8C"/>
                </a:solidFill>
                <a:latin typeface="Aptos"/>
                <a:ea typeface="Aptos"/>
                <a:cs typeface="Aptos"/>
              </a:defRPr>
            </a:lvl7pPr>
            <a:lvl8pPr>
              <a:defRPr sz="2850" b="1">
                <a:solidFill>
                  <a:srgbClr val="087F8C"/>
                </a:solidFill>
                <a:latin typeface="Aptos"/>
                <a:ea typeface="Aptos"/>
                <a:cs typeface="Aptos"/>
              </a:defRPr>
            </a:lvl8pPr>
            <a:lvl9pPr>
              <a:defRPr sz="2850" b="1">
                <a:solidFill>
                  <a:srgbClr val="087F8C"/>
                </a:solidFill>
                <a:latin typeface="Aptos"/>
                <a:ea typeface="Aptos"/>
                <a:cs typeface="Aptos"/>
              </a:defRPr>
            </a:lvl9pPr>
          </a:lstStyle>
          <a:p>
            <a:pPr>
              <a:defRPr sz="2850" b="1">
                <a:solidFill>
                  <a:srgbClr val="087F8C"/>
                </a:solidFill>
                <a:latin typeface="Aptos"/>
                <a:ea typeface="Aptos"/>
                <a:cs typeface="Aptos"/>
              </a:defRPr>
            </a:pPr>
            <a:r>
              <a:rPr sz="2850" b="1">
                <a:solidFill>
                  <a:srgbClr val="087F8C"/>
                </a:solidFill>
                <a:latin typeface="Aptos"/>
                <a:ea typeface="Aptos"/>
                <a:cs typeface="Aptos"/>
              </a:rPr>
              <a:t>Questions</a:t>
            </a:r>
          </a:p>
        </p:txBody>
      </p:sp>
    </p:spTree>
    <p:extLst>
      <p:ext uri="{BB962C8B-B14F-4D97-AF65-F5344CB8AC3E}">
        <p14:creationId xmlns:p14="http://schemas.microsoft.com/office/powerpoint/2010/main" val="1751934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ferences and evidence">
            <a:extLst>
              <a:ext uri="{FF2B5EF4-FFF2-40B4-BE49-F238E27FC236}">
                <a16:creationId xmlns:a16="http://schemas.microsoft.com/office/drawing/2014/main" id="{B895BD76-DF85-4428-9EFC-AC33AFA8C2EA}"/>
              </a:ext>
            </a:extLst>
          </p:cNvPr>
          <p:cNvSpPr>
            <a:spLocks noGrp="1"/>
          </p:cNvSpPr>
          <p:nvPr/>
        </p:nvSpPr>
        <p:spPr>
          <a:xfrm>
            <a:off x="609600" y="438150"/>
            <a:ext cx="10763250" cy="666750"/>
          </a:xfrm>
          <a:prstGeom prst="rect">
            <a:avLst/>
          </a:prstGeom>
          <a:noFill/>
          <a:ln w="0">
            <a:noFill/>
          </a:ln>
        </p:spPr>
        <p:txBody>
          <a:bodyPr lIns="0" tIns="0" rIns="0" bIns="0" anchor="t">
            <a:noAutofit/>
          </a:bodyPr>
          <a:lstStyle>
            <a:defPPr>
              <a:defRPr sz="3225" b="1">
                <a:solidFill>
                  <a:srgbClr val="18324F"/>
                </a:solidFill>
                <a:latin typeface="Aptos"/>
                <a:ea typeface="Aptos"/>
                <a:cs typeface="Aptos"/>
              </a:defRPr>
            </a:defPPr>
            <a:lvl1pPr>
              <a:defRPr sz="3225" b="1">
                <a:solidFill>
                  <a:srgbClr val="18324F"/>
                </a:solidFill>
                <a:latin typeface="Aptos"/>
                <a:ea typeface="Aptos"/>
                <a:cs typeface="Aptos"/>
              </a:defRPr>
            </a:lvl1pPr>
            <a:lvl2pPr>
              <a:defRPr sz="3225" b="1">
                <a:solidFill>
                  <a:srgbClr val="18324F"/>
                </a:solidFill>
                <a:latin typeface="Aptos"/>
                <a:ea typeface="Aptos"/>
                <a:cs typeface="Aptos"/>
              </a:defRPr>
            </a:lvl2pPr>
            <a:lvl3pPr>
              <a:defRPr sz="3225" b="1">
                <a:solidFill>
                  <a:srgbClr val="18324F"/>
                </a:solidFill>
                <a:latin typeface="Aptos"/>
                <a:ea typeface="Aptos"/>
                <a:cs typeface="Aptos"/>
              </a:defRPr>
            </a:lvl3pPr>
            <a:lvl4pPr>
              <a:defRPr sz="3225" b="1">
                <a:solidFill>
                  <a:srgbClr val="18324F"/>
                </a:solidFill>
                <a:latin typeface="Aptos"/>
                <a:ea typeface="Aptos"/>
                <a:cs typeface="Aptos"/>
              </a:defRPr>
            </a:lvl4pPr>
            <a:lvl5pPr>
              <a:defRPr sz="3225" b="1">
                <a:solidFill>
                  <a:srgbClr val="18324F"/>
                </a:solidFill>
                <a:latin typeface="Aptos"/>
                <a:ea typeface="Aptos"/>
                <a:cs typeface="Aptos"/>
              </a:defRPr>
            </a:lvl5pPr>
            <a:lvl6pPr>
              <a:defRPr sz="3225" b="1">
                <a:solidFill>
                  <a:srgbClr val="18324F"/>
                </a:solidFill>
                <a:latin typeface="Aptos"/>
                <a:ea typeface="Aptos"/>
                <a:cs typeface="Aptos"/>
              </a:defRPr>
            </a:lvl6pPr>
            <a:lvl7pPr>
              <a:defRPr sz="3225" b="1">
                <a:solidFill>
                  <a:srgbClr val="18324F"/>
                </a:solidFill>
                <a:latin typeface="Aptos"/>
                <a:ea typeface="Aptos"/>
                <a:cs typeface="Aptos"/>
              </a:defRPr>
            </a:lvl7pPr>
            <a:lvl8pPr>
              <a:defRPr sz="3225" b="1">
                <a:solidFill>
                  <a:srgbClr val="18324F"/>
                </a:solidFill>
                <a:latin typeface="Aptos"/>
                <a:ea typeface="Aptos"/>
                <a:cs typeface="Aptos"/>
              </a:defRPr>
            </a:lvl8pPr>
            <a:lvl9pPr>
              <a:defRPr sz="3225" b="1">
                <a:solidFill>
                  <a:srgbClr val="18324F"/>
                </a:solidFill>
                <a:latin typeface="Aptos"/>
                <a:ea typeface="Aptos"/>
                <a:cs typeface="Aptos"/>
              </a:defRPr>
            </a:lvl9pPr>
          </a:lstStyle>
          <a:p>
            <a:pPr>
              <a:defRPr sz="3225" b="1">
                <a:solidFill>
                  <a:srgbClr val="18324F"/>
                </a:solidFill>
                <a:latin typeface="Aptos"/>
                <a:ea typeface="Aptos"/>
                <a:cs typeface="Aptos"/>
              </a:defRPr>
            </a:pPr>
            <a:r>
              <a:rPr sz="3225" b="1">
                <a:solidFill>
                  <a:srgbClr val="18324F"/>
                </a:solidFill>
                <a:latin typeface="Aptos"/>
                <a:ea typeface="Aptos"/>
                <a:cs typeface="Aptos"/>
              </a:rPr>
              <a:t>References and evidence</a:t>
            </a:r>
          </a:p>
        </p:txBody>
      </p:sp>
      <p:sp>
        <p:nvSpPr>
          <p:cNvPr id="3" name="17">
            <a:extLst>
              <a:ext uri="{FF2B5EF4-FFF2-40B4-BE49-F238E27FC236}">
                <a16:creationId xmlns:a16="http://schemas.microsoft.com/office/drawing/2014/main" id="{499A44C2-8343-4FB5-A31E-4FA769DE922A}"/>
              </a:ext>
            </a:extLst>
          </p:cNvPr>
          <p:cNvSpPr>
            <a:spLocks noGrp="1"/>
          </p:cNvSpPr>
          <p:nvPr/>
        </p:nvSpPr>
        <p:spPr>
          <a:xfrm>
            <a:off x="11125200" y="6315075"/>
            <a:ext cx="476250" cy="238125"/>
          </a:xfrm>
          <a:prstGeom prst="rect">
            <a:avLst/>
          </a:prstGeom>
          <a:noFill/>
          <a:ln w="0">
            <a:noFill/>
          </a:ln>
        </p:spPr>
        <p:txBody>
          <a:bodyPr lIns="0" tIns="0" rIns="0" bIns="0" anchor="t">
            <a:noAutofit/>
          </a:bodyPr>
          <a:lstStyle>
            <a:defPPr>
              <a:defRPr sz="1200" b="0">
                <a:solidFill>
                  <a:srgbClr val="37475B"/>
                </a:solidFill>
                <a:latin typeface="Aptos"/>
                <a:ea typeface="Aptos"/>
                <a:cs typeface="Aptos"/>
              </a:defRPr>
            </a:defPPr>
            <a:lvl1pPr>
              <a:defRPr sz="1200" b="0">
                <a:solidFill>
                  <a:srgbClr val="37475B"/>
                </a:solidFill>
                <a:latin typeface="Aptos"/>
                <a:ea typeface="Aptos"/>
                <a:cs typeface="Aptos"/>
              </a:defRPr>
            </a:lvl1pPr>
            <a:lvl2pPr>
              <a:defRPr sz="1200" b="0">
                <a:solidFill>
                  <a:srgbClr val="37475B"/>
                </a:solidFill>
                <a:latin typeface="Aptos"/>
                <a:ea typeface="Aptos"/>
                <a:cs typeface="Aptos"/>
              </a:defRPr>
            </a:lvl2pPr>
            <a:lvl3pPr>
              <a:defRPr sz="1200" b="0">
                <a:solidFill>
                  <a:srgbClr val="37475B"/>
                </a:solidFill>
                <a:latin typeface="Aptos"/>
                <a:ea typeface="Aptos"/>
                <a:cs typeface="Aptos"/>
              </a:defRPr>
            </a:lvl3pPr>
            <a:lvl4pPr>
              <a:defRPr sz="1200" b="0">
                <a:solidFill>
                  <a:srgbClr val="37475B"/>
                </a:solidFill>
                <a:latin typeface="Aptos"/>
                <a:ea typeface="Aptos"/>
                <a:cs typeface="Aptos"/>
              </a:defRPr>
            </a:lvl4pPr>
            <a:lvl5pPr>
              <a:defRPr sz="1200" b="0">
                <a:solidFill>
                  <a:srgbClr val="37475B"/>
                </a:solidFill>
                <a:latin typeface="Aptos"/>
                <a:ea typeface="Aptos"/>
                <a:cs typeface="Aptos"/>
              </a:defRPr>
            </a:lvl5pPr>
            <a:lvl6pPr>
              <a:defRPr sz="1200" b="0">
                <a:solidFill>
                  <a:srgbClr val="37475B"/>
                </a:solidFill>
                <a:latin typeface="Aptos"/>
                <a:ea typeface="Aptos"/>
                <a:cs typeface="Aptos"/>
              </a:defRPr>
            </a:lvl6pPr>
            <a:lvl7pPr>
              <a:defRPr sz="1200" b="0">
                <a:solidFill>
                  <a:srgbClr val="37475B"/>
                </a:solidFill>
                <a:latin typeface="Aptos"/>
                <a:ea typeface="Aptos"/>
                <a:cs typeface="Aptos"/>
              </a:defRPr>
            </a:lvl7pPr>
            <a:lvl8pPr>
              <a:defRPr sz="1200" b="0">
                <a:solidFill>
                  <a:srgbClr val="37475B"/>
                </a:solidFill>
                <a:latin typeface="Aptos"/>
                <a:ea typeface="Aptos"/>
                <a:cs typeface="Aptos"/>
              </a:defRPr>
            </a:lvl8pPr>
            <a:lvl9pPr>
              <a:defRPr sz="1200" b="0">
                <a:solidFill>
                  <a:srgbClr val="37475B"/>
                </a:solidFill>
                <a:latin typeface="Aptos"/>
                <a:ea typeface="Aptos"/>
                <a:cs typeface="Aptos"/>
              </a:defRPr>
            </a:lvl9pPr>
          </a:lstStyle>
          <a:p>
            <a:pPr>
              <a:defRPr sz="1200" b="0">
                <a:solidFill>
                  <a:srgbClr val="37475B"/>
                </a:solidFill>
                <a:latin typeface="Aptos"/>
                <a:ea typeface="Aptos"/>
                <a:cs typeface="Aptos"/>
              </a:defRPr>
            </a:pPr>
            <a:r>
              <a:rPr sz="1200" b="0">
                <a:solidFill>
                  <a:srgbClr val="37475B"/>
                </a:solidFill>
                <a:latin typeface="Aptos"/>
                <a:ea typeface="Aptos"/>
                <a:cs typeface="Aptos"/>
              </a:rPr>
              <a:t>19</a:t>
            </a:r>
          </a:p>
        </p:txBody>
      </p:sp>
      <p:sp>
        <p:nvSpPr>
          <p:cNvPr id="4" name="Mnih et al. (2013)">
            <a:extLst>
              <a:ext uri="{FF2B5EF4-FFF2-40B4-BE49-F238E27FC236}">
                <a16:creationId xmlns:a16="http://schemas.microsoft.com/office/drawing/2014/main" id="{73E365F8-9644-4164-9F66-803CF34B620F}"/>
              </a:ext>
            </a:extLst>
          </p:cNvPr>
          <p:cNvSpPr>
            <a:spLocks noGrp="1"/>
          </p:cNvSpPr>
          <p:nvPr/>
        </p:nvSpPr>
        <p:spPr>
          <a:xfrm>
            <a:off x="609600" y="1485900"/>
            <a:ext cx="10287000" cy="381000"/>
          </a:xfrm>
          <a:prstGeom prst="rect">
            <a:avLst/>
          </a:prstGeom>
          <a:noFill/>
          <a:ln w="0">
            <a:noFill/>
          </a:ln>
        </p:spPr>
        <p:txBody>
          <a:bodyPr lIns="0" tIns="0" rIns="0" bIns="0" anchor="t">
            <a:noAutofit/>
          </a:bodyPr>
          <a:lstStyle>
            <a:defPPr>
              <a:defRPr sz="2100" b="1">
                <a:solidFill>
                  <a:srgbClr val="087F8C"/>
                </a:solidFill>
                <a:latin typeface="Aptos"/>
                <a:ea typeface="Aptos"/>
                <a:cs typeface="Aptos"/>
              </a:defRPr>
            </a:defPPr>
            <a:lvl1pPr>
              <a:defRPr sz="2100" b="1">
                <a:solidFill>
                  <a:srgbClr val="087F8C"/>
                </a:solidFill>
                <a:latin typeface="Aptos"/>
                <a:ea typeface="Aptos"/>
                <a:cs typeface="Aptos"/>
              </a:defRPr>
            </a:lvl1pPr>
            <a:lvl2pPr>
              <a:defRPr sz="2100" b="1">
                <a:solidFill>
                  <a:srgbClr val="087F8C"/>
                </a:solidFill>
                <a:latin typeface="Aptos"/>
                <a:ea typeface="Aptos"/>
                <a:cs typeface="Aptos"/>
              </a:defRPr>
            </a:lvl2pPr>
            <a:lvl3pPr>
              <a:defRPr sz="2100" b="1">
                <a:solidFill>
                  <a:srgbClr val="087F8C"/>
                </a:solidFill>
                <a:latin typeface="Aptos"/>
                <a:ea typeface="Aptos"/>
                <a:cs typeface="Aptos"/>
              </a:defRPr>
            </a:lvl3pPr>
            <a:lvl4pPr>
              <a:defRPr sz="2100" b="1">
                <a:solidFill>
                  <a:srgbClr val="087F8C"/>
                </a:solidFill>
                <a:latin typeface="Aptos"/>
                <a:ea typeface="Aptos"/>
                <a:cs typeface="Aptos"/>
              </a:defRPr>
            </a:lvl4pPr>
            <a:lvl5pPr>
              <a:defRPr sz="2100" b="1">
                <a:solidFill>
                  <a:srgbClr val="087F8C"/>
                </a:solidFill>
                <a:latin typeface="Aptos"/>
                <a:ea typeface="Aptos"/>
                <a:cs typeface="Aptos"/>
              </a:defRPr>
            </a:lvl5pPr>
            <a:lvl6pPr>
              <a:defRPr sz="2100" b="1">
                <a:solidFill>
                  <a:srgbClr val="087F8C"/>
                </a:solidFill>
                <a:latin typeface="Aptos"/>
                <a:ea typeface="Aptos"/>
                <a:cs typeface="Aptos"/>
              </a:defRPr>
            </a:lvl6pPr>
            <a:lvl7pPr>
              <a:defRPr sz="2100" b="1">
                <a:solidFill>
                  <a:srgbClr val="087F8C"/>
                </a:solidFill>
                <a:latin typeface="Aptos"/>
                <a:ea typeface="Aptos"/>
                <a:cs typeface="Aptos"/>
              </a:defRPr>
            </a:lvl7pPr>
            <a:lvl8pPr>
              <a:defRPr sz="2100" b="1">
                <a:solidFill>
                  <a:srgbClr val="087F8C"/>
                </a:solidFill>
                <a:latin typeface="Aptos"/>
                <a:ea typeface="Aptos"/>
                <a:cs typeface="Aptos"/>
              </a:defRPr>
            </a:lvl8pPr>
            <a:lvl9pPr>
              <a:defRPr sz="2100" b="1">
                <a:solidFill>
                  <a:srgbClr val="087F8C"/>
                </a:solidFill>
                <a:latin typeface="Aptos"/>
                <a:ea typeface="Aptos"/>
                <a:cs typeface="Aptos"/>
              </a:defRPr>
            </a:lvl9pPr>
          </a:lstStyle>
          <a:p>
            <a:pPr>
              <a:defRPr sz="2100" b="1">
                <a:solidFill>
                  <a:srgbClr val="087F8C"/>
                </a:solidFill>
                <a:latin typeface="Aptos"/>
                <a:ea typeface="Aptos"/>
                <a:cs typeface="Aptos"/>
              </a:defRPr>
            </a:pPr>
            <a:r>
              <a:rPr sz="2100" b="1">
                <a:solidFill>
                  <a:srgbClr val="087F8C"/>
                </a:solidFill>
                <a:latin typeface="Aptos"/>
                <a:ea typeface="Aptos"/>
                <a:cs typeface="Aptos"/>
              </a:rPr>
              <a:t>Mnih et al. (2013)</a:t>
            </a:r>
          </a:p>
        </p:txBody>
      </p:sp>
      <p:sp>
        <p:nvSpPr>
          <p:cNvPr id="5" name="Playing Atari with Deep Reinforcement Learning&#10;arXiv:13">
            <a:extLst>
              <a:ext uri="{FF2B5EF4-FFF2-40B4-BE49-F238E27FC236}">
                <a16:creationId xmlns:a16="http://schemas.microsoft.com/office/drawing/2014/main" id="{8537D3F6-6210-4548-936B-00A728105045}"/>
              </a:ext>
            </a:extLst>
          </p:cNvPr>
          <p:cNvSpPr>
            <a:spLocks noGrp="1"/>
          </p:cNvSpPr>
          <p:nvPr/>
        </p:nvSpPr>
        <p:spPr>
          <a:xfrm>
            <a:off x="609600" y="1924050"/>
            <a:ext cx="10287000" cy="723900"/>
          </a:xfrm>
          <a:prstGeom prst="rect">
            <a:avLst/>
          </a:prstGeom>
          <a:noFill/>
          <a:ln w="0">
            <a:noFill/>
          </a:ln>
        </p:spPr>
        <p:txBody>
          <a:bodyPr lIns="0" tIns="0" rIns="0" bIns="0" anchor="t">
            <a:noAutofit/>
          </a:bodyPr>
          <a:lstStyle>
            <a:defPPr>
              <a:defRPr sz="1950" b="0">
                <a:solidFill>
                  <a:srgbClr val="37475B"/>
                </a:solidFill>
                <a:latin typeface="Aptos"/>
                <a:ea typeface="Aptos"/>
                <a:cs typeface="Aptos"/>
              </a:defRPr>
            </a:defPPr>
            <a:lvl1pPr>
              <a:defRPr sz="1950" b="0">
                <a:solidFill>
                  <a:srgbClr val="37475B"/>
                </a:solidFill>
                <a:latin typeface="Aptos"/>
                <a:ea typeface="Aptos"/>
                <a:cs typeface="Aptos"/>
              </a:defRPr>
            </a:lvl1pPr>
            <a:lvl2pPr>
              <a:defRPr sz="1950" b="0">
                <a:solidFill>
                  <a:srgbClr val="37475B"/>
                </a:solidFill>
                <a:latin typeface="Aptos"/>
                <a:ea typeface="Aptos"/>
                <a:cs typeface="Aptos"/>
              </a:defRPr>
            </a:lvl2pPr>
            <a:lvl3pPr>
              <a:defRPr sz="1950" b="0">
                <a:solidFill>
                  <a:srgbClr val="37475B"/>
                </a:solidFill>
                <a:latin typeface="Aptos"/>
                <a:ea typeface="Aptos"/>
                <a:cs typeface="Aptos"/>
              </a:defRPr>
            </a:lvl3pPr>
            <a:lvl4pPr>
              <a:defRPr sz="1950" b="0">
                <a:solidFill>
                  <a:srgbClr val="37475B"/>
                </a:solidFill>
                <a:latin typeface="Aptos"/>
                <a:ea typeface="Aptos"/>
                <a:cs typeface="Aptos"/>
              </a:defRPr>
            </a:lvl4pPr>
            <a:lvl5pPr>
              <a:defRPr sz="1950" b="0">
                <a:solidFill>
                  <a:srgbClr val="37475B"/>
                </a:solidFill>
                <a:latin typeface="Aptos"/>
                <a:ea typeface="Aptos"/>
                <a:cs typeface="Aptos"/>
              </a:defRPr>
            </a:lvl5pPr>
            <a:lvl6pPr>
              <a:defRPr sz="1950" b="0">
                <a:solidFill>
                  <a:srgbClr val="37475B"/>
                </a:solidFill>
                <a:latin typeface="Aptos"/>
                <a:ea typeface="Aptos"/>
                <a:cs typeface="Aptos"/>
              </a:defRPr>
            </a:lvl6pPr>
            <a:lvl7pPr>
              <a:defRPr sz="1950" b="0">
                <a:solidFill>
                  <a:srgbClr val="37475B"/>
                </a:solidFill>
                <a:latin typeface="Aptos"/>
                <a:ea typeface="Aptos"/>
                <a:cs typeface="Aptos"/>
              </a:defRPr>
            </a:lvl7pPr>
            <a:lvl8pPr>
              <a:defRPr sz="1950" b="0">
                <a:solidFill>
                  <a:srgbClr val="37475B"/>
                </a:solidFill>
                <a:latin typeface="Aptos"/>
                <a:ea typeface="Aptos"/>
                <a:cs typeface="Aptos"/>
              </a:defRPr>
            </a:lvl8pPr>
            <a:lvl9pPr>
              <a:defRPr sz="1950" b="0">
                <a:solidFill>
                  <a:srgbClr val="37475B"/>
                </a:solidFill>
                <a:latin typeface="Aptos"/>
                <a:ea typeface="Aptos"/>
                <a:cs typeface="Aptos"/>
              </a:defRPr>
            </a:lvl9pPr>
          </a:lstStyle>
          <a:p>
            <a:pPr>
              <a:defRPr sz="1950" b="0">
                <a:solidFill>
                  <a:srgbClr val="37475B"/>
                </a:solidFill>
                <a:latin typeface="Aptos"/>
                <a:ea typeface="Aptos"/>
                <a:cs typeface="Aptos"/>
              </a:defRPr>
            </a:pPr>
            <a:r>
              <a:rPr sz="1950" b="0">
                <a:solidFill>
                  <a:srgbClr val="37475B"/>
                </a:solidFill>
                <a:latin typeface="Aptos"/>
                <a:ea typeface="Aptos"/>
                <a:cs typeface="Aptos"/>
              </a:rPr>
              <a:t>Playing Atari with Deep Reinforcement Learning</a:t>
            </a:r>
          </a:p>
          <a:p>
            <a:pPr>
              <a:defRPr sz="1950" b="0">
                <a:solidFill>
                  <a:srgbClr val="37475B"/>
                </a:solidFill>
                <a:latin typeface="Aptos"/>
                <a:ea typeface="Aptos"/>
                <a:cs typeface="Aptos"/>
              </a:defRPr>
            </a:pPr>
            <a:r>
              <a:rPr sz="1950" b="0">
                <a:solidFill>
                  <a:srgbClr val="37475B"/>
                </a:solidFill>
                <a:latin typeface="Aptos"/>
                <a:ea typeface="Aptos"/>
                <a:cs typeface="Aptos"/>
              </a:rPr>
              <a:t>arXiv:1312.5602v1, supplied nine-page paper</a:t>
            </a:r>
          </a:p>
        </p:txBody>
      </p:sp>
      <p:sp>
        <p:nvSpPr>
          <p:cNvPr id="6" name="Implementation">
            <a:extLst>
              <a:ext uri="{FF2B5EF4-FFF2-40B4-BE49-F238E27FC236}">
                <a16:creationId xmlns:a16="http://schemas.microsoft.com/office/drawing/2014/main" id="{C14F3601-494C-41B0-BAB5-AE429D21303F}"/>
              </a:ext>
            </a:extLst>
          </p:cNvPr>
          <p:cNvSpPr>
            <a:spLocks noGrp="1"/>
          </p:cNvSpPr>
          <p:nvPr/>
        </p:nvSpPr>
        <p:spPr>
          <a:xfrm>
            <a:off x="609600" y="3028950"/>
            <a:ext cx="10287000" cy="381000"/>
          </a:xfrm>
          <a:prstGeom prst="rect">
            <a:avLst/>
          </a:prstGeom>
          <a:noFill/>
          <a:ln w="0">
            <a:noFill/>
          </a:ln>
        </p:spPr>
        <p:txBody>
          <a:bodyPr lIns="0" tIns="0" rIns="0" bIns="0" anchor="t">
            <a:noAutofit/>
          </a:bodyPr>
          <a:lstStyle>
            <a:defPPr>
              <a:defRPr sz="2100" b="1">
                <a:solidFill>
                  <a:srgbClr val="087F8C"/>
                </a:solidFill>
                <a:latin typeface="Aptos"/>
                <a:ea typeface="Aptos"/>
                <a:cs typeface="Aptos"/>
              </a:defRPr>
            </a:defPPr>
            <a:lvl1pPr>
              <a:defRPr sz="2100" b="1">
                <a:solidFill>
                  <a:srgbClr val="087F8C"/>
                </a:solidFill>
                <a:latin typeface="Aptos"/>
                <a:ea typeface="Aptos"/>
                <a:cs typeface="Aptos"/>
              </a:defRPr>
            </a:lvl1pPr>
            <a:lvl2pPr>
              <a:defRPr sz="2100" b="1">
                <a:solidFill>
                  <a:srgbClr val="087F8C"/>
                </a:solidFill>
                <a:latin typeface="Aptos"/>
                <a:ea typeface="Aptos"/>
                <a:cs typeface="Aptos"/>
              </a:defRPr>
            </a:lvl2pPr>
            <a:lvl3pPr>
              <a:defRPr sz="2100" b="1">
                <a:solidFill>
                  <a:srgbClr val="087F8C"/>
                </a:solidFill>
                <a:latin typeface="Aptos"/>
                <a:ea typeface="Aptos"/>
                <a:cs typeface="Aptos"/>
              </a:defRPr>
            </a:lvl3pPr>
            <a:lvl4pPr>
              <a:defRPr sz="2100" b="1">
                <a:solidFill>
                  <a:srgbClr val="087F8C"/>
                </a:solidFill>
                <a:latin typeface="Aptos"/>
                <a:ea typeface="Aptos"/>
                <a:cs typeface="Aptos"/>
              </a:defRPr>
            </a:lvl4pPr>
            <a:lvl5pPr>
              <a:defRPr sz="2100" b="1">
                <a:solidFill>
                  <a:srgbClr val="087F8C"/>
                </a:solidFill>
                <a:latin typeface="Aptos"/>
                <a:ea typeface="Aptos"/>
                <a:cs typeface="Aptos"/>
              </a:defRPr>
            </a:lvl5pPr>
            <a:lvl6pPr>
              <a:defRPr sz="2100" b="1">
                <a:solidFill>
                  <a:srgbClr val="087F8C"/>
                </a:solidFill>
                <a:latin typeface="Aptos"/>
                <a:ea typeface="Aptos"/>
                <a:cs typeface="Aptos"/>
              </a:defRPr>
            </a:lvl6pPr>
            <a:lvl7pPr>
              <a:defRPr sz="2100" b="1">
                <a:solidFill>
                  <a:srgbClr val="087F8C"/>
                </a:solidFill>
                <a:latin typeface="Aptos"/>
                <a:ea typeface="Aptos"/>
                <a:cs typeface="Aptos"/>
              </a:defRPr>
            </a:lvl7pPr>
            <a:lvl8pPr>
              <a:defRPr sz="2100" b="1">
                <a:solidFill>
                  <a:srgbClr val="087F8C"/>
                </a:solidFill>
                <a:latin typeface="Aptos"/>
                <a:ea typeface="Aptos"/>
                <a:cs typeface="Aptos"/>
              </a:defRPr>
            </a:lvl8pPr>
            <a:lvl9pPr>
              <a:defRPr sz="2100" b="1">
                <a:solidFill>
                  <a:srgbClr val="087F8C"/>
                </a:solidFill>
                <a:latin typeface="Aptos"/>
                <a:ea typeface="Aptos"/>
                <a:cs typeface="Aptos"/>
              </a:defRPr>
            </a:lvl9pPr>
          </a:lstStyle>
          <a:p>
            <a:pPr>
              <a:defRPr sz="2100" b="1">
                <a:solidFill>
                  <a:srgbClr val="087F8C"/>
                </a:solidFill>
                <a:latin typeface="Aptos"/>
                <a:ea typeface="Aptos"/>
                <a:cs typeface="Aptos"/>
              </a:defRPr>
            </a:pPr>
            <a:r>
              <a:rPr sz="2100" b="1">
                <a:solidFill>
                  <a:srgbClr val="087F8C"/>
                </a:solidFill>
                <a:latin typeface="Aptos"/>
                <a:ea typeface="Aptos"/>
                <a:cs typeface="Aptos"/>
              </a:rPr>
              <a:t>Implementation</a:t>
            </a:r>
          </a:p>
        </p:txBody>
      </p:sp>
      <p:sp>
        <p:nvSpPr>
          <p:cNvPr id="7" name="dqn2013.py and atari_breakout_dqn.ipynb&#10;Executed notebo">
            <a:extLst>
              <a:ext uri="{FF2B5EF4-FFF2-40B4-BE49-F238E27FC236}">
                <a16:creationId xmlns:a16="http://schemas.microsoft.com/office/drawing/2014/main" id="{5AEFA233-337E-4F71-A202-ED8A127CC669}"/>
              </a:ext>
            </a:extLst>
          </p:cNvPr>
          <p:cNvSpPr>
            <a:spLocks noGrp="1"/>
          </p:cNvSpPr>
          <p:nvPr/>
        </p:nvSpPr>
        <p:spPr>
          <a:xfrm>
            <a:off x="609600" y="3467100"/>
            <a:ext cx="10287000" cy="723900"/>
          </a:xfrm>
          <a:prstGeom prst="rect">
            <a:avLst/>
          </a:prstGeom>
          <a:noFill/>
          <a:ln w="0">
            <a:noFill/>
          </a:ln>
        </p:spPr>
        <p:txBody>
          <a:bodyPr lIns="0" tIns="0" rIns="0" bIns="0" anchor="t">
            <a:noAutofit/>
          </a:bodyPr>
          <a:lstStyle>
            <a:defPPr>
              <a:defRPr sz="1950" b="0">
                <a:solidFill>
                  <a:srgbClr val="37475B"/>
                </a:solidFill>
                <a:latin typeface="Aptos"/>
                <a:ea typeface="Aptos"/>
                <a:cs typeface="Aptos"/>
              </a:defRPr>
            </a:defPPr>
            <a:lvl1pPr>
              <a:defRPr sz="1950" b="0">
                <a:solidFill>
                  <a:srgbClr val="37475B"/>
                </a:solidFill>
                <a:latin typeface="Aptos"/>
                <a:ea typeface="Aptos"/>
                <a:cs typeface="Aptos"/>
              </a:defRPr>
            </a:lvl1pPr>
            <a:lvl2pPr>
              <a:defRPr sz="1950" b="0">
                <a:solidFill>
                  <a:srgbClr val="37475B"/>
                </a:solidFill>
                <a:latin typeface="Aptos"/>
                <a:ea typeface="Aptos"/>
                <a:cs typeface="Aptos"/>
              </a:defRPr>
            </a:lvl2pPr>
            <a:lvl3pPr>
              <a:defRPr sz="1950" b="0">
                <a:solidFill>
                  <a:srgbClr val="37475B"/>
                </a:solidFill>
                <a:latin typeface="Aptos"/>
                <a:ea typeface="Aptos"/>
                <a:cs typeface="Aptos"/>
              </a:defRPr>
            </a:lvl3pPr>
            <a:lvl4pPr>
              <a:defRPr sz="1950" b="0">
                <a:solidFill>
                  <a:srgbClr val="37475B"/>
                </a:solidFill>
                <a:latin typeface="Aptos"/>
                <a:ea typeface="Aptos"/>
                <a:cs typeface="Aptos"/>
              </a:defRPr>
            </a:lvl4pPr>
            <a:lvl5pPr>
              <a:defRPr sz="1950" b="0">
                <a:solidFill>
                  <a:srgbClr val="37475B"/>
                </a:solidFill>
                <a:latin typeface="Aptos"/>
                <a:ea typeface="Aptos"/>
                <a:cs typeface="Aptos"/>
              </a:defRPr>
            </a:lvl5pPr>
            <a:lvl6pPr>
              <a:defRPr sz="1950" b="0">
                <a:solidFill>
                  <a:srgbClr val="37475B"/>
                </a:solidFill>
                <a:latin typeface="Aptos"/>
                <a:ea typeface="Aptos"/>
                <a:cs typeface="Aptos"/>
              </a:defRPr>
            </a:lvl6pPr>
            <a:lvl7pPr>
              <a:defRPr sz="1950" b="0">
                <a:solidFill>
                  <a:srgbClr val="37475B"/>
                </a:solidFill>
                <a:latin typeface="Aptos"/>
                <a:ea typeface="Aptos"/>
                <a:cs typeface="Aptos"/>
              </a:defRPr>
            </a:lvl7pPr>
            <a:lvl8pPr>
              <a:defRPr sz="1950" b="0">
                <a:solidFill>
                  <a:srgbClr val="37475B"/>
                </a:solidFill>
                <a:latin typeface="Aptos"/>
                <a:ea typeface="Aptos"/>
                <a:cs typeface="Aptos"/>
              </a:defRPr>
            </a:lvl8pPr>
            <a:lvl9pPr>
              <a:defRPr sz="1950" b="0">
                <a:solidFill>
                  <a:srgbClr val="37475B"/>
                </a:solidFill>
                <a:latin typeface="Aptos"/>
                <a:ea typeface="Aptos"/>
                <a:cs typeface="Aptos"/>
              </a:defRPr>
            </a:lvl9pPr>
          </a:lstStyle>
          <a:p>
            <a:pPr>
              <a:defRPr sz="1950" b="0">
                <a:solidFill>
                  <a:srgbClr val="37475B"/>
                </a:solidFill>
                <a:latin typeface="Aptos"/>
                <a:ea typeface="Aptos"/>
                <a:cs typeface="Aptos"/>
              </a:defRPr>
            </a:pPr>
            <a:r>
              <a:rPr sz="1950" b="0">
                <a:solidFill>
                  <a:srgbClr val="37475B"/>
                </a:solidFill>
                <a:latin typeface="Aptos"/>
                <a:ea typeface="Aptos"/>
                <a:cs typeface="Aptos"/>
              </a:rPr>
              <a:t>dqn2013.py and atari_breakout_dqn.ipynb</a:t>
            </a:r>
          </a:p>
          <a:p>
            <a:pPr>
              <a:defRPr sz="1950" b="0">
                <a:solidFill>
                  <a:srgbClr val="37475B"/>
                </a:solidFill>
                <a:latin typeface="Aptos"/>
                <a:ea typeface="Aptos"/>
                <a:cs typeface="Aptos"/>
              </a:defRPr>
            </a:pPr>
            <a:r>
              <a:rPr sz="1950" b="0">
                <a:solidFill>
                  <a:srgbClr val="37475B"/>
                </a:solidFill>
                <a:latin typeface="Aptos"/>
                <a:ea typeface="Aptos"/>
                <a:cs typeface="Aptos"/>
              </a:rPr>
              <a:t>Executed notebook configuration and saved outputs, 29 October 2026</a:t>
            </a:r>
          </a:p>
        </p:txBody>
      </p:sp>
      <p:sp>
        <p:nvSpPr>
          <p:cNvPr id="8" name="Demonstration media">
            <a:extLst>
              <a:ext uri="{FF2B5EF4-FFF2-40B4-BE49-F238E27FC236}">
                <a16:creationId xmlns:a16="http://schemas.microsoft.com/office/drawing/2014/main" id="{14575B55-A37A-403B-923A-340C3D8A09EC}"/>
              </a:ext>
            </a:extLst>
          </p:cNvPr>
          <p:cNvSpPr>
            <a:spLocks noGrp="1"/>
          </p:cNvSpPr>
          <p:nvPr/>
        </p:nvSpPr>
        <p:spPr>
          <a:xfrm>
            <a:off x="609600" y="4572000"/>
            <a:ext cx="10287000" cy="381000"/>
          </a:xfrm>
          <a:prstGeom prst="rect">
            <a:avLst/>
          </a:prstGeom>
          <a:noFill/>
          <a:ln w="0">
            <a:noFill/>
          </a:ln>
        </p:spPr>
        <p:txBody>
          <a:bodyPr lIns="0" tIns="0" rIns="0" bIns="0" anchor="t">
            <a:noAutofit/>
          </a:bodyPr>
          <a:lstStyle>
            <a:defPPr>
              <a:defRPr sz="2100" b="1">
                <a:solidFill>
                  <a:srgbClr val="087F8C"/>
                </a:solidFill>
                <a:latin typeface="Aptos"/>
                <a:ea typeface="Aptos"/>
                <a:cs typeface="Aptos"/>
              </a:defRPr>
            </a:defPPr>
            <a:lvl1pPr>
              <a:defRPr sz="2100" b="1">
                <a:solidFill>
                  <a:srgbClr val="087F8C"/>
                </a:solidFill>
                <a:latin typeface="Aptos"/>
                <a:ea typeface="Aptos"/>
                <a:cs typeface="Aptos"/>
              </a:defRPr>
            </a:lvl1pPr>
            <a:lvl2pPr>
              <a:defRPr sz="2100" b="1">
                <a:solidFill>
                  <a:srgbClr val="087F8C"/>
                </a:solidFill>
                <a:latin typeface="Aptos"/>
                <a:ea typeface="Aptos"/>
                <a:cs typeface="Aptos"/>
              </a:defRPr>
            </a:lvl2pPr>
            <a:lvl3pPr>
              <a:defRPr sz="2100" b="1">
                <a:solidFill>
                  <a:srgbClr val="087F8C"/>
                </a:solidFill>
                <a:latin typeface="Aptos"/>
                <a:ea typeface="Aptos"/>
                <a:cs typeface="Aptos"/>
              </a:defRPr>
            </a:lvl3pPr>
            <a:lvl4pPr>
              <a:defRPr sz="2100" b="1">
                <a:solidFill>
                  <a:srgbClr val="087F8C"/>
                </a:solidFill>
                <a:latin typeface="Aptos"/>
                <a:ea typeface="Aptos"/>
                <a:cs typeface="Aptos"/>
              </a:defRPr>
            </a:lvl4pPr>
            <a:lvl5pPr>
              <a:defRPr sz="2100" b="1">
                <a:solidFill>
                  <a:srgbClr val="087F8C"/>
                </a:solidFill>
                <a:latin typeface="Aptos"/>
                <a:ea typeface="Aptos"/>
                <a:cs typeface="Aptos"/>
              </a:defRPr>
            </a:lvl5pPr>
            <a:lvl6pPr>
              <a:defRPr sz="2100" b="1">
                <a:solidFill>
                  <a:srgbClr val="087F8C"/>
                </a:solidFill>
                <a:latin typeface="Aptos"/>
                <a:ea typeface="Aptos"/>
                <a:cs typeface="Aptos"/>
              </a:defRPr>
            </a:lvl6pPr>
            <a:lvl7pPr>
              <a:defRPr sz="2100" b="1">
                <a:solidFill>
                  <a:srgbClr val="087F8C"/>
                </a:solidFill>
                <a:latin typeface="Aptos"/>
                <a:ea typeface="Aptos"/>
                <a:cs typeface="Aptos"/>
              </a:defRPr>
            </a:lvl7pPr>
            <a:lvl8pPr>
              <a:defRPr sz="2100" b="1">
                <a:solidFill>
                  <a:srgbClr val="087F8C"/>
                </a:solidFill>
                <a:latin typeface="Aptos"/>
                <a:ea typeface="Aptos"/>
                <a:cs typeface="Aptos"/>
              </a:defRPr>
            </a:lvl8pPr>
            <a:lvl9pPr>
              <a:defRPr sz="2100" b="1">
                <a:solidFill>
                  <a:srgbClr val="087F8C"/>
                </a:solidFill>
                <a:latin typeface="Aptos"/>
                <a:ea typeface="Aptos"/>
                <a:cs typeface="Aptos"/>
              </a:defRPr>
            </a:lvl9pPr>
          </a:lstStyle>
          <a:p>
            <a:pPr>
              <a:defRPr sz="2100" b="1">
                <a:solidFill>
                  <a:srgbClr val="087F8C"/>
                </a:solidFill>
                <a:latin typeface="Aptos"/>
                <a:ea typeface="Aptos"/>
                <a:cs typeface="Aptos"/>
              </a:defRPr>
            </a:pPr>
            <a:r>
              <a:rPr sz="2100" b="1">
                <a:solidFill>
                  <a:srgbClr val="087F8C"/>
                </a:solidFill>
                <a:latin typeface="Aptos"/>
                <a:ea typeface="Aptos"/>
                <a:cs typeface="Aptos"/>
              </a:rPr>
              <a:t>Demonstration media</a:t>
            </a:r>
          </a:p>
        </p:txBody>
      </p:sp>
      <p:sp>
        <p:nvSpPr>
          <p:cNvPr id="9" name="Project recordings in breakout_video_2013/20261029-1439">
            <a:extLst>
              <a:ext uri="{FF2B5EF4-FFF2-40B4-BE49-F238E27FC236}">
                <a16:creationId xmlns:a16="http://schemas.microsoft.com/office/drawing/2014/main" id="{1F27F5ED-F697-4358-9F31-EA5D92BB3311}"/>
              </a:ext>
            </a:extLst>
          </p:cNvPr>
          <p:cNvSpPr>
            <a:spLocks noGrp="1"/>
          </p:cNvSpPr>
          <p:nvPr/>
        </p:nvSpPr>
        <p:spPr>
          <a:xfrm>
            <a:off x="609600" y="5010150"/>
            <a:ext cx="10287000" cy="723900"/>
          </a:xfrm>
          <a:prstGeom prst="rect">
            <a:avLst/>
          </a:prstGeom>
          <a:noFill/>
          <a:ln w="0">
            <a:noFill/>
          </a:ln>
        </p:spPr>
        <p:txBody>
          <a:bodyPr lIns="0" tIns="0" rIns="0" bIns="0" anchor="t">
            <a:noAutofit/>
          </a:bodyPr>
          <a:lstStyle>
            <a:defPPr>
              <a:defRPr sz="1950" b="0">
                <a:solidFill>
                  <a:srgbClr val="37475B"/>
                </a:solidFill>
                <a:latin typeface="Aptos"/>
                <a:ea typeface="Aptos"/>
                <a:cs typeface="Aptos"/>
              </a:defRPr>
            </a:defPPr>
            <a:lvl1pPr>
              <a:defRPr sz="1950" b="0">
                <a:solidFill>
                  <a:srgbClr val="37475B"/>
                </a:solidFill>
                <a:latin typeface="Aptos"/>
                <a:ea typeface="Aptos"/>
                <a:cs typeface="Aptos"/>
              </a:defRPr>
            </a:lvl1pPr>
            <a:lvl2pPr>
              <a:defRPr sz="1950" b="0">
                <a:solidFill>
                  <a:srgbClr val="37475B"/>
                </a:solidFill>
                <a:latin typeface="Aptos"/>
                <a:ea typeface="Aptos"/>
                <a:cs typeface="Aptos"/>
              </a:defRPr>
            </a:lvl2pPr>
            <a:lvl3pPr>
              <a:defRPr sz="1950" b="0">
                <a:solidFill>
                  <a:srgbClr val="37475B"/>
                </a:solidFill>
                <a:latin typeface="Aptos"/>
                <a:ea typeface="Aptos"/>
                <a:cs typeface="Aptos"/>
              </a:defRPr>
            </a:lvl3pPr>
            <a:lvl4pPr>
              <a:defRPr sz="1950" b="0">
                <a:solidFill>
                  <a:srgbClr val="37475B"/>
                </a:solidFill>
                <a:latin typeface="Aptos"/>
                <a:ea typeface="Aptos"/>
                <a:cs typeface="Aptos"/>
              </a:defRPr>
            </a:lvl4pPr>
            <a:lvl5pPr>
              <a:defRPr sz="1950" b="0">
                <a:solidFill>
                  <a:srgbClr val="37475B"/>
                </a:solidFill>
                <a:latin typeface="Aptos"/>
                <a:ea typeface="Aptos"/>
                <a:cs typeface="Aptos"/>
              </a:defRPr>
            </a:lvl5pPr>
            <a:lvl6pPr>
              <a:defRPr sz="1950" b="0">
                <a:solidFill>
                  <a:srgbClr val="37475B"/>
                </a:solidFill>
                <a:latin typeface="Aptos"/>
                <a:ea typeface="Aptos"/>
                <a:cs typeface="Aptos"/>
              </a:defRPr>
            </a:lvl6pPr>
            <a:lvl7pPr>
              <a:defRPr sz="1950" b="0">
                <a:solidFill>
                  <a:srgbClr val="37475B"/>
                </a:solidFill>
                <a:latin typeface="Aptos"/>
                <a:ea typeface="Aptos"/>
                <a:cs typeface="Aptos"/>
              </a:defRPr>
            </a:lvl7pPr>
            <a:lvl8pPr>
              <a:defRPr sz="1950" b="0">
                <a:solidFill>
                  <a:srgbClr val="37475B"/>
                </a:solidFill>
                <a:latin typeface="Aptos"/>
                <a:ea typeface="Aptos"/>
                <a:cs typeface="Aptos"/>
              </a:defRPr>
            </a:lvl8pPr>
            <a:lvl9pPr>
              <a:defRPr sz="1950" b="0">
                <a:solidFill>
                  <a:srgbClr val="37475B"/>
                </a:solidFill>
                <a:latin typeface="Aptos"/>
                <a:ea typeface="Aptos"/>
                <a:cs typeface="Aptos"/>
              </a:defRPr>
            </a:lvl9pPr>
          </a:lstStyle>
          <a:p>
            <a:pPr>
              <a:defRPr sz="1950" b="0">
                <a:solidFill>
                  <a:srgbClr val="37475B"/>
                </a:solidFill>
                <a:latin typeface="Aptos"/>
                <a:ea typeface="Aptos"/>
                <a:cs typeface="Aptos"/>
              </a:defRPr>
            </a:pPr>
            <a:r>
              <a:rPr sz="1950" b="0">
                <a:solidFill>
                  <a:srgbClr val="37475B"/>
                </a:solidFill>
                <a:latin typeface="Aptos"/>
                <a:ea typeface="Aptos"/>
                <a:cs typeface="Aptos"/>
              </a:rPr>
              <a:t>Project recordings in breakout_video_2013/20261029-143918</a:t>
            </a:r>
          </a:p>
          <a:p>
            <a:pPr>
              <a:defRPr sz="1950" b="0">
                <a:solidFill>
                  <a:srgbClr val="37475B"/>
                </a:solidFill>
                <a:latin typeface="Aptos"/>
                <a:ea typeface="Aptos"/>
                <a:cs typeface="Aptos"/>
              </a:defRPr>
            </a:pPr>
            <a:r>
              <a:rPr sz="1950" b="0">
                <a:solidFill>
                  <a:srgbClr val="37475B"/>
                </a:solidFill>
                <a:latin typeface="Aptos"/>
                <a:ea typeface="Aptos"/>
                <a:cs typeface="Aptos"/>
              </a:rPr>
              <a:t>The presentation uses screenshots and episodes 0–5 from that run.</a:t>
            </a:r>
          </a:p>
        </p:txBody>
      </p:sp>
    </p:spTree>
    <p:extLst>
      <p:ext uri="{BB962C8B-B14F-4D97-AF65-F5344CB8AC3E}">
        <p14:creationId xmlns:p14="http://schemas.microsoft.com/office/powerpoint/2010/main" val="44522882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TotalTime>
  <Words>2967</Words>
  <Application>Microsoft Office PowerPoint</Application>
  <DocSecurity>0</DocSecurity>
  <PresentationFormat>Widescreen</PresentationFormat>
  <Paragraphs>247</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Aptos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BALAJI VARA PRASAD DEGA</cp:lastModifiedBy>
  <cp:revision>2</cp:revision>
  <dcterms:created xsi:type="dcterms:W3CDTF">2026-10-29T10:45:39Z</dcterms:created>
  <dcterms:modified xsi:type="dcterms:W3CDTF">2026-10-29T13:06:38Z</dcterms:modified>
</cp:coreProperties>
</file>